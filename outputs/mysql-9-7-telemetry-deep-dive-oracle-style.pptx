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18cc1184ab4d59" /><Relationship Type="http://schemas.openxmlformats.org/officeDocument/2006/relationships/extended-properties" Target="/docProps/app.xml" Id="R0c2daffd829f41d5" /><Relationship Type="http://schemas.openxmlformats.org/officeDocument/2006/relationships/officeDocument" Target="/ppt/presentation.xml" Id="R7757cf5eefca49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fa1845e1014ae7"/>
  </p:sldMasterIdLst>
  <p:notesMasterIdLst>
    <p:notesMasterId xmlns:r="http://schemas.openxmlformats.org/officeDocument/2006/relationships" r:id="R195acf4a8ffc49ad"/>
  </p:notesMasterIdLst>
  <p:sldIdLst>
    <p:sldId xmlns:r="http://schemas.openxmlformats.org/officeDocument/2006/relationships" id="256" r:id="R2bae685460394925"/>
    <p:sldId xmlns:r="http://schemas.openxmlformats.org/officeDocument/2006/relationships" id="257" r:id="Re2aeb5956e434565"/>
    <p:sldId xmlns:r="http://schemas.openxmlformats.org/officeDocument/2006/relationships" id="258" r:id="Re86bc684208049ac"/>
    <p:sldId xmlns:r="http://schemas.openxmlformats.org/officeDocument/2006/relationships" id="259" r:id="R30e20fbf6bd744fc"/>
    <p:sldId xmlns:r="http://schemas.openxmlformats.org/officeDocument/2006/relationships" id="260" r:id="R754b608fa9634579"/>
    <p:sldId xmlns:r="http://schemas.openxmlformats.org/officeDocument/2006/relationships" id="261" r:id="R4901d0f2c33741d7"/>
    <p:sldId xmlns:r="http://schemas.openxmlformats.org/officeDocument/2006/relationships" id="262" r:id="R03887cea62994094"/>
    <p:sldId xmlns:r="http://schemas.openxmlformats.org/officeDocument/2006/relationships" id="263" r:id="R7c7fcba0650a4e4e"/>
    <p:sldId xmlns:r="http://schemas.openxmlformats.org/officeDocument/2006/relationships" id="264" r:id="R98591fd5910b4571"/>
    <p:sldId xmlns:r="http://schemas.openxmlformats.org/officeDocument/2006/relationships" id="265" r:id="Rb6320e59d79b4224"/>
    <p:sldId xmlns:r="http://schemas.openxmlformats.org/officeDocument/2006/relationships" id="266" r:id="R2e8cb35d04374a8e"/>
    <p:sldId xmlns:r="http://schemas.openxmlformats.org/officeDocument/2006/relationships" id="267" r:id="R80f75c6ae48f4664"/>
    <p:sldId xmlns:r="http://schemas.openxmlformats.org/officeDocument/2006/relationships" id="268" r:id="R124a57126ffc40e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34a67e6f9641a4" /><Relationship Type="http://schemas.openxmlformats.org/officeDocument/2006/relationships/slideMaster" Target="/ppt/slideMasters/slideMaster1.xml" Id="Rc5fa1845e1014ae7" /><Relationship Type="http://schemas.openxmlformats.org/officeDocument/2006/relationships/notesMaster" Target="/ppt/notesMasters/notesMaster1.xml" Id="R195acf4a8ffc49ad" /><Relationship Type="http://schemas.openxmlformats.org/officeDocument/2006/relationships/presProps" Target="/ppt/presProps.xml" Id="R9bbf6ebe47d94d9e" /><Relationship Type="http://schemas.openxmlformats.org/officeDocument/2006/relationships/tableStyles" Target="/ppt/tableStyles.xml" Id="R958e0c93133f4e0e" /><Relationship Type="http://schemas.openxmlformats.org/officeDocument/2006/relationships/slide" Target="/ppt/slides/slide1.xml" Id="R2bae685460394925" /><Relationship Type="http://schemas.openxmlformats.org/officeDocument/2006/relationships/slide" Target="/ppt/slides/slide2.xml" Id="Re2aeb5956e434565" /><Relationship Type="http://schemas.openxmlformats.org/officeDocument/2006/relationships/slide" Target="/ppt/slides/slide3.xml" Id="Re86bc684208049ac" /><Relationship Type="http://schemas.openxmlformats.org/officeDocument/2006/relationships/slide" Target="/ppt/slides/slide4.xml" Id="R30e20fbf6bd744fc" /><Relationship Type="http://schemas.openxmlformats.org/officeDocument/2006/relationships/slide" Target="/ppt/slides/slide5.xml" Id="R754b608fa9634579" /><Relationship Type="http://schemas.openxmlformats.org/officeDocument/2006/relationships/slide" Target="/ppt/slides/slide6.xml" Id="R4901d0f2c33741d7" /><Relationship Type="http://schemas.openxmlformats.org/officeDocument/2006/relationships/slide" Target="/ppt/slides/slide7.xml" Id="R03887cea62994094" /><Relationship Type="http://schemas.openxmlformats.org/officeDocument/2006/relationships/slide" Target="/ppt/slides/slide8.xml" Id="R7c7fcba0650a4e4e" /><Relationship Type="http://schemas.openxmlformats.org/officeDocument/2006/relationships/slide" Target="/ppt/slides/slide9.xml" Id="R98591fd5910b4571" /><Relationship Type="http://schemas.openxmlformats.org/officeDocument/2006/relationships/slide" Target="/ppt/slides/slide10.xml" Id="Rb6320e59d79b4224" /><Relationship Type="http://schemas.openxmlformats.org/officeDocument/2006/relationships/slide" Target="/ppt/slides/slide11.xml" Id="R2e8cb35d04374a8e" /><Relationship Type="http://schemas.openxmlformats.org/officeDocument/2006/relationships/slide" Target="/ppt/slides/slide12.xml" Id="R80f75c6ae48f4664" /><Relationship Type="http://schemas.openxmlformats.org/officeDocument/2006/relationships/slide" Target="/ppt/slides/slide13.xml" Id="R124a57126ffc40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e4d729b76d4c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ebdcd4c3354da7" /><Relationship Type="http://schemas.openxmlformats.org/officeDocument/2006/relationships/notesMaster" Target="/ppt/notesMasters/notesMaster1.xml" Id="R63e309572bba44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470d10a0bb4733" /><Relationship Type="http://schemas.openxmlformats.org/officeDocument/2006/relationships/notesMaster" Target="/ppt/notesMasters/notesMaster1.xml" Id="R57eb988d5b0148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7db720e84f467e" /><Relationship Type="http://schemas.openxmlformats.org/officeDocument/2006/relationships/notesMaster" Target="/ppt/notesMasters/notesMaster1.xml" Id="Rd030581cf10646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965f90379c456d" /><Relationship Type="http://schemas.openxmlformats.org/officeDocument/2006/relationships/notesMaster" Target="/ppt/notesMasters/notesMaster1.xml" Id="Rad7de1eb17a549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3b2ce535c4442e" /><Relationship Type="http://schemas.openxmlformats.org/officeDocument/2006/relationships/notesMaster" Target="/ppt/notesMasters/notesMaster1.xml" Id="R5edf6fe7ce3a4d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490d00afe04b21" /><Relationship Type="http://schemas.openxmlformats.org/officeDocument/2006/relationships/notesMaster" Target="/ppt/notesMasters/notesMaster1.xml" Id="R0c67a8783a8744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61f7b1cc2e43f2" /><Relationship Type="http://schemas.openxmlformats.org/officeDocument/2006/relationships/notesMaster" Target="/ppt/notesMasters/notesMaster1.xml" Id="R85d55bcfa36a46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a406a9943a4a4e" /><Relationship Type="http://schemas.openxmlformats.org/officeDocument/2006/relationships/notesMaster" Target="/ppt/notesMasters/notesMaster1.xml" Id="Rc2e1497d511e46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da5070edb6479c" /><Relationship Type="http://schemas.openxmlformats.org/officeDocument/2006/relationships/notesMaster" Target="/ppt/notesMasters/notesMaster1.xml" Id="Re163c6f8ccd64b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609bc2c6244c76" /><Relationship Type="http://schemas.openxmlformats.org/officeDocument/2006/relationships/notesMaster" Target="/ppt/notesMasters/notesMaster1.xml" Id="Refc7b083b8ce4d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2be423f0da4b24" /><Relationship Type="http://schemas.openxmlformats.org/officeDocument/2006/relationships/notesMaster" Target="/ppt/notesMasters/notesMaster1.xml" Id="Rc3a7fc389ecf46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667f7d11cd4c52" /><Relationship Type="http://schemas.openxmlformats.org/officeDocument/2006/relationships/notesMaster" Target="/ppt/notesMasters/notesMaster1.xml" Id="R6b3026e8e8d746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47e546b74c43da" /><Relationship Type="http://schemas.openxmlformats.org/officeDocument/2006/relationships/notesMaster" Target="/ppt/notesMasters/notesMaster1.xml" Id="R8b883a37b5144b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8ad3b7db4a4d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0f12d75d394531" /><Relationship Type="http://schemas.openxmlformats.org/officeDocument/2006/relationships/slideLayout" Target="/ppt/slideLayouts/slideLayout1.xml" Id="R9214d33b676f4d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14d33b676f4d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e0949506c4689" /><Relationship Type="http://schemas.openxmlformats.org/officeDocument/2006/relationships/image" Target="/ppt/media/image.png" Id="Rde01c9cba4934bf2" /><Relationship Type="http://schemas.openxmlformats.org/officeDocument/2006/relationships/notesSlide" Target="/ppt/notesSlides/notesSlide1.xml" Id="R7001467b88794f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a5593e5b04361" /><Relationship Type="http://schemas.openxmlformats.org/officeDocument/2006/relationships/notesSlide" Target="/ppt/notesSlides/notesSlide2.xml" Id="R24408e670c5547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e177e2cc64f35" /><Relationship Type="http://schemas.openxmlformats.org/officeDocument/2006/relationships/notesSlide" Target="/ppt/notesSlides/notesSlide3.xml" Id="R5ad94ea99d6a41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ccfbc7ad940e0" /><Relationship Type="http://schemas.openxmlformats.org/officeDocument/2006/relationships/notesSlide" Target="/ppt/notesSlides/notesSlide4.xml" Id="R71760a5d50d348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7ba54208f44d6" /><Relationship Type="http://schemas.openxmlformats.org/officeDocument/2006/relationships/notesSlide" Target="/ppt/notesSlides/notesSlide5.xml" Id="R958d12012ee24a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0d060000040d1" /><Relationship Type="http://schemas.openxmlformats.org/officeDocument/2006/relationships/notesSlide" Target="/ppt/notesSlides/notesSlide6.xml" Id="Rd72d7b2c9c3844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3535c6c454c2b" /><Relationship Type="http://schemas.openxmlformats.org/officeDocument/2006/relationships/notesSlide" Target="/ppt/notesSlides/notesSlide7.xml" Id="R9003bcdf8ac94b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4c51219dc4303" /><Relationship Type="http://schemas.openxmlformats.org/officeDocument/2006/relationships/notesSlide" Target="/ppt/notesSlides/notesSlide8.xml" Id="R7cf525413b4446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3340eeeba47d5" /><Relationship Type="http://schemas.openxmlformats.org/officeDocument/2006/relationships/notesSlide" Target="/ppt/notesSlides/notesSlide9.xml" Id="R9289c0ef91124f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7daab50e74917" /><Relationship Type="http://schemas.openxmlformats.org/officeDocument/2006/relationships/notesSlide" Target="/ppt/notesSlides/notesSlide10.xml" Id="R1537ad1990f04f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ed62afeaa4b33" /><Relationship Type="http://schemas.openxmlformats.org/officeDocument/2006/relationships/notesSlide" Target="/ppt/notesSlides/notesSlide11.xml" Id="Rb1c633d442e242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b18aafa28478d" /><Relationship Type="http://schemas.openxmlformats.org/officeDocument/2006/relationships/notesSlide" Target="/ppt/notesSlides/notesSlide12.xml" Id="Rc1af630b819642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9cce6fb894cfe" /><Relationship Type="http://schemas.openxmlformats.org/officeDocument/2006/relationships/notesSlide" Target="/ppt/notesSlides/notesSlide13.xml" Id="R4e2203c661cb4b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141104-A46E-4C42-BC60-3EC3D82D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INNOVATI">
            <a:extLst xmlns:a="http://schemas.openxmlformats.org/drawingml/2006/main">
              <a:ext uri="{FF2B5EF4-FFF2-40B4-BE49-F238E27FC236}">
                <a16:creationId xmlns:a16="http://schemas.microsoft.com/office/drawing/2014/main" id="{B885FD7D-5D72-4911-BB9E-C6AC9231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INNOVATION LAB</a:t>
            </a:r>
          </a:p>
        </p:txBody>
      </p:sp>
      <p:sp>
        <p:nvSpPr>
          <p:cNvPr id="3" name="MySQL 9.7 telemetry">
            <a:extLst xmlns:a="http://schemas.openxmlformats.org/drawingml/2006/main">
              <a:ext uri="{FF2B5EF4-FFF2-40B4-BE49-F238E27FC236}">
                <a16:creationId xmlns:a16="http://schemas.microsoft.com/office/drawing/2014/main" id="{CBC0235C-7C94-4495-A98A-0410C396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10048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MySQL 9.7 telemetry</a:t>
            </a:r>
          </a:p>
        </p:txBody>
      </p:sp>
      <p:sp>
        <p:nvSpPr>
          <p:cNvPr id="4" name="From component to OpenTel">
            <a:extLst xmlns:a="http://schemas.openxmlformats.org/drawingml/2006/main">
              <a:ext uri="{FF2B5EF4-FFF2-40B4-BE49-F238E27FC236}">
                <a16:creationId xmlns:a16="http://schemas.microsoft.com/office/drawing/2014/main" id="{2F8253EE-957B-4FC0-BDA9-B454EAB7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From component to OpenTelemetry receiver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9BC93-FECF-46EA-A816-6EBE93C3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 practical deep dive wit">
            <a:extLst xmlns:a="http://schemas.openxmlformats.org/drawingml/2006/main">
              <a:ext uri="{FF2B5EF4-FFF2-40B4-BE49-F238E27FC236}">
                <a16:creationId xmlns:a16="http://schemas.microsoft.com/office/drawing/2014/main" id="{FDEF20F2-7013-4A23-84AF-61D7B3D5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86225"/>
            <a:ext cx="785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A practical deep dive with Collector setup, MySQL SQL, and a live import demo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1c9cba4934bf2"/>
          <a:stretch xmlns:a="http://schemas.openxmlformats.org/drawingml/2006/main"/>
        </p:blipFill>
        <p:spPr>
          <a:xfrm xmlns:a="http://schemas.openxmlformats.org/drawingml/2006/main">
            <a:off x="9886950" y="5098635"/>
            <a:ext cx="1428750" cy="966030"/>
          </a:xfrm>
          <a:prstGeom xmlns:a="http://schemas.openxmlformats.org/drawingml/2006/main" prst="rect">
            <a:avLst/>
          </a:prstGeom>
        </p:spPr>
      </p:pic>
      <p:sp>
        <p:nvSpPr>
          <p:cNvPr id="8" name="COMMUNITY EDITION  ·  TRA">
            <a:extLst xmlns:a="http://schemas.openxmlformats.org/drawingml/2006/main">
              <a:ext uri="{FF2B5EF4-FFF2-40B4-BE49-F238E27FC236}">
                <a16:creationId xmlns:a16="http://schemas.microsoft.com/office/drawing/2014/main" id="{9E7B001F-6F96-475A-856B-1B387618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15025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75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58F"/>
                </a:solidFill>
                <a:latin typeface="Arial"/>
                <a:ea typeface="Arial"/>
                <a:cs typeface="Arial"/>
              </a:rPr>
              <a:t>COMMUNITY EDITION  ·  TRACES + METRICS</a:t>
            </a:r>
          </a:p>
        </p:txBody>
      </p:sp>
    </p:spTree>
    <p:extLst>
      <p:ext uri="{BB962C8B-B14F-4D97-AF65-F5344CB8AC3E}">
        <p14:creationId xmlns:p14="http://schemas.microsoft.com/office/powerpoint/2010/main" val="3125090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4F1BBF-3193-4A5F-8F90-15C4815D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1020307E-AC19-4151-8872-7DDD55D7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BACKGROUND">
            <a:extLst xmlns:a="http://schemas.openxmlformats.org/drawingml/2006/main">
              <a:ext uri="{FF2B5EF4-FFF2-40B4-BE49-F238E27FC236}">
                <a16:creationId xmlns:a16="http://schemas.microsoft.com/office/drawing/2014/main" id="{ECCA822D-3CD3-457B-AED8-E2D49B3B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BACKGROUND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B7BA8-4526-4938-B1B8-2C9584DA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lemetry links SQL activ">
            <a:extLst xmlns:a="http://schemas.openxmlformats.org/drawingml/2006/main">
              <a:ext uri="{FF2B5EF4-FFF2-40B4-BE49-F238E27FC236}">
                <a16:creationId xmlns:a16="http://schemas.microsoft.com/office/drawing/2014/main" id="{B95EA952-4D2D-4497-BC7E-C0C917CF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Telemetry links SQL activity to server behavior</a:t>
            </a:r>
          </a:p>
        </p:txBody>
      </p:sp>
      <p:sp>
        <p:nvSpPr>
          <p:cNvPr id="6" name="MySQL emits structured si">
            <a:extLst xmlns:a="http://schemas.openxmlformats.org/drawingml/2006/main">
              <a:ext uri="{FF2B5EF4-FFF2-40B4-BE49-F238E27FC236}">
                <a16:creationId xmlns:a16="http://schemas.microsoft.com/office/drawing/2014/main" id="{6944D3EE-D3B0-46D3-A73B-BCD5207E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emits structured signals that an OTLP receiver can collect and route.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11108-BE3A-4B1F-AA9C-C41D7976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EE83524D-904F-4D13-89B7-B9EEDD7E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D75770D7-0DDE-4245-BFB7-F721C39C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Without an export path">
            <a:extLst xmlns:a="http://schemas.openxmlformats.org/drawingml/2006/main">
              <a:ext uri="{FF2B5EF4-FFF2-40B4-BE49-F238E27FC236}">
                <a16:creationId xmlns:a16="http://schemas.microsoft.com/office/drawing/2014/main" id="{70A19EAF-DE99-4C7F-BBC7-049AAB79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Without an export path</a:t>
            </a:r>
          </a:p>
        </p:txBody>
      </p:sp>
      <p:sp>
        <p:nvSpPr>
          <p:cNvPr id="11" name="Slow queries and connecti">
            <a:extLst xmlns:a="http://schemas.openxmlformats.org/drawingml/2006/main">
              <a:ext uri="{FF2B5EF4-FFF2-40B4-BE49-F238E27FC236}">
                <a16:creationId xmlns:a16="http://schemas.microsoft.com/office/drawing/2014/main" id="{2CCD7033-80F6-438C-AE38-53663F84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5029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Slow queries and connection spikes are observed in separate tools. Teams lose the timeline that connects a client action to database activity.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81964-30E1-4D01-912D-AE308127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33650"/>
            <a:ext cx="190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ith telemetry">
            <a:extLst xmlns:a="http://schemas.openxmlformats.org/drawingml/2006/main">
              <a:ext uri="{FF2B5EF4-FFF2-40B4-BE49-F238E27FC236}">
                <a16:creationId xmlns:a16="http://schemas.microsoft.com/office/drawing/2014/main" id="{4E2BAA9C-C69A-47F3-86E2-8F232B86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0758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58F"/>
                </a:solidFill>
                <a:latin typeface="Arial"/>
                <a:ea typeface="Arial"/>
                <a:cs typeface="Arial"/>
              </a:rPr>
              <a:t>With telemetry</a:t>
            </a:r>
          </a:p>
        </p:txBody>
      </p:sp>
      <p:sp>
        <p:nvSpPr>
          <p:cNvPr id="14" name="Trace spans describe work">
            <a:extLst xmlns:a="http://schemas.openxmlformats.org/drawingml/2006/main">
              <a:ext uri="{FF2B5EF4-FFF2-40B4-BE49-F238E27FC236}">
                <a16:creationId xmlns:a16="http://schemas.microsoft.com/office/drawing/2014/main" id="{22F3E110-AC1D-4D8E-9366-4052601C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5029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Trace spans describe work and timing; metrics show server measurements. A Collector can process and forward both signals.</a:t>
            </a:r>
          </a:p>
        </p:txBody>
      </p:sp>
      <p:sp>
        <p:nvSpPr>
          <p:cNvPr id="15" name="Key distinction: instrume">
            <a:extLst xmlns:a="http://schemas.openxmlformats.org/drawingml/2006/main">
              <a:ext uri="{FF2B5EF4-FFF2-40B4-BE49-F238E27FC236}">
                <a16:creationId xmlns:a16="http://schemas.microsoft.com/office/drawing/2014/main" id="{D2382140-F6AE-44CC-A819-9F3A9258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Key distinction: instrumentation produces signals; a receiver makes them observable.</a:t>
            </a:r>
          </a:p>
        </p:txBody>
      </p:sp>
    </p:spTree>
    <p:extLst>
      <p:ext uri="{BB962C8B-B14F-4D97-AF65-F5344CB8AC3E}">
        <p14:creationId xmlns:p14="http://schemas.microsoft.com/office/powerpoint/2010/main" val="10605904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B8CCC6-B97A-4784-B149-58A492C3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CCD42F46-E656-4271-A158-04DEE7ED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ARCHITECTURE">
            <a:extLst xmlns:a="http://schemas.openxmlformats.org/drawingml/2006/main">
              <a:ext uri="{FF2B5EF4-FFF2-40B4-BE49-F238E27FC236}">
                <a16:creationId xmlns:a16="http://schemas.microsoft.com/office/drawing/2014/main" id="{9C613515-7CA3-4377-AAC4-82E5985D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B4079-D332-499A-9914-D5EBA540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ne pipeline, two receive">
            <a:extLst xmlns:a="http://schemas.openxmlformats.org/drawingml/2006/main">
              <a:ext uri="{FF2B5EF4-FFF2-40B4-BE49-F238E27FC236}">
                <a16:creationId xmlns:a16="http://schemas.microsoft.com/office/drawing/2014/main" id="{F6079B88-C58E-4416-B789-D6D0CC86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One pipeline, two receiver choices</a:t>
            </a:r>
          </a:p>
        </p:txBody>
      </p:sp>
      <p:sp>
        <p:nvSpPr>
          <p:cNvPr id="6" name="MySQL exports OTLP/HTTP. ">
            <a:extLst xmlns:a="http://schemas.openxmlformats.org/drawingml/2006/main">
              <a:ext uri="{FF2B5EF4-FFF2-40B4-BE49-F238E27FC236}">
                <a16:creationId xmlns:a16="http://schemas.microsoft.com/office/drawing/2014/main" id="{D6B1C378-ED8F-494D-9249-62D789A6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exports OTLP/HTTP. The chosen endpoint determines where the evidence appears.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70ED3-5B39-49AD-AF01-CD825614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C195B2EC-8EED-4338-A6B2-59E55BEE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DE4FAC96-5397-415B-8A9F-9AAF0511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6EFED-1D5E-4293-A8BC-CBDDC795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2190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69369-826A-46FD-BCBD-47A883A9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ySQL 9.7">
            <a:extLst xmlns:a="http://schemas.openxmlformats.org/drawingml/2006/main">
              <a:ext uri="{FF2B5EF4-FFF2-40B4-BE49-F238E27FC236}">
                <a16:creationId xmlns:a16="http://schemas.microsoft.com/office/drawing/2014/main" id="{B80FA1A1-037A-47F6-BA6A-76F8A781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MySQL 9.7</a:t>
            </a:r>
          </a:p>
        </p:txBody>
      </p:sp>
      <p:sp>
        <p:nvSpPr>
          <p:cNvPr id="13" name="component_telemetry">
            <a:extLst xmlns:a="http://schemas.openxmlformats.org/drawingml/2006/main">
              <a:ext uri="{FF2B5EF4-FFF2-40B4-BE49-F238E27FC236}">
                <a16:creationId xmlns:a16="http://schemas.microsoft.com/office/drawing/2014/main" id="{DF35B201-3445-4807-871A-1642615D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component_telemetry</a:t>
            </a:r>
          </a:p>
        </p:txBody>
      </p:sp>
      <p:sp>
        <p:nvSpPr>
          <p:cNvPr id="14" name="→">
            <a:extLst xmlns:a="http://schemas.openxmlformats.org/drawingml/2006/main">
              <a:ext uri="{FF2B5EF4-FFF2-40B4-BE49-F238E27FC236}">
                <a16:creationId xmlns:a16="http://schemas.microsoft.com/office/drawing/2014/main" id="{ECF84047-AE83-47CC-A81D-3B9C8E0D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861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9ED127-3240-4213-A3CE-7377E157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95600"/>
            <a:ext cx="2190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A4897-13C2-4E96-BD07-6474ADA6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956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TLP / HTTP">
            <a:extLst xmlns:a="http://schemas.openxmlformats.org/drawingml/2006/main">
              <a:ext uri="{FF2B5EF4-FFF2-40B4-BE49-F238E27FC236}">
                <a16:creationId xmlns:a16="http://schemas.microsoft.com/office/drawing/2014/main" id="{C8397D44-E2C7-4605-B429-943305861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1945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OTLP / HTTP</a:t>
            </a:r>
          </a:p>
        </p:txBody>
      </p:sp>
      <p:sp>
        <p:nvSpPr>
          <p:cNvPr id="18" name="/v1/traces · /v1/metrics">
            <a:extLst xmlns:a="http://schemas.openxmlformats.org/drawingml/2006/main">
              <a:ext uri="{FF2B5EF4-FFF2-40B4-BE49-F238E27FC236}">
                <a16:creationId xmlns:a16="http://schemas.microsoft.com/office/drawing/2014/main" id="{40929A29-AF9B-42F3-AA7C-A61CA8ED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43325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/v1/traces · /v1/metrics</a:t>
            </a:r>
          </a:p>
        </p:txBody>
      </p:sp>
      <p:sp>
        <p:nvSpPr>
          <p:cNvPr id="19" name="→">
            <a:extLst xmlns:a="http://schemas.openxmlformats.org/drawingml/2006/main">
              <a:ext uri="{FF2B5EF4-FFF2-40B4-BE49-F238E27FC236}">
                <a16:creationId xmlns:a16="http://schemas.microsoft.com/office/drawing/2014/main" id="{F6D6FA90-0D87-4FDA-B810-7098CFF5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4861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8A0AB-47AC-4883-A80F-8FC04A27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2190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7DAF07-92C7-4B77-9DCE-E0A44A2E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eiver">
            <a:extLst xmlns:a="http://schemas.openxmlformats.org/drawingml/2006/main">
              <a:ext uri="{FF2B5EF4-FFF2-40B4-BE49-F238E27FC236}">
                <a16:creationId xmlns:a16="http://schemas.microsoft.com/office/drawing/2014/main" id="{E35E7E04-1206-4853-8D12-E5D3E91A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19450"/>
            <a:ext cx="1847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Receiver</a:t>
            </a:r>
          </a:p>
        </p:txBody>
      </p:sp>
      <p:sp>
        <p:nvSpPr>
          <p:cNvPr id="23" name="Collector or demo server">
            <a:extLst xmlns:a="http://schemas.openxmlformats.org/drawingml/2006/main">
              <a:ext uri="{FF2B5EF4-FFF2-40B4-BE49-F238E27FC236}">
                <a16:creationId xmlns:a16="http://schemas.microsoft.com/office/drawing/2014/main" id="{98E57AAB-5A60-4FB9-911A-BA9854AA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43325"/>
            <a:ext cx="1847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Collector or demo server</a:t>
            </a:r>
          </a:p>
        </p:txBody>
      </p:sp>
      <p:sp>
        <p:nvSpPr>
          <p:cNvPr id="24" name="→">
            <a:extLst xmlns:a="http://schemas.openxmlformats.org/drawingml/2006/main">
              <a:ext uri="{FF2B5EF4-FFF2-40B4-BE49-F238E27FC236}">
                <a16:creationId xmlns:a16="http://schemas.microsoft.com/office/drawing/2014/main" id="{A271A137-76A2-4FB8-A89A-16F28DBE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4861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B493BD-E21A-4C23-BD5E-3F49E030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95600"/>
            <a:ext cx="27432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C83801-0A3E-442B-B58B-CBAF62D0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95600"/>
            <a:ext cx="2743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Observation">
            <a:extLst xmlns:a="http://schemas.openxmlformats.org/drawingml/2006/main">
              <a:ext uri="{FF2B5EF4-FFF2-40B4-BE49-F238E27FC236}">
                <a16:creationId xmlns:a16="http://schemas.microsoft.com/office/drawing/2014/main" id="{899F9ED5-9069-474F-9184-AF7DB15B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28" name="Console/backend or web fe">
            <a:extLst xmlns:a="http://schemas.openxmlformats.org/drawingml/2006/main">
              <a:ext uri="{FF2B5EF4-FFF2-40B4-BE49-F238E27FC236}">
                <a16:creationId xmlns:a16="http://schemas.microsoft.com/office/drawing/2014/main" id="{AF3CA7E5-E735-4598-9714-0CDE85B7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43325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Console/backend or web feed</a:t>
            </a:r>
          </a:p>
        </p:txBody>
      </p:sp>
      <p:sp>
        <p:nvSpPr>
          <p:cNvPr id="29" name="Collector on :4318 → term">
            <a:extLst xmlns:a="http://schemas.openxmlformats.org/drawingml/2006/main">
              <a:ext uri="{FF2B5EF4-FFF2-40B4-BE49-F238E27FC236}">
                <a16:creationId xmlns:a16="http://schemas.microsoft.com/office/drawing/2014/main" id="{25795B0B-27F7-467C-A438-3EB951ED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Collector on :4318 → terminal/debug exporter.    Built-in demo on :4173 → live web dashboard.</a:t>
            </a:r>
          </a:p>
        </p:txBody>
      </p:sp>
    </p:spTree>
    <p:extLst>
      <p:ext uri="{BB962C8B-B14F-4D97-AF65-F5344CB8AC3E}">
        <p14:creationId xmlns:p14="http://schemas.microsoft.com/office/powerpoint/2010/main" val="17904815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F2EFC9-2762-4E05-B0F7-4684C4DF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89491D00-CD29-4045-880F-12146C60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PREREQUISITES">
            <a:extLst xmlns:a="http://schemas.openxmlformats.org/drawingml/2006/main">
              <a:ext uri="{FF2B5EF4-FFF2-40B4-BE49-F238E27FC236}">
                <a16:creationId xmlns:a16="http://schemas.microsoft.com/office/drawing/2014/main" id="{FFAD7BF5-CAFD-4091-A69C-6289E940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PREREQUISITES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D4120-E500-4251-9F42-BAD3A26A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rt with a reachable re">
            <a:extLst xmlns:a="http://schemas.openxmlformats.org/drawingml/2006/main">
              <a:ext uri="{FF2B5EF4-FFF2-40B4-BE49-F238E27FC236}">
                <a16:creationId xmlns:a16="http://schemas.microsoft.com/office/drawing/2014/main" id="{D6FBB84C-F3DE-4274-88C1-C234BA61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Start with a reachable receiver and a test MySQL 9.7 server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22719-C5F5-4B4E-915F-64300940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1AD2A1B5-5BB9-4719-AC15-C992EC7E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8" name="04">
            <a:extLst xmlns:a="http://schemas.openxmlformats.org/drawingml/2006/main">
              <a:ext uri="{FF2B5EF4-FFF2-40B4-BE49-F238E27FC236}">
                <a16:creationId xmlns:a16="http://schemas.microsoft.com/office/drawing/2014/main" id="{6DAC1464-D70C-4F8E-A99D-EA323EF4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01">
            <a:extLst xmlns:a="http://schemas.openxmlformats.org/drawingml/2006/main">
              <a:ext uri="{FF2B5EF4-FFF2-40B4-BE49-F238E27FC236}">
                <a16:creationId xmlns:a16="http://schemas.microsoft.com/office/drawing/2014/main" id="{C149188F-8742-4885-8066-333A4DB4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MySQL 9.7 Community">
            <a:extLst xmlns:a="http://schemas.openxmlformats.org/drawingml/2006/main">
              <a:ext uri="{FF2B5EF4-FFF2-40B4-BE49-F238E27FC236}">
                <a16:creationId xmlns:a16="http://schemas.microsoft.com/office/drawing/2014/main" id="{F8FD126C-62FC-4023-89BD-7CCAFF14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050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MySQL 9.7 Community</a:t>
            </a:r>
          </a:p>
        </p:txBody>
      </p:sp>
      <p:sp>
        <p:nvSpPr>
          <p:cNvPr id="11" name="Use a test instance and a">
            <a:extLst xmlns:a="http://schemas.openxmlformats.org/drawingml/2006/main">
              <a:ext uri="{FF2B5EF4-FFF2-40B4-BE49-F238E27FC236}">
                <a16:creationId xmlns:a16="http://schemas.microsoft.com/office/drawing/2014/main" id="{78B43809-3DBD-4F4B-8988-20D81EFB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0505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Use a test instance and an account able to INSTALL COMPONENT and persist global variables.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1EF9A-9FCD-487C-94AD-5E15974D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02">
            <a:extLst xmlns:a="http://schemas.openxmlformats.org/drawingml/2006/main">
              <a:ext uri="{FF2B5EF4-FFF2-40B4-BE49-F238E27FC236}">
                <a16:creationId xmlns:a16="http://schemas.microsoft.com/office/drawing/2014/main" id="{469DA329-AF9C-4FAC-B67F-6B6E934A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Choose a receiver">
            <a:extLst xmlns:a="http://schemas.openxmlformats.org/drawingml/2006/main">
              <a:ext uri="{FF2B5EF4-FFF2-40B4-BE49-F238E27FC236}">
                <a16:creationId xmlns:a16="http://schemas.microsoft.com/office/drawing/2014/main" id="{6E3828FE-0E69-4A86-BDA4-17AB7D55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670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Choose a receiver</a:t>
            </a:r>
          </a:p>
        </p:txBody>
      </p:sp>
      <p:sp>
        <p:nvSpPr>
          <p:cNvPr id="15" name="OpenTelemetry Collector o">
            <a:extLst xmlns:a="http://schemas.openxmlformats.org/drawingml/2006/main">
              <a:ext uri="{FF2B5EF4-FFF2-40B4-BE49-F238E27FC236}">
                <a16:creationId xmlns:a16="http://schemas.microsoft.com/office/drawing/2014/main" id="{183CC094-6BD2-4C4E-92BC-A1FBE5B9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67075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OpenTelemetry Collector on port 4318, or the web demo’s loopback-only JSON receiver on 4173.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33666F-9EBE-4344-AE24-57265DA8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03">
            <a:extLst xmlns:a="http://schemas.openxmlformats.org/drawingml/2006/main">
              <a:ext uri="{FF2B5EF4-FFF2-40B4-BE49-F238E27FC236}">
                <a16:creationId xmlns:a16="http://schemas.microsoft.com/office/drawing/2014/main" id="{8AB167F8-4189-493D-A0B5-98B1F9D8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Check topology">
            <a:extLst xmlns:a="http://schemas.openxmlformats.org/drawingml/2006/main">
              <a:ext uri="{FF2B5EF4-FFF2-40B4-BE49-F238E27FC236}">
                <a16:creationId xmlns:a16="http://schemas.microsoft.com/office/drawing/2014/main" id="{2B891BF0-E7A6-4AF1-804E-D2861EB7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291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Check topology</a:t>
            </a:r>
          </a:p>
        </p:txBody>
      </p:sp>
      <p:sp>
        <p:nvSpPr>
          <p:cNvPr id="19" name="127.0.0.1 means the MySQL">
            <a:extLst xmlns:a="http://schemas.openxmlformats.org/drawingml/2006/main">
              <a:ext uri="{FF2B5EF4-FFF2-40B4-BE49-F238E27FC236}">
                <a16:creationId xmlns:a16="http://schemas.microsoft.com/office/drawing/2014/main" id="{ADCE55AF-E71C-4A02-8BB4-55BE4747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2910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127.0.0.1 means the MySQL host. Containerized or remote MySQL needs a reachable endpoint.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61ECD2-1407-4583-8837-9939CBC4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r production, add TLS, ">
            <a:extLst xmlns:a="http://schemas.openxmlformats.org/drawingml/2006/main">
              <a:ext uri="{FF2B5EF4-FFF2-40B4-BE49-F238E27FC236}">
                <a16:creationId xmlns:a16="http://schemas.microsoft.com/office/drawing/2014/main" id="{9095CFF8-F1CE-4890-97E3-402E9F73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For production, add TLS, authentication, retention, filtering, and a real observability backend.</a:t>
            </a:r>
          </a:p>
        </p:txBody>
      </p:sp>
    </p:spTree>
    <p:extLst>
      <p:ext uri="{BB962C8B-B14F-4D97-AF65-F5344CB8AC3E}">
        <p14:creationId xmlns:p14="http://schemas.microsoft.com/office/powerpoint/2010/main" val="3611443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6A28A2-EC91-4198-A2DE-1F84FBFC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15869C83-3DB4-4D65-A50E-D4622410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COLLECTOR SETUP">
            <a:extLst xmlns:a="http://schemas.openxmlformats.org/drawingml/2006/main">
              <a:ext uri="{FF2B5EF4-FFF2-40B4-BE49-F238E27FC236}">
                <a16:creationId xmlns:a16="http://schemas.microsoft.com/office/drawing/2014/main" id="{B2FCA1A8-1AE2-4687-B187-B142613E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COLLECTOR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EC1D0-8EC4-4414-99B8-8A8CC8E0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he Collector needs a rec">
            <a:extLst xmlns:a="http://schemas.openxmlformats.org/drawingml/2006/main">
              <a:ext uri="{FF2B5EF4-FFF2-40B4-BE49-F238E27FC236}">
                <a16:creationId xmlns:a16="http://schemas.microsoft.com/office/drawing/2014/main" id="{DBA7EAED-D903-4E73-B5E6-A4C0DE57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The Collector needs a receiver, processor, and exporter</a:t>
            </a:r>
          </a:p>
        </p:txBody>
      </p:sp>
      <p:sp>
        <p:nvSpPr>
          <p:cNvPr id="6" name="Core configuration from t">
            <a:extLst xmlns:a="http://schemas.openxmlformats.org/drawingml/2006/main">
              <a:ext uri="{FF2B5EF4-FFF2-40B4-BE49-F238E27FC236}">
                <a16:creationId xmlns:a16="http://schemas.microsoft.com/office/drawing/2014/main" id="{C3CE73A0-0362-4F22-8569-E7B534FF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Core configuration from the bundled otel-collector.yaml (which also has a logs pipeline).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273A7-C0AE-4DE1-B53A-16F94D0C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06126234-D9CA-46BD-8038-35B7D85D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05">
            <a:extLst xmlns:a="http://schemas.openxmlformats.org/drawingml/2006/main">
              <a:ext uri="{FF2B5EF4-FFF2-40B4-BE49-F238E27FC236}">
                <a16:creationId xmlns:a16="http://schemas.microsoft.com/office/drawing/2014/main" id="{80CAB93F-8765-4B09-825F-DD5B7182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E247B-4EF3-4BA1-A65E-FA0174D8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343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1484C-389D-4C18-A486-6225C774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57150" cy="343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eivers:&#10;  otlp:&#10;    pr">
            <a:extLst xmlns:a="http://schemas.openxmlformats.org/drawingml/2006/main">
              <a:ext uri="{FF2B5EF4-FFF2-40B4-BE49-F238E27FC236}">
                <a16:creationId xmlns:a16="http://schemas.microsoft.com/office/drawing/2014/main" id="{05F43F54-2361-419C-BDB3-CAD5CAEC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33675"/>
            <a:ext cx="105156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receivers: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otlp: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protocols: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http: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endpoint: 0.0.0.0:4318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processors: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batch: {}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exporters: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debug: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verbosity: basic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service: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pipelines: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traces:  {receivers: [otlp], processors: [batch], exporters: [debug]}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metrics: {receivers: [otlp], processors: [batch], exporters: [debug]}</a:t>
            </a:r>
          </a:p>
        </p:txBody>
      </p:sp>
    </p:spTree>
    <p:extLst>
      <p:ext uri="{BB962C8B-B14F-4D97-AF65-F5344CB8AC3E}">
        <p14:creationId xmlns:p14="http://schemas.microsoft.com/office/powerpoint/2010/main" val="9181757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B7427F-712D-42CB-904B-4BBF6988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B2D8E3BE-EA05-4629-BFE3-4BA4A6E3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COLLECTOR SETUP">
            <a:extLst xmlns:a="http://schemas.openxmlformats.org/drawingml/2006/main">
              <a:ext uri="{FF2B5EF4-FFF2-40B4-BE49-F238E27FC236}">
                <a16:creationId xmlns:a16="http://schemas.microsoft.com/office/drawing/2014/main" id="{71F78B66-F044-43A3-8459-A0E80A9C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COLLECTOR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0B364-5F8B-4B28-A77D-BB6A6B18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n the standard Collecto">
            <a:extLst xmlns:a="http://schemas.openxmlformats.org/drawingml/2006/main">
              <a:ext uri="{FF2B5EF4-FFF2-40B4-BE49-F238E27FC236}">
                <a16:creationId xmlns:a16="http://schemas.microsoft.com/office/drawing/2014/main" id="{D5458DE8-5445-4EF5-B19F-193C9B88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Run the standard Collector on OTLP/HTTP port 4318</a:t>
            </a:r>
          </a:p>
        </p:txBody>
      </p:sp>
      <p:sp>
        <p:nvSpPr>
          <p:cNvPr id="6" name="The debug exporter prints">
            <a:extLst xmlns:a="http://schemas.openxmlformats.org/drawingml/2006/main">
              <a:ext uri="{FF2B5EF4-FFF2-40B4-BE49-F238E27FC236}">
                <a16:creationId xmlns:a16="http://schemas.microsoft.com/office/drawing/2014/main" id="{6D0D50FF-4195-4997-854A-21D4EC76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The debug exporter prints received signal summaries to its terminal.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91C2E-60D1-430F-94A0-D4385E0C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901D5612-24D1-4318-A14A-98FAC428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06">
            <a:extLst xmlns:a="http://schemas.openxmlformats.org/drawingml/2006/main">
              <a:ext uri="{FF2B5EF4-FFF2-40B4-BE49-F238E27FC236}">
                <a16:creationId xmlns:a16="http://schemas.microsoft.com/office/drawing/2014/main" id="{F2D4D91D-753F-4F8B-9D7F-53ECEC85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5373C-E5E6-48A0-9E28-DF0396F3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D91B32-F236-42DB-8CF1-51BCE45D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71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ocker run --rm \&#10;  -p 12">
            <a:extLst xmlns:a="http://schemas.openxmlformats.org/drawingml/2006/main">
              <a:ext uri="{FF2B5EF4-FFF2-40B4-BE49-F238E27FC236}">
                <a16:creationId xmlns:a16="http://schemas.microsoft.com/office/drawing/2014/main" id="{93673CC0-1D55-4415-A9B5-2677A77A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90825"/>
            <a:ext cx="105156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docker run --rm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-p 127.0.0.1:4318:4318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-v "$PWD/otel-collector.yaml:/etc/otelcol/config.yaml:ro"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otel/opentelemetry-collector:0.161.0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--config=/etc/otelcol/config.yaml</a:t>
            </a:r>
          </a:p>
        </p:txBody>
      </p:sp>
      <p:sp>
        <p:nvSpPr>
          <p:cNvPr id="13" name="Use 4318 in both MySQL en">
            <a:extLst xmlns:a="http://schemas.openxmlformats.org/drawingml/2006/main">
              <a:ext uri="{FF2B5EF4-FFF2-40B4-BE49-F238E27FC236}">
                <a16:creationId xmlns:a16="http://schemas.microsoft.com/office/drawing/2014/main" id="{FEB29EEF-FA3F-4FC2-BF5D-66E798F7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Use 4318 in both MySQL endpoint URLs. This Collector does not populate the demo web page.</a:t>
            </a:r>
          </a:p>
        </p:txBody>
      </p:sp>
    </p:spTree>
    <p:extLst>
      <p:ext uri="{BB962C8B-B14F-4D97-AF65-F5344CB8AC3E}">
        <p14:creationId xmlns:p14="http://schemas.microsoft.com/office/powerpoint/2010/main" val="3595153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084415-8B91-4D5C-AFF9-8B75ECC5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50D3E709-91FA-4AA3-81AF-EB2687B1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MYSQL SETUP">
            <a:extLst xmlns:a="http://schemas.openxmlformats.org/drawingml/2006/main">
              <a:ext uri="{FF2B5EF4-FFF2-40B4-BE49-F238E27FC236}">
                <a16:creationId xmlns:a16="http://schemas.microsoft.com/office/drawing/2014/main" id="{D75AA748-8766-4D63-8E2B-058BF07B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55522-5FA2-4281-991F-CF28E23E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nstall and verify the My">
            <a:extLst xmlns:a="http://schemas.openxmlformats.org/drawingml/2006/main">
              <a:ext uri="{FF2B5EF4-FFF2-40B4-BE49-F238E27FC236}">
                <a16:creationId xmlns:a16="http://schemas.microsoft.com/office/drawing/2014/main" id="{1D037F61-7A66-4468-A2A2-5338A1A3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Install and verify the MySQL server component</a:t>
            </a:r>
          </a:p>
        </p:txBody>
      </p:sp>
      <p:sp>
        <p:nvSpPr>
          <p:cNvPr id="6" name="The component registers t">
            <a:extLst xmlns:a="http://schemas.openxmlformats.org/drawingml/2006/main">
              <a:ext uri="{FF2B5EF4-FFF2-40B4-BE49-F238E27FC236}">
                <a16:creationId xmlns:a16="http://schemas.microsoft.com/office/drawing/2014/main" id="{0E8C87F8-8BC7-44B9-9814-DE98E913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The component registers telemetry variables on the server.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2BB34-4419-4E36-9033-9F222D79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5E62D694-E1E8-4FE7-8B19-72A76B33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07">
            <a:extLst xmlns:a="http://schemas.openxmlformats.org/drawingml/2006/main">
              <a:ext uri="{FF2B5EF4-FFF2-40B4-BE49-F238E27FC236}">
                <a16:creationId xmlns:a16="http://schemas.microsoft.com/office/drawing/2014/main" id="{000CB36F-5E98-4FEC-A0FF-228FD645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115CB-D87E-4F7B-9326-DD9F0E71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78AF35-9109-494E-9F4A-ECF129A8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71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NSTALL COMPONENT 'file:/">
            <a:extLst xmlns:a="http://schemas.openxmlformats.org/drawingml/2006/main">
              <a:ext uri="{FF2B5EF4-FFF2-40B4-BE49-F238E27FC236}">
                <a16:creationId xmlns:a16="http://schemas.microsoft.com/office/drawing/2014/main" id="{2351A677-35D1-4648-B6A8-ACB6BBA6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90825"/>
            <a:ext cx="10515600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INSTALL COMPONENT 'file://component_telemetry';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SELECT component_urn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mysql.component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WHERE component_urn = 'file://component_telemetry';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SHOW GLOBAL VARIABLES LIKE 'telemetry.%';</a:t>
            </a:r>
          </a:p>
        </p:txBody>
      </p:sp>
      <p:sp>
        <p:nvSpPr>
          <p:cNvPr id="13" name="A returned component_urn ">
            <a:extLst xmlns:a="http://schemas.openxmlformats.org/drawingml/2006/main">
              <a:ext uri="{FF2B5EF4-FFF2-40B4-BE49-F238E27FC236}">
                <a16:creationId xmlns:a16="http://schemas.microsoft.com/office/drawing/2014/main" id="{8CB128A5-3D00-4EE9-AB5E-6D7D424A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A returned component_urn confirms installation. The client telemetry plugin is optional and separate.</a:t>
            </a:r>
          </a:p>
        </p:txBody>
      </p:sp>
    </p:spTree>
    <p:extLst>
      <p:ext uri="{BB962C8B-B14F-4D97-AF65-F5344CB8AC3E}">
        <p14:creationId xmlns:p14="http://schemas.microsoft.com/office/powerpoint/2010/main" val="9713476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39AC0D-4EF9-42B6-B891-D9CA7063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7CB94F56-7BAA-46C5-B22F-F21B24E1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MYSQL SETUP">
            <a:extLst xmlns:a="http://schemas.openxmlformats.org/drawingml/2006/main">
              <a:ext uri="{FF2B5EF4-FFF2-40B4-BE49-F238E27FC236}">
                <a16:creationId xmlns:a16="http://schemas.microsoft.com/office/drawing/2014/main" id="{0BAE6E6E-5D88-4F34-BFD9-5CF60004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36D0E-E27F-4C09-8500-C764957E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oint both exporters at t">
            <a:extLst xmlns:a="http://schemas.openxmlformats.org/drawingml/2006/main">
              <a:ext uri="{FF2B5EF4-FFF2-40B4-BE49-F238E27FC236}">
                <a16:creationId xmlns:a16="http://schemas.microsoft.com/office/drawing/2014/main" id="{B23598FE-EA18-48DF-868B-F6ABA2E9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Point both exporters at the same receiver</a:t>
            </a:r>
          </a:p>
        </p:txBody>
      </p:sp>
      <p:sp>
        <p:nvSpPr>
          <p:cNvPr id="6" name="Example below targets the">
            <a:extLst xmlns:a="http://schemas.openxmlformats.org/drawingml/2006/main">
              <a:ext uri="{FF2B5EF4-FFF2-40B4-BE49-F238E27FC236}">
                <a16:creationId xmlns:a16="http://schemas.microsoft.com/office/drawing/2014/main" id="{0021FD5A-04CC-4D4A-BB7C-EF0377F5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Example below targets the built-in web demo receiver on 4173.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7890B-C758-42A3-B35B-D64A2AAD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C67C7AF6-4339-4937-BE96-DB6E012B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08">
            <a:extLst xmlns:a="http://schemas.openxmlformats.org/drawingml/2006/main">
              <a:ext uri="{FF2B5EF4-FFF2-40B4-BE49-F238E27FC236}">
                <a16:creationId xmlns:a16="http://schemas.microsoft.com/office/drawing/2014/main" id="{90590568-22F1-421B-966F-6E45046B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CF95B-41DF-465D-9C94-E4C2C6CC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0D4A3-1C76-403F-93CF-153B7E0B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71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T PERSIST_ONLY telemetr">
            <a:extLst xmlns:a="http://schemas.openxmlformats.org/drawingml/2006/main">
              <a:ext uri="{FF2B5EF4-FFF2-40B4-BE49-F238E27FC236}">
                <a16:creationId xmlns:a16="http://schemas.microsoft.com/office/drawing/2014/main" id="{1BE9B589-F7F6-43FB-9EC5-3A53F657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57475"/>
            <a:ext cx="105156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telemetry.otel_exporter_otlp_traces_protocol = 'http/json';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telemetry.otel_exporter_otlp_traces_endpoint =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'http://127.0.0.1:4173/v1/traces';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telemetry.otel_exporter_otlp_metrics_protocol = 'http/json';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telemetry.otel_exporter_otlp_metrics_endpoint =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'http://127.0.0.1:4173/v1/metrics';</a:t>
            </a:r>
          </a:p>
        </p:txBody>
      </p:sp>
      <p:sp>
        <p:nvSpPr>
          <p:cNvPr id="13" name="Collector path: change bo">
            <a:extLst xmlns:a="http://schemas.openxmlformats.org/drawingml/2006/main">
              <a:ext uri="{FF2B5EF4-FFF2-40B4-BE49-F238E27FC236}">
                <a16:creationId xmlns:a16="http://schemas.microsoft.com/office/drawing/2014/main" id="{34EF938B-18A2-48E4-8390-027CF3C3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Collector path: change both URLs to port 4318. Keep /v1/traces and /v1/metrics.</a:t>
            </a:r>
          </a:p>
        </p:txBody>
      </p:sp>
    </p:spTree>
    <p:extLst>
      <p:ext uri="{BB962C8B-B14F-4D97-AF65-F5344CB8AC3E}">
        <p14:creationId xmlns:p14="http://schemas.microsoft.com/office/powerpoint/2010/main" val="6276236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4DFD94-A976-4261-BBEF-1F4A8465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38AD429B-2621-47A7-A395-91E9CF2B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MYSQL SETUP">
            <a:extLst xmlns:a="http://schemas.openxmlformats.org/drawingml/2006/main">
              <a:ext uri="{FF2B5EF4-FFF2-40B4-BE49-F238E27FC236}">
                <a16:creationId xmlns:a16="http://schemas.microsoft.com/office/drawing/2014/main" id="{3A32F04F-7E2F-4C47-A3E4-2A1AFF57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CD3C6-EEA0-48DE-84F6-84BBFCC3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nable signals, restart, ">
            <a:extLst xmlns:a="http://schemas.openxmlformats.org/drawingml/2006/main">
              <a:ext uri="{FF2B5EF4-FFF2-40B4-BE49-F238E27FC236}">
                <a16:creationId xmlns:a16="http://schemas.microsoft.com/office/drawing/2014/main" id="{22612181-A2CC-4F96-A881-F8969BF1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Enable signals, restart, then verify the effective settings</a:t>
            </a:r>
          </a:p>
        </p:txBody>
      </p:sp>
      <p:sp>
        <p:nvSpPr>
          <p:cNvPr id="6" name="Exporter and metrics sett">
            <a:extLst xmlns:a="http://schemas.openxmlformats.org/drawingml/2006/main">
              <a:ext uri="{FF2B5EF4-FFF2-40B4-BE49-F238E27FC236}">
                <a16:creationId xmlns:a16="http://schemas.microsoft.com/office/drawing/2014/main" id="{8037869B-2ED3-454C-8866-23B2A4A7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Exporter and metrics settings are non-dynamic; apply them with a server restart.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F03C7-0DA0-48EF-85E8-F34FDCEA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F368B0B3-890A-4F2B-B20D-494608D9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09">
            <a:extLst xmlns:a="http://schemas.openxmlformats.org/drawingml/2006/main">
              <a:ext uri="{FF2B5EF4-FFF2-40B4-BE49-F238E27FC236}">
                <a16:creationId xmlns:a16="http://schemas.microsoft.com/office/drawing/2014/main" id="{28A18386-8C1D-4B15-A7A5-83DC7491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74925-070E-44C3-B4FB-5A05444C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2771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3E4FC-F9AA-478B-958A-01BC824E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7150" cy="2771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T PERSIST_ONLY telemetr">
            <a:extLst xmlns:a="http://schemas.openxmlformats.org/drawingml/2006/main">
              <a:ext uri="{FF2B5EF4-FFF2-40B4-BE49-F238E27FC236}">
                <a16:creationId xmlns:a16="http://schemas.microsoft.com/office/drawing/2014/main" id="{31F2DCEB-7A35-4DF0-BD67-2C661A46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52725"/>
            <a:ext cx="105156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telemetry.query_text_enabled = OFF;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telemetry.metrics_enabled = ON;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telemetry.trace_enabled = ON;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-- Restart mysqld, then inspect: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SHOW GLOBAL VARIABLES LIKE 'telemetry.%';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SELECT 1 AS telemetry_demo_query;</a:t>
            </a:r>
          </a:p>
        </p:txBody>
      </p:sp>
      <p:sp>
        <p:nvSpPr>
          <p:cNvPr id="13" name="query_text_enabled = OFF ">
            <a:extLst xmlns:a="http://schemas.openxmlformats.org/drawingml/2006/main">
              <a:ext uri="{FF2B5EF4-FFF2-40B4-BE49-F238E27FC236}">
                <a16:creationId xmlns:a16="http://schemas.microsoft.com/office/drawing/2014/main" id="{DECB2BA1-AC0F-43F5-92A8-705E21A6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query_text_enabled = OFF avoids exporting SQL text in this demo.</a:t>
            </a:r>
          </a:p>
        </p:txBody>
      </p:sp>
    </p:spTree>
    <p:extLst>
      <p:ext uri="{BB962C8B-B14F-4D97-AF65-F5344CB8AC3E}">
        <p14:creationId xmlns:p14="http://schemas.microsoft.com/office/powerpoint/2010/main" val="18507888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F1A324-B703-456E-9976-648CC051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5DE22EB5-910B-4629-B145-A9E1ACAB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DEMO A">
            <a:extLst xmlns:a="http://schemas.openxmlformats.org/drawingml/2006/main">
              <a:ext uri="{FF2B5EF4-FFF2-40B4-BE49-F238E27FC236}">
                <a16:creationId xmlns:a16="http://schemas.microsoft.com/office/drawing/2014/main" id="{B32CD706-E734-473E-B313-9BB716EE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DEMO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35CF6-0475-4A12-9AF3-D3B9FAFB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llector walkthrough: pr">
            <a:extLst xmlns:a="http://schemas.openxmlformats.org/drawingml/2006/main">
              <a:ext uri="{FF2B5EF4-FFF2-40B4-BE49-F238E27FC236}">
                <a16:creationId xmlns:a16="http://schemas.microsoft.com/office/drawing/2014/main" id="{8B1AFA56-FC0B-4CD9-A2C3-F3281C2A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Collector walkthrough: prove each hop in 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1B261-1125-4EFC-BDF6-99E113A8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7939ED29-5042-47CE-A2CB-103FF645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8" name="10">
            <a:extLst xmlns:a="http://schemas.openxmlformats.org/drawingml/2006/main">
              <a:ext uri="{FF2B5EF4-FFF2-40B4-BE49-F238E27FC236}">
                <a16:creationId xmlns:a16="http://schemas.microsoft.com/office/drawing/2014/main" id="{31FE529E-C849-4D46-815C-BEAA45DF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01">
            <a:extLst xmlns:a="http://schemas.openxmlformats.org/drawingml/2006/main">
              <a:ext uri="{FF2B5EF4-FFF2-40B4-BE49-F238E27FC236}">
                <a16:creationId xmlns:a16="http://schemas.microsoft.com/office/drawing/2014/main" id="{374874A4-3DE7-42F9-B53C-60B544A4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Start Collector">
            <a:extLst xmlns:a="http://schemas.openxmlformats.org/drawingml/2006/main">
              <a:ext uri="{FF2B5EF4-FFF2-40B4-BE49-F238E27FC236}">
                <a16:creationId xmlns:a16="http://schemas.microsoft.com/office/drawing/2014/main" id="{2F9C23D8-2A79-43F7-8E2F-A10D20B5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812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Start Collector</a:t>
            </a:r>
          </a:p>
        </p:txBody>
      </p:sp>
      <p:sp>
        <p:nvSpPr>
          <p:cNvPr id="11" name="Run the Docker command an">
            <a:extLst xmlns:a="http://schemas.openxmlformats.org/drawingml/2006/main">
              <a:ext uri="{FF2B5EF4-FFF2-40B4-BE49-F238E27FC236}">
                <a16:creationId xmlns:a16="http://schemas.microsoft.com/office/drawing/2014/main" id="{4CA94068-477E-4CC3-AEE1-9A2D358E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81225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Run the Docker command and leave its terminal open.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41E45-8155-4A04-806F-15CC36BA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02">
            <a:extLst xmlns:a="http://schemas.openxmlformats.org/drawingml/2006/main">
              <a:ext uri="{FF2B5EF4-FFF2-40B4-BE49-F238E27FC236}">
                <a16:creationId xmlns:a16="http://schemas.microsoft.com/office/drawing/2014/main" id="{8C362E0B-AEF7-451C-9995-D49FD29D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Configure MySQL">
            <a:extLst xmlns:a="http://schemas.openxmlformats.org/drawingml/2006/main">
              <a:ext uri="{FF2B5EF4-FFF2-40B4-BE49-F238E27FC236}">
                <a16:creationId xmlns:a16="http://schemas.microsoft.com/office/drawing/2014/main" id="{20B611B4-522C-4819-B3D1-AC43ACB6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337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Configure MySQL</a:t>
            </a:r>
          </a:p>
        </p:txBody>
      </p:sp>
      <p:sp>
        <p:nvSpPr>
          <p:cNvPr id="15" name="Use port 4318 in both end">
            <a:extLst xmlns:a="http://schemas.openxmlformats.org/drawingml/2006/main">
              <a:ext uri="{FF2B5EF4-FFF2-40B4-BE49-F238E27FC236}">
                <a16:creationId xmlns:a16="http://schemas.microsoft.com/office/drawing/2014/main" id="{7E4EC8DC-D406-4EEF-8DDC-42229071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33725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Use port 4318 in both endpoint URLs; restart and check SHOW GLOBAL VARIABLES.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A55D7B-18E4-4D34-842B-5AE87974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03">
            <a:extLst xmlns:a="http://schemas.openxmlformats.org/drawingml/2006/main">
              <a:ext uri="{FF2B5EF4-FFF2-40B4-BE49-F238E27FC236}">
                <a16:creationId xmlns:a16="http://schemas.microsoft.com/office/drawing/2014/main" id="{4E5336CA-A87F-4AED-A051-782AC209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Generate activity">
            <a:extLst xmlns:a="http://schemas.openxmlformats.org/drawingml/2006/main">
              <a:ext uri="{FF2B5EF4-FFF2-40B4-BE49-F238E27FC236}">
                <a16:creationId xmlns:a16="http://schemas.microsoft.com/office/drawing/2014/main" id="{A3C0871C-D699-4364-98B3-EB784F7C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862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Generate activity</a:t>
            </a:r>
          </a:p>
        </p:txBody>
      </p:sp>
      <p:sp>
        <p:nvSpPr>
          <p:cNvPr id="19" name="Connect to MySQL and run ">
            <a:extLst xmlns:a="http://schemas.openxmlformats.org/drawingml/2006/main">
              <a:ext uri="{FF2B5EF4-FFF2-40B4-BE49-F238E27FC236}">
                <a16:creationId xmlns:a16="http://schemas.microsoft.com/office/drawing/2014/main" id="{5EFBCF89-A373-4B0C-8F42-6FE0E269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86225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Connect to MySQL and run a short test workload or several SELECT statements.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37311F-E99D-4B8B-A907-A14E36CF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04">
            <a:extLst xmlns:a="http://schemas.openxmlformats.org/drawingml/2006/main">
              <a:ext uri="{FF2B5EF4-FFF2-40B4-BE49-F238E27FC236}">
                <a16:creationId xmlns:a16="http://schemas.microsoft.com/office/drawing/2014/main" id="{DBDC6B9D-86C9-48B7-BEB9-E590188E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Inspect output">
            <a:extLst xmlns:a="http://schemas.openxmlformats.org/drawingml/2006/main">
              <a:ext uri="{FF2B5EF4-FFF2-40B4-BE49-F238E27FC236}">
                <a16:creationId xmlns:a16="http://schemas.microsoft.com/office/drawing/2014/main" id="{0A0D8097-0F87-4D33-A491-F3E25E00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387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Inspect output</a:t>
            </a:r>
          </a:p>
        </p:txBody>
      </p:sp>
      <p:sp>
        <p:nvSpPr>
          <p:cNvPr id="23" name="Wait for the export batch">
            <a:extLst xmlns:a="http://schemas.openxmlformats.org/drawingml/2006/main">
              <a:ext uri="{FF2B5EF4-FFF2-40B4-BE49-F238E27FC236}">
                <a16:creationId xmlns:a16="http://schemas.microsoft.com/office/drawing/2014/main" id="{F8D129CD-D12E-439A-BF36-C20E8464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38725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Wait for the export batch; look for trace and metric records in Collector debug output.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1C0806-C33A-4AF6-A4D9-EB8B1DCD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278626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C63EDA-43CF-42F1-B6FF-6E5F7715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2D159975-EF69-4F54-B29C-DA250E03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DEMO B">
            <a:extLst xmlns:a="http://schemas.openxmlformats.org/drawingml/2006/main">
              <a:ext uri="{FF2B5EF4-FFF2-40B4-BE49-F238E27FC236}">
                <a16:creationId xmlns:a16="http://schemas.microsoft.com/office/drawing/2014/main" id="{7B3D5723-2A62-4125-AA7D-484E059D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DEMO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FFC44-E0CC-462D-86C2-F191B2AC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eb demo walkthrough: see">
            <a:extLst xmlns:a="http://schemas.openxmlformats.org/drawingml/2006/main">
              <a:ext uri="{FF2B5EF4-FFF2-40B4-BE49-F238E27FC236}">
                <a16:creationId xmlns:a16="http://schemas.microsoft.com/office/drawing/2014/main" id="{99926D54-35D4-4FA1-A2F5-4DCEEC91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Web demo walkthrough: see imported OTLP JSON immediately</a:t>
            </a:r>
          </a:p>
        </p:txBody>
      </p:sp>
      <p:sp>
        <p:nvSpPr>
          <p:cNvPr id="6" name="The built-in receiver is ">
            <a:extLst xmlns:a="http://schemas.openxmlformats.org/drawingml/2006/main">
              <a:ext uri="{FF2B5EF4-FFF2-40B4-BE49-F238E27FC236}">
                <a16:creationId xmlns:a16="http://schemas.microsoft.com/office/drawing/2014/main" id="{84F2BDC5-3781-40B4-B234-D6811631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The built-in receiver is a local teaching aid; it is not a production Collector.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D3C0F-9201-4EB6-86EF-DC11CAA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51342F02-4127-46F3-9F6E-722B3DE3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11">
            <a:extLst xmlns:a="http://schemas.openxmlformats.org/drawingml/2006/main">
              <a:ext uri="{FF2B5EF4-FFF2-40B4-BE49-F238E27FC236}">
                <a16:creationId xmlns:a16="http://schemas.microsoft.com/office/drawing/2014/main" id="{8E320E06-64AF-4DCE-80A7-EE58E43A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0" name="01">
            <a:extLst xmlns:a="http://schemas.openxmlformats.org/drawingml/2006/main">
              <a:ext uri="{FF2B5EF4-FFF2-40B4-BE49-F238E27FC236}">
                <a16:creationId xmlns:a16="http://schemas.microsoft.com/office/drawing/2014/main" id="{67A5B535-E827-4F24-B64E-13D22DD0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art web app">
            <a:extLst xmlns:a="http://schemas.openxmlformats.org/drawingml/2006/main">
              <a:ext uri="{FF2B5EF4-FFF2-40B4-BE49-F238E27FC236}">
                <a16:creationId xmlns:a16="http://schemas.microsoft.com/office/drawing/2014/main" id="{AE015F4E-EADD-47E4-A25B-A28B51AA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43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Start web app</a:t>
            </a:r>
          </a:p>
        </p:txBody>
      </p:sp>
      <p:sp>
        <p:nvSpPr>
          <p:cNvPr id="12" name="Run node server.js, then ">
            <a:extLst xmlns:a="http://schemas.openxmlformats.org/drawingml/2006/main">
              <a:ext uri="{FF2B5EF4-FFF2-40B4-BE49-F238E27FC236}">
                <a16:creationId xmlns:a16="http://schemas.microsoft.com/office/drawing/2014/main" id="{0F74ED21-C7AF-4DD6-BA8D-88351920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Run node server.js, then open http://127.0.0.1:4173/#telemetry.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8B1BF6-25AF-41C2-9964-F7EDDD63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02">
            <a:extLst xmlns:a="http://schemas.openxmlformats.org/drawingml/2006/main">
              <a:ext uri="{FF2B5EF4-FFF2-40B4-BE49-F238E27FC236}">
                <a16:creationId xmlns:a16="http://schemas.microsoft.com/office/drawing/2014/main" id="{A19F627D-E53C-4F35-A312-48694D03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Check the receiver">
            <a:extLst xmlns:a="http://schemas.openxmlformats.org/drawingml/2006/main">
              <a:ext uri="{FF2B5EF4-FFF2-40B4-BE49-F238E27FC236}">
                <a16:creationId xmlns:a16="http://schemas.microsoft.com/office/drawing/2014/main" id="{60BB5FCB-2F47-489A-A16C-612E79B7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Check the receiver</a:t>
            </a:r>
          </a:p>
        </p:txBody>
      </p:sp>
      <p:sp>
        <p:nvSpPr>
          <p:cNvPr id="16" name="Click “Import sample OTLP">
            <a:extLst xmlns:a="http://schemas.openxmlformats.org/drawingml/2006/main">
              <a:ext uri="{FF2B5EF4-FFF2-40B4-BE49-F238E27FC236}">
                <a16:creationId xmlns:a16="http://schemas.microsoft.com/office/drawing/2014/main" id="{605E236B-CEF7-4B28-9DEB-4E2FAE82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Click “Import sample OTLP JSON” or upload an OTLP JSON file.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24F9E-EEB6-400B-8D62-A18A921C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03">
            <a:extLst xmlns:a="http://schemas.openxmlformats.org/drawingml/2006/main">
              <a:ext uri="{FF2B5EF4-FFF2-40B4-BE49-F238E27FC236}">
                <a16:creationId xmlns:a16="http://schemas.microsoft.com/office/drawing/2014/main" id="{38E0697F-7F8F-47F9-B106-36C6812F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Point MySQL at :4173">
            <a:extLst xmlns:a="http://schemas.openxmlformats.org/drawingml/2006/main">
              <a:ext uri="{FF2B5EF4-FFF2-40B4-BE49-F238E27FC236}">
                <a16:creationId xmlns:a16="http://schemas.microsoft.com/office/drawing/2014/main" id="{129EE8D9-46DF-4A3C-9A8E-2A81747A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243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Point MySQL at :4173</a:t>
            </a:r>
          </a:p>
        </p:txBody>
      </p:sp>
      <p:sp>
        <p:nvSpPr>
          <p:cNvPr id="20" name="Use the SQL on slides 8–9">
            <a:extLst xmlns:a="http://schemas.openxmlformats.org/drawingml/2006/main">
              <a:ext uri="{FF2B5EF4-FFF2-40B4-BE49-F238E27FC236}">
                <a16:creationId xmlns:a16="http://schemas.microsoft.com/office/drawing/2014/main" id="{984B1B90-D057-4B42-BDB6-1C545987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2435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Use the SQL on slides 8–9 and restart MySQL; run test queries.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393D5B-20BC-415A-86D1-E639BDA5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ows identify sample, fil">
            <a:extLst xmlns:a="http://schemas.openxmlformats.org/drawingml/2006/main">
              <a:ext uri="{FF2B5EF4-FFF2-40B4-BE49-F238E27FC236}">
                <a16:creationId xmlns:a16="http://schemas.microsoft.com/office/drawing/2014/main" id="{BFD4861A-2519-488F-BAB9-B5CA34D2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76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Rows identify sample, file import, or OTLP source. The dashboard does not query MySQL.</a:t>
            </a:r>
          </a:p>
        </p:txBody>
      </p:sp>
    </p:spTree>
    <p:extLst>
      <p:ext uri="{BB962C8B-B14F-4D97-AF65-F5344CB8AC3E}">
        <p14:creationId xmlns:p14="http://schemas.microsoft.com/office/powerpoint/2010/main" val="12868651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27A646-967A-4241-87D5-D7F3B631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4FB733FC-1FFC-4AF5-A374-482605D8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TROUBLESHOOTING">
            <a:extLst xmlns:a="http://schemas.openxmlformats.org/drawingml/2006/main">
              <a:ext uri="{FF2B5EF4-FFF2-40B4-BE49-F238E27FC236}">
                <a16:creationId xmlns:a16="http://schemas.microsoft.com/office/drawing/2014/main" id="{779D0F3B-4AF8-4133-9F73-FD6E06EC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CE084-E7C0-4959-8ACA-E3A2603F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f no data arrives, check">
            <a:extLst xmlns:a="http://schemas.openxmlformats.org/drawingml/2006/main">
              <a:ext uri="{FF2B5EF4-FFF2-40B4-BE49-F238E27FC236}">
                <a16:creationId xmlns:a16="http://schemas.microsoft.com/office/drawing/2014/main" id="{67EF3005-AAFC-465B-A8D7-CBFFBFF8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If no data arrives, check protocol, address, and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4F8DC-D8DD-4A53-AFEB-F3EC4D9C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E47A94BD-F4FF-4FF7-94AC-497BBFCF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8" name="12">
            <a:extLst xmlns:a="http://schemas.openxmlformats.org/drawingml/2006/main">
              <a:ext uri="{FF2B5EF4-FFF2-40B4-BE49-F238E27FC236}">
                <a16:creationId xmlns:a16="http://schemas.microsoft.com/office/drawing/2014/main" id="{1D6EFF6F-0292-49AE-AFB7-CA0E9120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9" name="Transport checks">
            <a:extLst xmlns:a="http://schemas.openxmlformats.org/drawingml/2006/main">
              <a:ext uri="{FF2B5EF4-FFF2-40B4-BE49-F238E27FC236}">
                <a16:creationId xmlns:a16="http://schemas.microsoft.com/office/drawing/2014/main" id="{77331F18-D6AF-4D17-87F3-954D5252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Transport checks</a:t>
            </a:r>
          </a:p>
        </p:txBody>
      </p:sp>
      <p:sp>
        <p:nvSpPr>
          <p:cNvPr id="10" name="The web receiver accepts ">
            <a:extLst xmlns:a="http://schemas.openxmlformats.org/drawingml/2006/main">
              <a:ext uri="{FF2B5EF4-FFF2-40B4-BE49-F238E27FC236}">
                <a16:creationId xmlns:a16="http://schemas.microsoft.com/office/drawing/2014/main" id="{F1A15E9D-AB1E-4709-9B80-587978CE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5029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The web receiver accepts OTLP/HTTP JSON only. Protobuf gets HTTP 415. The standard Collector accepts the configured OTLP/HTTP endpoint.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F5445-5030-4149-BD2C-83A8C6CD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33650"/>
            <a:ext cx="190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opology checks">
            <a:extLst xmlns:a="http://schemas.openxmlformats.org/drawingml/2006/main">
              <a:ext uri="{FF2B5EF4-FFF2-40B4-BE49-F238E27FC236}">
                <a16:creationId xmlns:a16="http://schemas.microsoft.com/office/drawing/2014/main" id="{7BE72427-C294-4F68-95A5-23BC2858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0758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58F"/>
                </a:solidFill>
                <a:latin typeface="Arial"/>
                <a:ea typeface="Arial"/>
                <a:cs typeface="Arial"/>
              </a:rPr>
              <a:t>Topology checks</a:t>
            </a:r>
          </a:p>
        </p:txBody>
      </p:sp>
      <p:sp>
        <p:nvSpPr>
          <p:cNvPr id="13" name="localhost refers to the M">
            <a:extLst xmlns:a="http://schemas.openxmlformats.org/drawingml/2006/main">
              <a:ext uri="{FF2B5EF4-FFF2-40B4-BE49-F238E27FC236}">
                <a16:creationId xmlns:a16="http://schemas.microsoft.com/office/drawing/2014/main" id="{36C00F1D-B323-48D9-83FC-AF32C24C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5029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localhost refers to the MySQL host. The built-in demo receiver rejects remote clients. Verify restart, exporter URLs, and the MySQL error log.</a:t>
            </a:r>
          </a:p>
        </p:txBody>
      </p:sp>
      <p:sp>
        <p:nvSpPr>
          <p:cNvPr id="14" name="Log export is separate: t">
            <a:extLst xmlns:a="http://schemas.openxmlformats.org/drawingml/2006/main">
              <a:ext uri="{FF2B5EF4-FFF2-40B4-BE49-F238E27FC236}">
                <a16:creationId xmlns:a16="http://schemas.microsoft.com/office/drawing/2014/main" id="{CABCB58B-F2F6-43BE-9E10-D4C24864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Log export is separate: the illustrative demo log does not mean Community logging export is enabled.</a:t>
            </a:r>
          </a:p>
        </p:txBody>
      </p:sp>
    </p:spTree>
    <p:extLst>
      <p:ext uri="{BB962C8B-B14F-4D97-AF65-F5344CB8AC3E}">
        <p14:creationId xmlns:p14="http://schemas.microsoft.com/office/powerpoint/2010/main" val="2944993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4972F4-E6BF-4C9D-8090-B0935D83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AA25028D-2D9F-4432-A6EA-0FE96306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04F73C9C-0A78-4E23-93B8-26B30344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TAKEAWAY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D1EFB-C05A-4607-86AC-67448A00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se the right receiver fo">
            <a:extLst xmlns:a="http://schemas.openxmlformats.org/drawingml/2006/main">
              <a:ext uri="{FF2B5EF4-FFF2-40B4-BE49-F238E27FC236}">
                <a16:creationId xmlns:a16="http://schemas.microsoft.com/office/drawing/2014/main" id="{26663108-D398-4F6C-A75A-9C50A68C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Use the right receiver for the job</a:t>
            </a:r>
          </a:p>
        </p:txBody>
      </p:sp>
      <p:sp>
        <p:nvSpPr>
          <p:cNvPr id="6" name="A working demo is complet">
            <a:extLst xmlns:a="http://schemas.openxmlformats.org/drawingml/2006/main">
              <a:ext uri="{FF2B5EF4-FFF2-40B4-BE49-F238E27FC236}">
                <a16:creationId xmlns:a16="http://schemas.microsoft.com/office/drawing/2014/main" id="{003D412A-1259-4942-B51B-0301A319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A working demo is complete when MySQL emits data and the chosen endpoint shows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90080-F691-4E33-AC65-1474B56A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B30ECCF7-A168-449B-A967-CEBDFB7D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13">
            <a:extLst xmlns:a="http://schemas.openxmlformats.org/drawingml/2006/main">
              <a:ext uri="{FF2B5EF4-FFF2-40B4-BE49-F238E27FC236}">
                <a16:creationId xmlns:a16="http://schemas.microsoft.com/office/drawing/2014/main" id="{A3390F2F-95CD-4FCC-AFDC-43521AB8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0" name="Local learning">
            <a:extLst xmlns:a="http://schemas.openxmlformats.org/drawingml/2006/main">
              <a:ext uri="{FF2B5EF4-FFF2-40B4-BE49-F238E27FC236}">
                <a16:creationId xmlns:a16="http://schemas.microsoft.com/office/drawing/2014/main" id="{EE56E52F-1FDE-4985-97B5-9E1B46C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Local learning</a:t>
            </a:r>
          </a:p>
        </p:txBody>
      </p:sp>
      <p:sp>
        <p:nvSpPr>
          <p:cNvPr id="11" name="Use the web receiver to i">
            <a:extLst xmlns:a="http://schemas.openxmlformats.org/drawingml/2006/main">
              <a:ext uri="{FF2B5EF4-FFF2-40B4-BE49-F238E27FC236}">
                <a16:creationId xmlns:a16="http://schemas.microsoft.com/office/drawing/2014/main" id="{28AE9F37-316C-4D59-A21E-A2D2D801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5029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Use the web receiver to inspect a small OTLP/HTTP JSON sample and confirm the trace/metric setup. It is bounded and in-memory.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72078-E62F-4379-BC09-0779BB04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33650"/>
            <a:ext cx="190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perational pipeline">
            <a:extLst xmlns:a="http://schemas.openxmlformats.org/drawingml/2006/main">
              <a:ext uri="{FF2B5EF4-FFF2-40B4-BE49-F238E27FC236}">
                <a16:creationId xmlns:a16="http://schemas.microsoft.com/office/drawing/2014/main" id="{9F94AEA9-DEC9-44C9-983C-D4D4FE57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0758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58F"/>
                </a:solidFill>
                <a:latin typeface="Arial"/>
                <a:ea typeface="Arial"/>
                <a:cs typeface="Arial"/>
              </a:rPr>
              <a:t>Operational pipeline</a:t>
            </a:r>
          </a:p>
        </p:txBody>
      </p:sp>
      <p:sp>
        <p:nvSpPr>
          <p:cNvPr id="14" name="Use the OpenTelemetry Col">
            <a:extLst xmlns:a="http://schemas.openxmlformats.org/drawingml/2006/main">
              <a:ext uri="{FF2B5EF4-FFF2-40B4-BE49-F238E27FC236}">
                <a16:creationId xmlns:a16="http://schemas.microsoft.com/office/drawing/2014/main" id="{0E8FB573-FD54-4E24-884A-18BE2C73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5029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Use the OpenTelemetry Collector with secure transport, routing, retention, and an observability backend. Validate export under a real workload.</a:t>
            </a:r>
          </a:p>
        </p:txBody>
      </p:sp>
      <p:sp>
        <p:nvSpPr>
          <p:cNvPr id="15" name="References">
            <a:extLst xmlns:a="http://schemas.openxmlformats.org/drawingml/2006/main">
              <a:ext uri="{FF2B5EF4-FFF2-40B4-BE49-F238E27FC236}">
                <a16:creationId xmlns:a16="http://schemas.microsoft.com/office/drawing/2014/main" id="{01772D1A-8C38-4317-8061-9060C86E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16" name="dev.mysql.com/doc/refman/">
            <a:extLst xmlns:a="http://schemas.openxmlformats.org/drawingml/2006/main">
              <a:ext uri="{FF2B5EF4-FFF2-40B4-BE49-F238E27FC236}">
                <a16:creationId xmlns:a16="http://schemas.microsoft.com/office/drawing/2014/main" id="{EA79590B-2F0D-479F-8731-B1463CDF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dev.mysql.com/doc/refman/9.7/en/telemetry.html   ·   opentelemetry.io/docs/collector/quick-start/</a:t>
            </a:r>
          </a:p>
        </p:txBody>
      </p:sp>
    </p:spTree>
    <p:extLst>
      <p:ext uri="{BB962C8B-B14F-4D97-AF65-F5344CB8AC3E}">
        <p14:creationId xmlns:p14="http://schemas.microsoft.com/office/powerpoint/2010/main" val="169679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2026-09-27T16:17:12.5600000Z</dcterms:created>
  <dcterms:modified xsi:type="dcterms:W3CDTF">2026-09-27T16:17:12.5600000Z</dcterms:modified>
</coreProperties>
</file>