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a149bce155d41a8" /><Relationship Type="http://schemas.openxmlformats.org/officeDocument/2006/relationships/extended-properties" Target="/docProps/app.xml" Id="R09d52baea2b34b74" /><Relationship Type="http://schemas.openxmlformats.org/officeDocument/2006/relationships/officeDocument" Target="/ppt/presentation.xml" Id="R7b820840cd0f469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d3aa1767a3a49ae"/>
  </p:sldMasterIdLst>
  <p:notesMasterIdLst>
    <p:notesMasterId xmlns:r="http://schemas.openxmlformats.org/officeDocument/2006/relationships" r:id="Ra280c0efd7154f74"/>
  </p:notesMasterIdLst>
  <p:sldIdLst>
    <p:sldId xmlns:r="http://schemas.openxmlformats.org/officeDocument/2006/relationships" id="256" r:id="R1400f2c6be6341c3"/>
    <p:sldId xmlns:r="http://schemas.openxmlformats.org/officeDocument/2006/relationships" id="257" r:id="R8d25ddd43963471b"/>
    <p:sldId xmlns:r="http://schemas.openxmlformats.org/officeDocument/2006/relationships" id="258" r:id="R66b02a27734d4dcc"/>
    <p:sldId xmlns:r="http://schemas.openxmlformats.org/officeDocument/2006/relationships" id="259" r:id="R349f605886514566"/>
    <p:sldId xmlns:r="http://schemas.openxmlformats.org/officeDocument/2006/relationships" id="260" r:id="Rc730ecf6c15b4edc"/>
    <p:sldId xmlns:r="http://schemas.openxmlformats.org/officeDocument/2006/relationships" id="261" r:id="R64bfa86b2661435b"/>
    <p:sldId xmlns:r="http://schemas.openxmlformats.org/officeDocument/2006/relationships" id="262" r:id="R45136be5de4d405d"/>
    <p:sldId xmlns:r="http://schemas.openxmlformats.org/officeDocument/2006/relationships" id="263" r:id="R0c0e6e0e1274462c"/>
    <p:sldId xmlns:r="http://schemas.openxmlformats.org/officeDocument/2006/relationships" id="264" r:id="Rb487c87fd8cf412b"/>
    <p:sldId xmlns:r="http://schemas.openxmlformats.org/officeDocument/2006/relationships" id="265" r:id="Rb499caa633f14283"/>
    <p:sldId xmlns:r="http://schemas.openxmlformats.org/officeDocument/2006/relationships" id="266" r:id="R2c716336b8b348c4"/>
    <p:sldId xmlns:r="http://schemas.openxmlformats.org/officeDocument/2006/relationships" id="267" r:id="R162b135d00a04ce8"/>
    <p:sldId xmlns:r="http://schemas.openxmlformats.org/officeDocument/2006/relationships" id="268" r:id="R4d56f45d07d6485c"/>
    <p:sldId xmlns:r="http://schemas.openxmlformats.org/officeDocument/2006/relationships" id="269" r:id="R1e0c7873fcff4968"/>
    <p:sldId xmlns:r="http://schemas.openxmlformats.org/officeDocument/2006/relationships" id="270" r:id="R55df5486ec044cc3"/>
    <p:sldId xmlns:r="http://schemas.openxmlformats.org/officeDocument/2006/relationships" id="271" r:id="R3e85c7fb75f44d3b"/>
    <p:sldId xmlns:r="http://schemas.openxmlformats.org/officeDocument/2006/relationships" id="272" r:id="Rd1e3a20401284455"/>
    <p:sldId xmlns:r="http://schemas.openxmlformats.org/officeDocument/2006/relationships" id="273" r:id="R565503e0d1a34b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4a49780e624b2a" /><Relationship Type="http://schemas.openxmlformats.org/officeDocument/2006/relationships/slideMaster" Target="/ppt/slideMasters/slideMaster1.xml" Id="R7d3aa1767a3a49ae" /><Relationship Type="http://schemas.openxmlformats.org/officeDocument/2006/relationships/notesMaster" Target="/ppt/notesMasters/notesMaster1.xml" Id="Ra280c0efd7154f74" /><Relationship Type="http://schemas.openxmlformats.org/officeDocument/2006/relationships/presProps" Target="/ppt/presProps.xml" Id="R725c096e2d234ebd" /><Relationship Type="http://schemas.openxmlformats.org/officeDocument/2006/relationships/tableStyles" Target="/ppt/tableStyles.xml" Id="R038748f39d424479" /><Relationship Type="http://schemas.openxmlformats.org/officeDocument/2006/relationships/slide" Target="/ppt/slides/slide1.xml" Id="R1400f2c6be6341c3" /><Relationship Type="http://schemas.openxmlformats.org/officeDocument/2006/relationships/slide" Target="/ppt/slides/slide2.xml" Id="R8d25ddd43963471b" /><Relationship Type="http://schemas.openxmlformats.org/officeDocument/2006/relationships/slide" Target="/ppt/slides/slide3.xml" Id="R66b02a27734d4dcc" /><Relationship Type="http://schemas.openxmlformats.org/officeDocument/2006/relationships/slide" Target="/ppt/slides/slide4.xml" Id="R349f605886514566" /><Relationship Type="http://schemas.openxmlformats.org/officeDocument/2006/relationships/slide" Target="/ppt/slides/slide5.xml" Id="Rc730ecf6c15b4edc" /><Relationship Type="http://schemas.openxmlformats.org/officeDocument/2006/relationships/slide" Target="/ppt/slides/slide6.xml" Id="R64bfa86b2661435b" /><Relationship Type="http://schemas.openxmlformats.org/officeDocument/2006/relationships/slide" Target="/ppt/slides/slide7.xml" Id="R45136be5de4d405d" /><Relationship Type="http://schemas.openxmlformats.org/officeDocument/2006/relationships/slide" Target="/ppt/slides/slide8.xml" Id="R0c0e6e0e1274462c" /><Relationship Type="http://schemas.openxmlformats.org/officeDocument/2006/relationships/slide" Target="/ppt/slides/slide9.xml" Id="Rb487c87fd8cf412b" /><Relationship Type="http://schemas.openxmlformats.org/officeDocument/2006/relationships/slide" Target="/ppt/slides/slide10.xml" Id="Rb499caa633f14283" /><Relationship Type="http://schemas.openxmlformats.org/officeDocument/2006/relationships/slide" Target="/ppt/slides/slide11.xml" Id="R2c716336b8b348c4" /><Relationship Type="http://schemas.openxmlformats.org/officeDocument/2006/relationships/slide" Target="/ppt/slides/slide12.xml" Id="R162b135d00a04ce8" /><Relationship Type="http://schemas.openxmlformats.org/officeDocument/2006/relationships/slide" Target="/ppt/slides/slide13.xml" Id="R4d56f45d07d6485c" /><Relationship Type="http://schemas.openxmlformats.org/officeDocument/2006/relationships/slide" Target="/ppt/slides/slide14.xml" Id="R1e0c7873fcff4968" /><Relationship Type="http://schemas.openxmlformats.org/officeDocument/2006/relationships/slide" Target="/ppt/slides/slide15.xml" Id="R55df5486ec044cc3" /><Relationship Type="http://schemas.openxmlformats.org/officeDocument/2006/relationships/slide" Target="/ppt/slides/slide16.xml" Id="R3e85c7fb75f44d3b" /><Relationship Type="http://schemas.openxmlformats.org/officeDocument/2006/relationships/slide" Target="/ppt/slides/slide17.xml" Id="Rd1e3a20401284455" /><Relationship Type="http://schemas.openxmlformats.org/officeDocument/2006/relationships/slide" Target="/ppt/slides/slide18.xml" Id="R565503e0d1a34b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8e4c4e214f34b9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2cbb7665fe645fe" /><Relationship Type="http://schemas.openxmlformats.org/officeDocument/2006/relationships/notesMaster" Target="/ppt/notesMasters/notesMaster1.xml" Id="Rd2a9268538ff43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aa7e22df97b46f5" /><Relationship Type="http://schemas.openxmlformats.org/officeDocument/2006/relationships/notesMaster" Target="/ppt/notesMasters/notesMaster1.xml" Id="R95f3c6bd84ed416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4362b31eb74bde" /><Relationship Type="http://schemas.openxmlformats.org/officeDocument/2006/relationships/notesMaster" Target="/ppt/notesMasters/notesMaster1.xml" Id="Ra84b53b3e71848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52185c5972548df" /><Relationship Type="http://schemas.openxmlformats.org/officeDocument/2006/relationships/notesMaster" Target="/ppt/notesMasters/notesMaster1.xml" Id="R014372993cae4d4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72e63902f244a0d" /><Relationship Type="http://schemas.openxmlformats.org/officeDocument/2006/relationships/notesMaster" Target="/ppt/notesMasters/notesMaster1.xml" Id="R2482a95ea572425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aa003116f943a1" /><Relationship Type="http://schemas.openxmlformats.org/officeDocument/2006/relationships/notesMaster" Target="/ppt/notesMasters/notesMaster1.xml" Id="R5099ff9ba2684ad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d7ff3d35e0d4d32" /><Relationship Type="http://schemas.openxmlformats.org/officeDocument/2006/relationships/notesMaster" Target="/ppt/notesMasters/notesMaster1.xml" Id="R141f7e1c30d9458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4700b24843f4e8f" /><Relationship Type="http://schemas.openxmlformats.org/officeDocument/2006/relationships/notesMaster" Target="/ppt/notesMasters/notesMaster1.xml" Id="Rec7e93ffbd6d46c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88ed0ca894d4b8a" /><Relationship Type="http://schemas.openxmlformats.org/officeDocument/2006/relationships/notesMaster" Target="/ppt/notesMasters/notesMaster1.xml" Id="R7e62ef1b80ff404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6d918ae69474848" /><Relationship Type="http://schemas.openxmlformats.org/officeDocument/2006/relationships/notesMaster" Target="/ppt/notesMasters/notesMaster1.xml" Id="R8b9d4e65159d4ca5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ed6a1a4ae5746b5" /><Relationship Type="http://schemas.openxmlformats.org/officeDocument/2006/relationships/notesMaster" Target="/ppt/notesMasters/notesMaster1.xml" Id="R00417c4bb30f426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f589ff58194003" /><Relationship Type="http://schemas.openxmlformats.org/officeDocument/2006/relationships/notesMaster" Target="/ppt/notesMasters/notesMaster1.xml" Id="Rdd5d809cbd594f7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a2b105bf2664751" /><Relationship Type="http://schemas.openxmlformats.org/officeDocument/2006/relationships/notesMaster" Target="/ppt/notesMasters/notesMaster1.xml" Id="R73578528c2d044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8bbf1de51a54669" /><Relationship Type="http://schemas.openxmlformats.org/officeDocument/2006/relationships/notesMaster" Target="/ppt/notesMasters/notesMaster1.xml" Id="Rf3cadbec80f345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170adea2f924a57" /><Relationship Type="http://schemas.openxmlformats.org/officeDocument/2006/relationships/notesMaster" Target="/ppt/notesMasters/notesMaster1.xml" Id="Ra482d43d93d541f5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2cb3653d39a4474" /><Relationship Type="http://schemas.openxmlformats.org/officeDocument/2006/relationships/notesMaster" Target="/ppt/notesMasters/notesMaster1.xml" Id="R6dd764333f13414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e5ce947f0f34154" /><Relationship Type="http://schemas.openxmlformats.org/officeDocument/2006/relationships/notesMaster" Target="/ppt/notesMasters/notesMaster1.xml" Id="Rc63c3ef2b8a2465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bf42a316e464c48" /><Relationship Type="http://schemas.openxmlformats.org/officeDocument/2006/relationships/notesMaster" Target="/ppt/notesMasters/notesMaster1.xml" Id="R751294b944e04c7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19e66a8ac040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a9ea5c2abda4c68" /><Relationship Type="http://schemas.openxmlformats.org/officeDocument/2006/relationships/slideLayout" Target="/ppt/slideLayouts/slideLayout1.xml" Id="R5b470b44fc674b3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b470b44fc674b3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dd0cf502574fb7" /><Relationship Type="http://schemas.openxmlformats.org/officeDocument/2006/relationships/image" Target="/ppt/media/image.png" Id="R41d5c7f772b84d2b" /><Relationship Type="http://schemas.openxmlformats.org/officeDocument/2006/relationships/notesSlide" Target="/ppt/notesSlides/notesSlide1.xml" Id="Rd2be48d7cb954f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4595f688e4e7b" /><Relationship Type="http://schemas.openxmlformats.org/officeDocument/2006/relationships/notesSlide" Target="/ppt/notesSlides/notesSlide2.xml" Id="Re03a107ec8ea4e5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d3207481bb4c5c" /><Relationship Type="http://schemas.openxmlformats.org/officeDocument/2006/relationships/notesSlide" Target="/ppt/notesSlides/notesSlide3.xml" Id="Rfb6af940eae7444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09642fb692403a" /><Relationship Type="http://schemas.openxmlformats.org/officeDocument/2006/relationships/notesSlide" Target="/ppt/notesSlides/notesSlide4.xml" Id="Rebba46d9fc6b4d4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148ea9e39b4914" /><Relationship Type="http://schemas.openxmlformats.org/officeDocument/2006/relationships/notesSlide" Target="/ppt/notesSlides/notesSlide5.xml" Id="R2cc056d561c54b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edd801a4704e4a" /><Relationship Type="http://schemas.openxmlformats.org/officeDocument/2006/relationships/notesSlide" Target="/ppt/notesSlides/notesSlide6.xml" Id="Re4e3a186eda24b1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db39853ff64ded" /><Relationship Type="http://schemas.openxmlformats.org/officeDocument/2006/relationships/notesSlide" Target="/ppt/notesSlides/notesSlide7.xml" Id="Rb5ecb479345a42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982d1b390742e7" /><Relationship Type="http://schemas.openxmlformats.org/officeDocument/2006/relationships/notesSlide" Target="/ppt/notesSlides/notesSlide8.xml" Id="Rcee45411ebbc4eb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ca3a432bb04374" /><Relationship Type="http://schemas.openxmlformats.org/officeDocument/2006/relationships/notesSlide" Target="/ppt/notesSlides/notesSlide9.xml" Id="R9d5eb65315d5470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830cfaa113435b" /><Relationship Type="http://schemas.openxmlformats.org/officeDocument/2006/relationships/notesSlide" Target="/ppt/notesSlides/notesSlide10.xml" Id="Ra68a98ca3a614a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b694c1a5934713" /><Relationship Type="http://schemas.openxmlformats.org/officeDocument/2006/relationships/notesSlide" Target="/ppt/notesSlides/notesSlide11.xml" Id="R15afb5d508c54be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c581fa42ff45aa" /><Relationship Type="http://schemas.openxmlformats.org/officeDocument/2006/relationships/notesSlide" Target="/ppt/notesSlides/notesSlide12.xml" Id="R60cfb72f67da4208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7f881a6a4e40cd" /><Relationship Type="http://schemas.openxmlformats.org/officeDocument/2006/relationships/notesSlide" Target="/ppt/notesSlides/notesSlide13.xml" Id="R10268b4b07fd4f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9a7a498d204d7e" /><Relationship Type="http://schemas.openxmlformats.org/officeDocument/2006/relationships/notesSlide" Target="/ppt/notesSlides/notesSlide14.xml" Id="Rda308000078c4a6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3b3391c8747b9" /><Relationship Type="http://schemas.openxmlformats.org/officeDocument/2006/relationships/notesSlide" Target="/ppt/notesSlides/notesSlide15.xml" Id="R5a5e63166f4543ee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6e5577adcd406a" /><Relationship Type="http://schemas.openxmlformats.org/officeDocument/2006/relationships/notesSlide" Target="/ppt/notesSlides/notesSlide16.xml" Id="R02a2af57eb354c08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a52be8d824423" /><Relationship Type="http://schemas.openxmlformats.org/officeDocument/2006/relationships/notesSlide" Target="/ppt/notesSlides/notesSlide17.xml" Id="R16f3b490ab42485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ce7084104477f" /><Relationship Type="http://schemas.openxmlformats.org/officeDocument/2006/relationships/notesSlide" Target="/ppt/notesSlides/notesSlide18.xml" Id="R41c6911aadb9479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D91364-650E-4F8D-BD22-9C62973EF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04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INNOVATI">
            <a:extLst xmlns:a="http://schemas.openxmlformats.org/drawingml/2006/main">
              <a:ext uri="{FF2B5EF4-FFF2-40B4-BE49-F238E27FC236}">
                <a16:creationId xmlns:a16="http://schemas.microsoft.com/office/drawing/2014/main" id="{5A541360-31E6-43B0-A652-99C1FB443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52450"/>
            <a:ext cx="571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INNOVATION LAB</a:t>
            </a:r>
          </a:p>
        </p:txBody>
      </p:sp>
      <p:sp>
        <p:nvSpPr>
          <p:cNvPr id="3" name="MySQL 9.7 telemetry">
            <a:extLst xmlns:a="http://schemas.openxmlformats.org/drawingml/2006/main">
              <a:ext uri="{FF2B5EF4-FFF2-40B4-BE49-F238E27FC236}">
                <a16:creationId xmlns:a16="http://schemas.microsoft.com/office/drawing/2014/main" id="{E8D9DD11-AD4E-4FF8-B8D3-7603E6883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71650"/>
            <a:ext cx="10048875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42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9.7 telemetry</a:t>
            </a:r>
          </a:p>
        </p:txBody>
      </p:sp>
      <p:sp>
        <p:nvSpPr>
          <p:cNvPr id="4" name="Collector polling versus ">
            <a:extLst xmlns:a="http://schemas.openxmlformats.org/drawingml/2006/main">
              <a:ext uri="{FF2B5EF4-FFF2-40B4-BE49-F238E27FC236}">
                <a16:creationId xmlns:a16="http://schemas.microsoft.com/office/drawing/2014/main" id="{84B21299-2953-41FF-BB23-324BE5ABC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619375"/>
            <a:ext cx="10191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polling versus component push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B25758-1B42-4D29-A6F4-DCD1781D7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686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A practical deep dive wit">
            <a:extLst xmlns:a="http://schemas.openxmlformats.org/drawingml/2006/main">
              <a:ext uri="{FF2B5EF4-FFF2-40B4-BE49-F238E27FC236}">
                <a16:creationId xmlns:a16="http://schemas.microsoft.com/office/drawing/2014/main" id="{F1F915CC-6059-4099-AE39-5CBB1CB06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86225"/>
            <a:ext cx="78581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A practical deep dive with an architecture comparison, setup SQL, and a live import demo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1d5c7f772b84d2b"/>
          <a:stretch xmlns:a="http://schemas.openxmlformats.org/drawingml/2006/main"/>
        </p:blipFill>
        <p:spPr>
          <a:xfrm xmlns:a="http://schemas.openxmlformats.org/drawingml/2006/main">
            <a:off x="9886950" y="5098635"/>
            <a:ext cx="1428750" cy="966030"/>
          </a:xfrm>
          <a:prstGeom xmlns:a="http://schemas.openxmlformats.org/drawingml/2006/main" prst="rect">
            <a:avLst/>
          </a:prstGeom>
        </p:spPr>
      </p:pic>
      <p:sp>
        <p:nvSpPr>
          <p:cNvPr id="8" name="COMMUNITY EDITION  ·  TRA">
            <a:extLst xmlns:a="http://schemas.openxmlformats.org/drawingml/2006/main">
              <a:ext uri="{FF2B5EF4-FFF2-40B4-BE49-F238E27FC236}">
                <a16:creationId xmlns:a16="http://schemas.microsoft.com/office/drawing/2014/main" id="{AAA7B79A-CEA6-4760-BC5F-51DDCE57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915025"/>
            <a:ext cx="6572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COMMUNITY EDITION  ·  TRACES + METRICS</a:t>
            </a:r>
          </a:p>
        </p:txBody>
      </p:sp>
    </p:spTree>
    <p:extLst>
      <p:ext uri="{BB962C8B-B14F-4D97-AF65-F5344CB8AC3E}">
        <p14:creationId xmlns:p14="http://schemas.microsoft.com/office/powerpoint/2010/main" val="128761506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6A456C3-1F9B-4202-BB2B-2F6F8F2AC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24CB9BBD-E1C1-4E21-9B5F-13BD94A2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BACKGROUND">
            <a:extLst xmlns:a="http://schemas.openxmlformats.org/drawingml/2006/main">
              <a:ext uri="{FF2B5EF4-FFF2-40B4-BE49-F238E27FC236}">
                <a16:creationId xmlns:a16="http://schemas.microsoft.com/office/drawing/2014/main" id="{9016326F-45AE-4CA0-ACBB-58289E0F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50C6C6-09B0-441C-B792-74A1E97FE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elemetry links SQL activ">
            <a:extLst xmlns:a="http://schemas.openxmlformats.org/drawingml/2006/main">
              <a:ext uri="{FF2B5EF4-FFF2-40B4-BE49-F238E27FC236}">
                <a16:creationId xmlns:a16="http://schemas.microsoft.com/office/drawing/2014/main" id="{961186CE-BC80-49F8-A773-3C045DF9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Telemetry links SQL activity to server behavior</a:t>
            </a:r>
          </a:p>
        </p:txBody>
      </p:sp>
      <p:sp>
        <p:nvSpPr>
          <p:cNvPr id="6" name="OpenTelemetry supports bo">
            <a:extLst xmlns:a="http://schemas.openxmlformats.org/drawingml/2006/main">
              <a:ext uri="{FF2B5EF4-FFF2-40B4-BE49-F238E27FC236}">
                <a16:creationId xmlns:a16="http://schemas.microsoft.com/office/drawing/2014/main" id="{E30993FF-7686-44BE-9A64-907D9639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OpenTelemetry supports both external polling and MySQL-originated export.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BD281C-46BB-4B72-983D-977C7CAD3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A8131B93-08EF-4651-ADA6-6C35C799A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2">
            <a:extLst xmlns:a="http://schemas.openxmlformats.org/drawingml/2006/main">
              <a:ext uri="{FF2B5EF4-FFF2-40B4-BE49-F238E27FC236}">
                <a16:creationId xmlns:a16="http://schemas.microsoft.com/office/drawing/2014/main" id="{58709E92-EB75-4DE6-B99F-A8A5C9D2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Without a pipeline">
            <a:extLst xmlns:a="http://schemas.openxmlformats.org/drawingml/2006/main">
              <a:ext uri="{FF2B5EF4-FFF2-40B4-BE49-F238E27FC236}">
                <a16:creationId xmlns:a16="http://schemas.microsoft.com/office/drawing/2014/main" id="{FD09117D-28B8-4A06-9B04-5A36BECA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Without a pipeline</a:t>
            </a:r>
          </a:p>
        </p:txBody>
      </p:sp>
      <p:sp>
        <p:nvSpPr>
          <p:cNvPr id="11" name="Slow queries and connecti">
            <a:extLst xmlns:a="http://schemas.openxmlformats.org/drawingml/2006/main">
              <a:ext uri="{FF2B5EF4-FFF2-40B4-BE49-F238E27FC236}">
                <a16:creationId xmlns:a16="http://schemas.microsoft.com/office/drawing/2014/main" id="{31B08671-4F2C-4794-A52C-E3136B7D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Slow queries and connection spikes are observed in separate tools. Teams lose the timeline that connects a client action to database activity.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313C86-73A5-4A3E-B3AF-A5ACF612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With a Collector">
            <a:extLst xmlns:a="http://schemas.openxmlformats.org/drawingml/2006/main">
              <a:ext uri="{FF2B5EF4-FFF2-40B4-BE49-F238E27FC236}">
                <a16:creationId xmlns:a16="http://schemas.microsoft.com/office/drawing/2014/main" id="{64349A0E-CE8A-46CB-8437-A33086D7A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With a Collector</a:t>
            </a:r>
          </a:p>
        </p:txBody>
      </p:sp>
      <p:sp>
        <p:nvSpPr>
          <p:cNvPr id="14" name="Its MySQL receiver can po">
            <a:extLst xmlns:a="http://schemas.openxmlformats.org/drawingml/2006/main">
              <a:ext uri="{FF2B5EF4-FFF2-40B4-BE49-F238E27FC236}">
                <a16:creationId xmlns:a16="http://schemas.microsoft.com/office/drawing/2014/main" id="{C69F85FD-83E0-45D3-B75B-C8B6AA3B7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Its MySQL receiver can poll server state, or an OTLP receiver can accept signals pushed by the MySQL telemetry component.</a:t>
            </a:r>
          </a:p>
        </p:txBody>
      </p:sp>
      <p:sp>
        <p:nvSpPr>
          <p:cNvPr id="15" name="Key distinction: polling ">
            <a:extLst xmlns:a="http://schemas.openxmlformats.org/drawingml/2006/main">
              <a:ext uri="{FF2B5EF4-FFF2-40B4-BE49-F238E27FC236}">
                <a16:creationId xmlns:a16="http://schemas.microsoft.com/office/drawing/2014/main" id="{2F7B99D1-7820-4C9D-B1BB-8D22B3261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Key distinction: polling queries state; push exports instrumented events.</a:t>
            </a:r>
          </a:p>
        </p:txBody>
      </p:sp>
    </p:spTree>
    <p:extLst>
      <p:ext uri="{BB962C8B-B14F-4D97-AF65-F5344CB8AC3E}">
        <p14:creationId xmlns:p14="http://schemas.microsoft.com/office/powerpoint/2010/main" val="3969323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A96624-5373-4BFE-B16B-C399F9DD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A7DD6966-1BE2-4038-9996-8A473FD6F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ARCHITECTURE">
            <a:extLst xmlns:a="http://schemas.openxmlformats.org/drawingml/2006/main">
              <a:ext uri="{FF2B5EF4-FFF2-40B4-BE49-F238E27FC236}">
                <a16:creationId xmlns:a16="http://schemas.microsoft.com/office/drawing/2014/main" id="{86D73F05-6BDC-472E-9F0D-02651A38D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ARCHITECTURE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0CB48-8FD7-412C-BE5B-DCE045B6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olling and push start on">
            <a:extLst xmlns:a="http://schemas.openxmlformats.org/drawingml/2006/main">
              <a:ext uri="{FF2B5EF4-FFF2-40B4-BE49-F238E27FC236}">
                <a16:creationId xmlns:a16="http://schemas.microsoft.com/office/drawing/2014/main" id="{4D2642C8-3FB1-4EAB-BA98-93DE99302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Polling and push start on opposite sides</a:t>
            </a:r>
          </a:p>
        </p:txBody>
      </p:sp>
      <p:sp>
        <p:nvSpPr>
          <p:cNvPr id="6" name="Both reach a Collector pi">
            <a:extLst xmlns:a="http://schemas.openxmlformats.org/drawingml/2006/main">
              <a:ext uri="{FF2B5EF4-FFF2-40B4-BE49-F238E27FC236}">
                <a16:creationId xmlns:a16="http://schemas.microsoft.com/office/drawing/2014/main" id="{3A09C563-9B3C-4D1A-809B-44362E415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Both reach a Collector pipeline, but they collect different evidence.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537C8-8320-4141-AC1E-BFC912132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09EA7948-FE95-487C-8EF6-5F698644F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3">
            <a:extLst xmlns:a="http://schemas.openxmlformats.org/drawingml/2006/main">
              <a:ext uri="{FF2B5EF4-FFF2-40B4-BE49-F238E27FC236}">
                <a16:creationId xmlns:a16="http://schemas.microsoft.com/office/drawing/2014/main" id="{7AB77F5F-CF36-427C-803F-EA79CFC8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0A09FF-950C-41A7-B559-9D1C617C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7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75455D-9250-46B4-9F77-A3DE9BBCC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109728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6B68012-2A86-4B96-B693-315BD5361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238500"/>
            <a:ext cx="4943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D41452-E614-45E5-9535-C68FB696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029200"/>
            <a:ext cx="494347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⇄">
            <a:extLst xmlns:a="http://schemas.openxmlformats.org/drawingml/2006/main">
              <a:ext uri="{FF2B5EF4-FFF2-40B4-BE49-F238E27FC236}">
                <a16:creationId xmlns:a16="http://schemas.microsoft.com/office/drawing/2014/main" id="{66AC8A8B-D537-4084-A9B0-A3CCD6FA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5950" y="2962275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60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⇄</a:t>
            </a:r>
          </a:p>
        </p:txBody>
      </p:sp>
      <p:sp>
        <p:nvSpPr>
          <p:cNvPr id="15" name="→">
            <a:extLst xmlns:a="http://schemas.openxmlformats.org/drawingml/2006/main">
              <a:ext uri="{FF2B5EF4-FFF2-40B4-BE49-F238E27FC236}">
                <a16:creationId xmlns:a16="http://schemas.microsoft.com/office/drawing/2014/main" id="{A5DBE955-027B-4229-B088-4A838191D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33925"/>
            <a:ext cx="71437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7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37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702ED9F-8480-432C-884E-CD036C32C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2533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C17C88-0118-4F34-8936-0DA351684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28003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3BBDB7-7374-46C7-9F02-A760035A1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43425"/>
            <a:ext cx="25336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34A3562-2F0C-4575-A121-39A50FF87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543425"/>
            <a:ext cx="280035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0" name="POLL">
            <a:extLst xmlns:a="http://schemas.openxmlformats.org/drawingml/2006/main">
              <a:ext uri="{FF2B5EF4-FFF2-40B4-BE49-F238E27FC236}">
                <a16:creationId xmlns:a16="http://schemas.microsoft.com/office/drawing/2014/main" id="{2E0FF408-EC81-45F6-B121-4EB79B9EE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52700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POLL</a:t>
            </a:r>
          </a:p>
        </p:txBody>
      </p:sp>
      <p:sp>
        <p:nvSpPr>
          <p:cNvPr id="21" name="MySQL server">
            <a:extLst xmlns:a="http://schemas.openxmlformats.org/drawingml/2006/main">
              <a:ext uri="{FF2B5EF4-FFF2-40B4-BE49-F238E27FC236}">
                <a16:creationId xmlns:a16="http://schemas.microsoft.com/office/drawing/2014/main" id="{0F193C78-DA49-4902-A849-24BE318B3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718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server</a:t>
            </a:r>
          </a:p>
        </p:txBody>
      </p:sp>
      <p:sp>
        <p:nvSpPr>
          <p:cNvPr id="22" name="status + InnoDB tables">
            <a:extLst xmlns:a="http://schemas.openxmlformats.org/drawingml/2006/main">
              <a:ext uri="{FF2B5EF4-FFF2-40B4-BE49-F238E27FC236}">
                <a16:creationId xmlns:a16="http://schemas.microsoft.com/office/drawing/2014/main" id="{84971F9B-4FCD-4896-8C5C-A9139C7E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371850"/>
            <a:ext cx="22383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status + InnoDB tables</a:t>
            </a:r>
          </a:p>
        </p:txBody>
      </p:sp>
      <p:sp>
        <p:nvSpPr>
          <p:cNvPr id="23" name="MySQL receiver">
            <a:extLst xmlns:a="http://schemas.openxmlformats.org/drawingml/2006/main">
              <a:ext uri="{FF2B5EF4-FFF2-40B4-BE49-F238E27FC236}">
                <a16:creationId xmlns:a16="http://schemas.microsoft.com/office/drawing/2014/main" id="{051AC3E4-D63B-40EF-8C42-3929A254D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29432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receiver</a:t>
            </a:r>
          </a:p>
        </p:txBody>
      </p:sp>
      <p:sp>
        <p:nvSpPr>
          <p:cNvPr id="24" name="Collector initiates SQL">
            <a:extLst xmlns:a="http://schemas.openxmlformats.org/drawingml/2006/main">
              <a:ext uri="{FF2B5EF4-FFF2-40B4-BE49-F238E27FC236}">
                <a16:creationId xmlns:a16="http://schemas.microsoft.com/office/drawing/2014/main" id="{4628FA11-D513-47A0-B00B-EAB28C04E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362325"/>
            <a:ext cx="242887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initiates SQL</a:t>
            </a:r>
          </a:p>
        </p:txBody>
      </p:sp>
      <p:sp>
        <p:nvSpPr>
          <p:cNvPr id="25" name="MySQL protocol · TCP 3306">
            <a:extLst xmlns:a="http://schemas.openxmlformats.org/drawingml/2006/main">
              <a:ext uri="{FF2B5EF4-FFF2-40B4-BE49-F238E27FC236}">
                <a16:creationId xmlns:a16="http://schemas.microsoft.com/office/drawing/2014/main" id="{972926D0-A1F0-48FE-A86A-E29D645D2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60997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MySQL protocol · TCP 3306</a:t>
            </a:r>
          </a:p>
        </p:txBody>
      </p:sp>
      <p:sp>
        <p:nvSpPr>
          <p:cNvPr id="26" name="PUSH">
            <a:extLst xmlns:a="http://schemas.openxmlformats.org/drawingml/2006/main">
              <a:ext uri="{FF2B5EF4-FFF2-40B4-BE49-F238E27FC236}">
                <a16:creationId xmlns:a16="http://schemas.microsoft.com/office/drawing/2014/main" id="{9A964E2A-F94B-45E6-8CC1-85940737B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2476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PUSH</a:t>
            </a:r>
          </a:p>
        </p:txBody>
      </p:sp>
      <p:sp>
        <p:nvSpPr>
          <p:cNvPr id="27" name="MySQL component">
            <a:extLst xmlns:a="http://schemas.openxmlformats.org/drawingml/2006/main">
              <a:ext uri="{FF2B5EF4-FFF2-40B4-BE49-F238E27FC236}">
                <a16:creationId xmlns:a16="http://schemas.microsoft.com/office/drawing/2014/main" id="{B9A67AA5-5BC8-4801-911F-1846829E2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74345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component</a:t>
            </a:r>
          </a:p>
        </p:txBody>
      </p:sp>
      <p:sp>
        <p:nvSpPr>
          <p:cNvPr id="28" name="instrumented signals">
            <a:extLst xmlns:a="http://schemas.openxmlformats.org/drawingml/2006/main">
              <a:ext uri="{FF2B5EF4-FFF2-40B4-BE49-F238E27FC236}">
                <a16:creationId xmlns:a16="http://schemas.microsoft.com/office/drawing/2014/main" id="{FBC1F230-4246-4493-9C12-54C91330C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143500"/>
            <a:ext cx="223837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instrumented signals</a:t>
            </a:r>
          </a:p>
        </p:txBody>
      </p:sp>
      <p:sp>
        <p:nvSpPr>
          <p:cNvPr id="29" name="OTLP receiver">
            <a:extLst xmlns:a="http://schemas.openxmlformats.org/drawingml/2006/main">
              <a:ext uri="{FF2B5EF4-FFF2-40B4-BE49-F238E27FC236}">
                <a16:creationId xmlns:a16="http://schemas.microsoft.com/office/drawing/2014/main" id="{56EF6EFB-C468-4D04-A952-C69A3E8D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33925"/>
            <a:ext cx="2428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OTLP receiver</a:t>
            </a:r>
          </a:p>
        </p:txBody>
      </p:sp>
      <p:sp>
        <p:nvSpPr>
          <p:cNvPr id="30" name="Collector accepts export">
            <a:extLst xmlns:a="http://schemas.openxmlformats.org/drawingml/2006/main">
              <a:ext uri="{FF2B5EF4-FFF2-40B4-BE49-F238E27FC236}">
                <a16:creationId xmlns:a16="http://schemas.microsoft.com/office/drawing/2014/main" id="{69589C81-D06C-4D5F-99B3-05681C8F6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153025"/>
            <a:ext cx="242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Collector accepts export</a:t>
            </a:r>
          </a:p>
        </p:txBody>
      </p:sp>
      <p:sp>
        <p:nvSpPr>
          <p:cNvPr id="31" name="OTLP/HTTP · port 4318">
            <a:extLst xmlns:a="http://schemas.openxmlformats.org/drawingml/2006/main">
              <a:ext uri="{FF2B5EF4-FFF2-40B4-BE49-F238E27FC236}">
                <a16:creationId xmlns:a16="http://schemas.microsoft.com/office/drawing/2014/main" id="{134AC3BC-CC6D-45AF-A2B4-59CFE0492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5400675"/>
            <a:ext cx="453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OTLP/HTTP · port 4318</a:t>
            </a:r>
          </a:p>
        </p:txBody>
      </p:sp>
    </p:spTree>
    <p:extLst>
      <p:ext uri="{BB962C8B-B14F-4D97-AF65-F5344CB8AC3E}">
        <p14:creationId xmlns:p14="http://schemas.microsoft.com/office/powerpoint/2010/main" val="190066683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BEF4EF-0FA6-439C-8A8D-77061F06D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20A4116B-EEE3-47CC-B7FD-624CF724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COMPARISON">
            <a:extLst xmlns:a="http://schemas.openxmlformats.org/drawingml/2006/main">
              <a:ext uri="{FF2B5EF4-FFF2-40B4-BE49-F238E27FC236}">
                <a16:creationId xmlns:a16="http://schemas.microsoft.com/office/drawing/2014/main" id="{424A57F4-79BC-4EB1-A26C-B4136D3C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501C62-47E8-4E26-87C2-598415C83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two paths answer diff">
            <a:extLst xmlns:a="http://schemas.openxmlformats.org/drawingml/2006/main">
              <a:ext uri="{FF2B5EF4-FFF2-40B4-BE49-F238E27FC236}">
                <a16:creationId xmlns:a16="http://schemas.microsoft.com/office/drawing/2014/main" id="{95782D45-743F-424E-B0E5-1A272DFE2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two paths answer different questions</a:t>
            </a:r>
          </a:p>
        </p:txBody>
      </p:sp>
      <p:sp>
        <p:nvSpPr>
          <p:cNvPr id="6" name="Choose polling for regula">
            <a:extLst xmlns:a="http://schemas.openxmlformats.org/drawingml/2006/main">
              <a:ext uri="{FF2B5EF4-FFF2-40B4-BE49-F238E27FC236}">
                <a16:creationId xmlns:a16="http://schemas.microsoft.com/office/drawing/2014/main" id="{9A932D17-0E4F-43B5-BE7D-21553D1B7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Choose polling for regular server-state measurements; push for instrumented spans and metrics.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527317-1985-4C1F-A3F7-E555B1DD1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0253A124-8B88-434B-84F5-1614AA880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4">
            <a:extLst xmlns:a="http://schemas.openxmlformats.org/drawingml/2006/main">
              <a:ext uri="{FF2B5EF4-FFF2-40B4-BE49-F238E27FC236}">
                <a16:creationId xmlns:a16="http://schemas.microsoft.com/office/drawing/2014/main" id="{6E0BF8D3-2B1D-4B03-9DD4-F05CD5520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176100-8BFF-46DC-856B-895A8C86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IMENSION">
            <a:extLst xmlns:a="http://schemas.openxmlformats.org/drawingml/2006/main">
              <a:ext uri="{FF2B5EF4-FFF2-40B4-BE49-F238E27FC236}">
                <a16:creationId xmlns:a16="http://schemas.microsoft.com/office/drawing/2014/main" id="{A3F9A798-539D-4CD6-A1E6-469652A8F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05100"/>
            <a:ext cx="1981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DIMENSION</a:t>
            </a:r>
          </a:p>
        </p:txBody>
      </p:sp>
      <p:sp>
        <p:nvSpPr>
          <p:cNvPr id="12" name="COLLECTOR POLLS MYSQL">
            <a:extLst xmlns:a="http://schemas.openxmlformats.org/drawingml/2006/main">
              <a:ext uri="{FF2B5EF4-FFF2-40B4-BE49-F238E27FC236}">
                <a16:creationId xmlns:a16="http://schemas.microsoft.com/office/drawing/2014/main" id="{795342C5-7C5F-4288-8820-537FA0C4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705100"/>
            <a:ext cx="4095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COLLECTOR POLLS MYSQL</a:t>
            </a:r>
          </a:p>
        </p:txBody>
      </p:sp>
      <p:sp>
        <p:nvSpPr>
          <p:cNvPr id="13" name="MYSQL COMPONENT PUSHES">
            <a:extLst xmlns:a="http://schemas.openxmlformats.org/drawingml/2006/main">
              <a:ext uri="{FF2B5EF4-FFF2-40B4-BE49-F238E27FC236}">
                <a16:creationId xmlns:a16="http://schemas.microsoft.com/office/drawing/2014/main" id="{0E7E4DB9-C7A9-45B0-A75B-147620B4B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705100"/>
            <a:ext cx="401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MYSQL COMPONENT PUSHES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24CF55-EA9C-4A99-AA9C-5450C23B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28950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5" name="Initiator">
            <a:extLst xmlns:a="http://schemas.openxmlformats.org/drawingml/2006/main">
              <a:ext uri="{FF2B5EF4-FFF2-40B4-BE49-F238E27FC236}">
                <a16:creationId xmlns:a16="http://schemas.microsoft.com/office/drawing/2014/main" id="{EE48BA72-229B-47DD-BC69-31FABE22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20040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Initiator</a:t>
            </a:r>
          </a:p>
        </p:txBody>
      </p:sp>
      <p:sp>
        <p:nvSpPr>
          <p:cNvPr id="16" name="Collector mysqlreceiver">
            <a:extLst xmlns:a="http://schemas.openxmlformats.org/drawingml/2006/main">
              <a:ext uri="{FF2B5EF4-FFF2-40B4-BE49-F238E27FC236}">
                <a16:creationId xmlns:a16="http://schemas.microsoft.com/office/drawing/2014/main" id="{4403E72E-0BE2-495E-ACA1-A5A68383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908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Collector mysqlreceiver</a:t>
            </a:r>
          </a:p>
        </p:txBody>
      </p:sp>
      <p:sp>
        <p:nvSpPr>
          <p:cNvPr id="17" name="MySQL component_telemetry">
            <a:extLst xmlns:a="http://schemas.openxmlformats.org/drawingml/2006/main">
              <a:ext uri="{FF2B5EF4-FFF2-40B4-BE49-F238E27FC236}">
                <a16:creationId xmlns:a16="http://schemas.microsoft.com/office/drawing/2014/main" id="{00B679CF-E8D0-4418-A2D0-6641453FF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190875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component_telemetry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8CFF85B-57A2-44C0-B03A-69049B2E7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9" name="Connection">
            <a:extLst xmlns:a="http://schemas.openxmlformats.org/drawingml/2006/main">
              <a:ext uri="{FF2B5EF4-FFF2-40B4-BE49-F238E27FC236}">
                <a16:creationId xmlns:a16="http://schemas.microsoft.com/office/drawing/2014/main" id="{C97E5166-D561-47D3-A3ED-663D98FE1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6237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Connection</a:t>
            </a:r>
          </a:p>
        </p:txBody>
      </p:sp>
      <p:sp>
        <p:nvSpPr>
          <p:cNvPr id="20" name="SQL over MySQL protocol :">
            <a:extLst xmlns:a="http://schemas.openxmlformats.org/drawingml/2006/main">
              <a:ext uri="{FF2B5EF4-FFF2-40B4-BE49-F238E27FC236}">
                <a16:creationId xmlns:a16="http://schemas.microsoft.com/office/drawing/2014/main" id="{F9A69DCE-5AA1-455C-A507-95BB5E261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75285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SQL over MySQL protocol :3306</a:t>
            </a:r>
          </a:p>
        </p:txBody>
      </p:sp>
      <p:sp>
        <p:nvSpPr>
          <p:cNvPr id="21" name="OTLP/HTTP to Collector :4">
            <a:extLst xmlns:a="http://schemas.openxmlformats.org/drawingml/2006/main">
              <a:ext uri="{FF2B5EF4-FFF2-40B4-BE49-F238E27FC236}">
                <a16:creationId xmlns:a16="http://schemas.microsoft.com/office/drawing/2014/main" id="{6DAEE310-DF18-4A94-8FCE-158EAA2D4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3752850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OTLP/HTTP to Collector :4318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85048B-4B13-4CC3-858D-55DD2D6EE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52900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3" name="Primary signals">
            <a:extLst xmlns:a="http://schemas.openxmlformats.org/drawingml/2006/main">
              <a:ext uri="{FF2B5EF4-FFF2-40B4-BE49-F238E27FC236}">
                <a16:creationId xmlns:a16="http://schemas.microsoft.com/office/drawing/2014/main" id="{C93A1B93-F13C-4B11-8C2D-0D8CBC63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32435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Primary signals</a:t>
            </a:r>
          </a:p>
        </p:txBody>
      </p:sp>
      <p:sp>
        <p:nvSpPr>
          <p:cNvPr id="24" name="Server metrics; optional ">
            <a:extLst xmlns:a="http://schemas.openxmlformats.org/drawingml/2006/main">
              <a:ext uri="{FF2B5EF4-FFF2-40B4-BE49-F238E27FC236}">
                <a16:creationId xmlns:a16="http://schemas.microsoft.com/office/drawing/2014/main" id="{07AC0078-7CC2-4CFC-9B78-EAED85F65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31482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Server metrics; optional query-sample logs</a:t>
            </a:r>
          </a:p>
        </p:txBody>
      </p:sp>
      <p:sp>
        <p:nvSpPr>
          <p:cNvPr id="25" name="Traces and metrics; logs ">
            <a:extLst xmlns:a="http://schemas.openxmlformats.org/drawingml/2006/main">
              <a:ext uri="{FF2B5EF4-FFF2-40B4-BE49-F238E27FC236}">
                <a16:creationId xmlns:a16="http://schemas.microsoft.com/office/drawing/2014/main" id="{FD319CC0-094E-4803-AAA5-D8B28C858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314825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Traces and metrics; logs need extra provider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A869205-5658-4264-BA6C-484879B86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F0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7" name="Cadence">
            <a:extLst xmlns:a="http://schemas.openxmlformats.org/drawingml/2006/main">
              <a:ext uri="{FF2B5EF4-FFF2-40B4-BE49-F238E27FC236}">
                <a16:creationId xmlns:a16="http://schemas.microsoft.com/office/drawing/2014/main" id="{0B01EBD5-CF9A-428B-BF45-41043CAE8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86325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Cadence</a:t>
            </a:r>
          </a:p>
        </p:txBody>
      </p:sp>
      <p:sp>
        <p:nvSpPr>
          <p:cNvPr id="28" name="collection_interval (10s ">
            <a:extLst xmlns:a="http://schemas.openxmlformats.org/drawingml/2006/main">
              <a:ext uri="{FF2B5EF4-FFF2-40B4-BE49-F238E27FC236}">
                <a16:creationId xmlns:a16="http://schemas.microsoft.com/office/drawing/2014/main" id="{4ECB58A6-21AB-422A-8542-77D9AB54D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876800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collection_interval (10s default)</a:t>
            </a:r>
          </a:p>
        </p:txBody>
      </p:sp>
      <p:sp>
        <p:nvSpPr>
          <p:cNvPr id="29" name="Metric reader + exporter ">
            <a:extLst xmlns:a="http://schemas.openxmlformats.org/drawingml/2006/main">
              <a:ext uri="{FF2B5EF4-FFF2-40B4-BE49-F238E27FC236}">
                <a16:creationId xmlns:a16="http://schemas.microsoft.com/office/drawing/2014/main" id="{6576E14A-67A1-410D-B4AC-C02D0602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4876800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Metric reader + exporter batch settings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2141A61-FC60-4A7D-8869-0D3B0B418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10972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31" name="Dependency">
            <a:extLst xmlns:a="http://schemas.openxmlformats.org/drawingml/2006/main">
              <a:ext uri="{FF2B5EF4-FFF2-40B4-BE49-F238E27FC236}">
                <a16:creationId xmlns:a16="http://schemas.microsoft.com/office/drawing/2014/main" id="{77E8965B-20CF-46F2-8578-184D2FB9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48300"/>
            <a:ext cx="19431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Dependency</a:t>
            </a:r>
          </a:p>
        </p:txBody>
      </p:sp>
      <p:sp>
        <p:nvSpPr>
          <p:cNvPr id="32" name="Contrib Collector + MySQL">
            <a:extLst xmlns:a="http://schemas.openxmlformats.org/drawingml/2006/main">
              <a:ext uri="{FF2B5EF4-FFF2-40B4-BE49-F238E27FC236}">
                <a16:creationId xmlns:a16="http://schemas.microsoft.com/office/drawing/2014/main" id="{85DF68E6-CFE6-4773-A02E-E8E88EC5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438775"/>
            <a:ext cx="4095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Contrib Collector + MySQL credentials</a:t>
            </a:r>
          </a:p>
        </p:txBody>
      </p:sp>
      <p:sp>
        <p:nvSpPr>
          <p:cNvPr id="33" name="MySQL 9.7 component + OTL">
            <a:extLst xmlns:a="http://schemas.openxmlformats.org/drawingml/2006/main">
              <a:ext uri="{FF2B5EF4-FFF2-40B4-BE49-F238E27FC236}">
                <a16:creationId xmlns:a16="http://schemas.microsoft.com/office/drawing/2014/main" id="{F6E1E1ED-DA59-42CE-B6F3-0D00BE88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5438775"/>
            <a:ext cx="39909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MySQL 9.7 component + OTLP receiver</a:t>
            </a:r>
          </a:p>
        </p:txBody>
      </p:sp>
      <p:sp>
        <p:nvSpPr>
          <p:cNvPr id="34" name="The polling receiver does">
            <a:extLst xmlns:a="http://schemas.openxmlformats.org/drawingml/2006/main">
              <a:ext uri="{FF2B5EF4-FFF2-40B4-BE49-F238E27FC236}">
                <a16:creationId xmlns:a16="http://schemas.microsoft.com/office/drawing/2014/main" id="{886646FB-D6E8-4BBE-A0B4-C75D30C1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62650"/>
            <a:ext cx="1085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polling receiver does not turn status queries into native MySQL trace spans.</a:t>
            </a:r>
          </a:p>
        </p:txBody>
      </p:sp>
    </p:spTree>
    <p:extLst>
      <p:ext uri="{BB962C8B-B14F-4D97-AF65-F5344CB8AC3E}">
        <p14:creationId xmlns:p14="http://schemas.microsoft.com/office/powerpoint/2010/main" val="172385846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32496E1-901B-493B-904A-76336D586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D515027C-3651-4B54-B285-766A911C4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REREQUISITES">
            <a:extLst xmlns:a="http://schemas.openxmlformats.org/drawingml/2006/main">
              <a:ext uri="{FF2B5EF4-FFF2-40B4-BE49-F238E27FC236}">
                <a16:creationId xmlns:a16="http://schemas.microsoft.com/office/drawing/2014/main" id="{8CB8A4B9-62A2-4BBD-8F7C-07994BDAA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PREREQUISITES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0DB731-0828-416B-B84B-5CB49A09E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Choose the data path befo">
            <a:extLst xmlns:a="http://schemas.openxmlformats.org/drawingml/2006/main">
              <a:ext uri="{FF2B5EF4-FFF2-40B4-BE49-F238E27FC236}">
                <a16:creationId xmlns:a16="http://schemas.microsoft.com/office/drawing/2014/main" id="{48C199F5-D379-46B3-8F07-D7E95F0C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Choose the data path before configuring MySQL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07AA42-F736-4BAE-85BF-827807C4E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8B20A782-5895-4972-AE2D-0AFA3E8B2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05">
            <a:extLst xmlns:a="http://schemas.openxmlformats.org/drawingml/2006/main">
              <a:ext uri="{FF2B5EF4-FFF2-40B4-BE49-F238E27FC236}">
                <a16:creationId xmlns:a16="http://schemas.microsoft.com/office/drawing/2014/main" id="{D8472F50-FE65-4753-8BF2-5DCF0E8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F207C5DD-4F80-4C0A-BEFA-2D2C9C2F0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Test server">
            <a:extLst xmlns:a="http://schemas.openxmlformats.org/drawingml/2006/main">
              <a:ext uri="{FF2B5EF4-FFF2-40B4-BE49-F238E27FC236}">
                <a16:creationId xmlns:a16="http://schemas.microsoft.com/office/drawing/2014/main" id="{19C62D73-24A7-4A13-9D1D-861B97CAF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050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Test server</a:t>
            </a:r>
          </a:p>
        </p:txBody>
      </p:sp>
      <p:sp>
        <p:nvSpPr>
          <p:cNvPr id="11" name="Use MySQL 9.7. Push requi">
            <a:extLst xmlns:a="http://schemas.openxmlformats.org/drawingml/2006/main">
              <a:ext uri="{FF2B5EF4-FFF2-40B4-BE49-F238E27FC236}">
                <a16:creationId xmlns:a16="http://schemas.microsoft.com/office/drawing/2014/main" id="{2D28E2DD-8F87-439A-8FA8-59CE7DA6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050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MySQL 9.7. Push requires component installation; polling needs a database login.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6B7FB5-B5AD-4846-B417-D4FC9D042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623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7065CC10-0E41-4030-914C-53D97EE8B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07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ollector distribution">
            <a:extLst xmlns:a="http://schemas.openxmlformats.org/drawingml/2006/main">
              <a:ext uri="{FF2B5EF4-FFF2-40B4-BE49-F238E27FC236}">
                <a16:creationId xmlns:a16="http://schemas.microsoft.com/office/drawing/2014/main" id="{E2841940-2483-41C9-9B92-FF043688A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26707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Collector distribution</a:t>
            </a:r>
          </a:p>
        </p:txBody>
      </p:sp>
      <p:sp>
        <p:nvSpPr>
          <p:cNvPr id="15" name="mysqlreceiver is in Colle">
            <a:extLst xmlns:a="http://schemas.openxmlformats.org/drawingml/2006/main">
              <a:ext uri="{FF2B5EF4-FFF2-40B4-BE49-F238E27FC236}">
                <a16:creationId xmlns:a16="http://schemas.microsoft.com/office/drawing/2014/main" id="{1FBCC71D-1BC1-43CF-A444-2CD57FB03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6707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mysqlreceiver is in Collector Contrib. The core Collector can accept OTLP push.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5FD57F-717A-4C74-A98F-289F84E32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2432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459A6F5C-A563-4A1D-9ED5-70653E1C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291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Check topology">
            <a:extLst xmlns:a="http://schemas.openxmlformats.org/drawingml/2006/main">
              <a:ext uri="{FF2B5EF4-FFF2-40B4-BE49-F238E27FC236}">
                <a16:creationId xmlns:a16="http://schemas.microsoft.com/office/drawing/2014/main" id="{869E9E24-F15C-492A-8708-0BE6CFC5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2910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Check topology</a:t>
            </a:r>
          </a:p>
        </p:txBody>
      </p:sp>
      <p:sp>
        <p:nvSpPr>
          <p:cNvPr id="19" name="Poll needs Collector → My">
            <a:extLst xmlns:a="http://schemas.openxmlformats.org/drawingml/2006/main">
              <a:ext uri="{FF2B5EF4-FFF2-40B4-BE49-F238E27FC236}">
                <a16:creationId xmlns:a16="http://schemas.microsoft.com/office/drawing/2014/main" id="{45A10E7A-479B-435B-A806-DE8A0D8C0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22910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Poll needs Collector → MySQL :3306; push needs MySQL → OTLP :4318.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1678B7-7808-43FB-807B-063F920D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8635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Use least-privilege crede">
            <a:extLst xmlns:a="http://schemas.openxmlformats.org/drawingml/2006/main">
              <a:ext uri="{FF2B5EF4-FFF2-40B4-BE49-F238E27FC236}">
                <a16:creationId xmlns:a16="http://schemas.microsoft.com/office/drawing/2014/main" id="{BB26068B-31CA-4763-9640-F315BA7B4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763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least-privilege credentials and TLS in production. localhost always means the host making that connection.</a:t>
            </a:r>
          </a:p>
        </p:txBody>
      </p:sp>
    </p:spTree>
    <p:extLst>
      <p:ext uri="{BB962C8B-B14F-4D97-AF65-F5344CB8AC3E}">
        <p14:creationId xmlns:p14="http://schemas.microsoft.com/office/powerpoint/2010/main" val="160181473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F68385-91D8-4E61-AB02-7487F7BD3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D2AEF32F-7463-4ED2-A11C-4ABCAA08C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OLLING PATH">
            <a:extLst xmlns:a="http://schemas.openxmlformats.org/drawingml/2006/main">
              <a:ext uri="{FF2B5EF4-FFF2-40B4-BE49-F238E27FC236}">
                <a16:creationId xmlns:a16="http://schemas.microsoft.com/office/drawing/2014/main" id="{366CDCCD-4316-42D9-AAC7-137DC6707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POLLING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5E4617-F323-4427-9747-C0588821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Contrib MySQL receive">
            <a:extLst xmlns:a="http://schemas.openxmlformats.org/drawingml/2006/main">
              <a:ext uri="{FF2B5EF4-FFF2-40B4-BE49-F238E27FC236}">
                <a16:creationId xmlns:a16="http://schemas.microsoft.com/office/drawing/2014/main" id="{DB147570-DB5F-43C3-8625-DB4D8A76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Contrib MySQL receiver polls server measurements</a:t>
            </a:r>
          </a:p>
        </p:txBody>
      </p:sp>
      <p:sp>
        <p:nvSpPr>
          <p:cNvPr id="6" name="No MySQL telemetry compon">
            <a:extLst xmlns:a="http://schemas.openxmlformats.org/drawingml/2006/main">
              <a:ext uri="{FF2B5EF4-FFF2-40B4-BE49-F238E27FC236}">
                <a16:creationId xmlns:a16="http://schemas.microsoft.com/office/drawing/2014/main" id="{0AD66D41-4596-4EC5-A773-EF8534A9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No MySQL telemetry component is required for this path.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E37FA-99E7-4419-A7C2-DA0506F3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8C8BE5BF-0C1F-4AE6-AF53-73B18FE00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6">
            <a:extLst xmlns:a="http://schemas.openxmlformats.org/drawingml/2006/main">
              <a:ext uri="{FF2B5EF4-FFF2-40B4-BE49-F238E27FC236}">
                <a16:creationId xmlns:a16="http://schemas.microsoft.com/office/drawing/2014/main" id="{1214C47A-3B8B-4DCD-991B-F3BD36409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8711B3-B60C-413D-AE96-EFECBD98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1C8B8-CC75-488E-B35B-E9801A6E7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eivers:&#10;  mysql:&#10;    e">
            <a:extLst xmlns:a="http://schemas.openxmlformats.org/drawingml/2006/main">
              <a:ext uri="{FF2B5EF4-FFF2-40B4-BE49-F238E27FC236}">
                <a16:creationId xmlns:a16="http://schemas.microsoft.com/office/drawing/2014/main" id="{1452095E-11C6-4F56-9340-04B8DC109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57475"/>
            <a:ext cx="10515600" cy="2809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receivers: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mysql: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endpoint: mysql.example:3306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username: otel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password: ${env:MYSQL_PASSWORD}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collection_interval: 10s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exporters: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debug: {verbosity: basic}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service: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pipelines: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metrics: {receivers: [mysql], exporters: [debug]}</a:t>
            </a:r>
          </a:p>
        </p:txBody>
      </p:sp>
      <p:sp>
        <p:nvSpPr>
          <p:cNvPr id="13" name="Use Collector Contrib; th">
            <a:extLst xmlns:a="http://schemas.openxmlformats.org/drawingml/2006/main">
              <a:ext uri="{FF2B5EF4-FFF2-40B4-BE49-F238E27FC236}">
                <a16:creationId xmlns:a16="http://schemas.microsoft.com/office/drawing/2014/main" id="{5CD90247-D786-4433-8F7F-F4E253D44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7346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Collector Contrib; the account needs access to SHOW GLOBAL STATUS. Query samples need performance_schema SELECT.</a:t>
            </a:r>
          </a:p>
        </p:txBody>
      </p:sp>
    </p:spTree>
    <p:extLst>
      <p:ext uri="{BB962C8B-B14F-4D97-AF65-F5344CB8AC3E}">
        <p14:creationId xmlns:p14="http://schemas.microsoft.com/office/powerpoint/2010/main" val="137638728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F00A258-99DC-413F-BC19-213CE4077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3FBE34AA-0BBB-4A3F-BFF7-E5A4ECE21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A1C84CA6-CA8D-43B4-9391-CBCA5ECB1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DE2E2D-6225-42CB-89B2-FCF007E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push path needs an OT">
            <a:extLst xmlns:a="http://schemas.openxmlformats.org/drawingml/2006/main">
              <a:ext uri="{FF2B5EF4-FFF2-40B4-BE49-F238E27FC236}">
                <a16:creationId xmlns:a16="http://schemas.microsoft.com/office/drawing/2014/main" id="{AD59DDA2-67CD-4CAD-BE12-6B95ACB63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push path needs an OTLP receiver</a:t>
            </a:r>
          </a:p>
        </p:txBody>
      </p:sp>
      <p:sp>
        <p:nvSpPr>
          <p:cNvPr id="6" name="Core configuration from t">
            <a:extLst xmlns:a="http://schemas.openxmlformats.org/drawingml/2006/main">
              <a:ext uri="{FF2B5EF4-FFF2-40B4-BE49-F238E27FC236}">
                <a16:creationId xmlns:a16="http://schemas.microsoft.com/office/drawing/2014/main" id="{F9496F3A-1E78-47D7-93E7-03DA34BB0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Core configuration from the bundled otel-collector.yaml (which also has a logs pipeline).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B9CFA5-B848-47E1-AC26-56E45E134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87795A8C-51F6-410C-AF3B-515A393A0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7">
            <a:extLst xmlns:a="http://schemas.openxmlformats.org/drawingml/2006/main">
              <a:ext uri="{FF2B5EF4-FFF2-40B4-BE49-F238E27FC236}">
                <a16:creationId xmlns:a16="http://schemas.microsoft.com/office/drawing/2014/main" id="{5CC88052-3CA8-40D2-93A1-44885FCB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001515-8518-4019-86DF-58E34AF7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1097280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097F4C0-7003-4504-B2D1-DB93C001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52700"/>
            <a:ext cx="57150" cy="3438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receivers:&#10;  otlp:&#10;    pr">
            <a:extLst xmlns:a="http://schemas.openxmlformats.org/drawingml/2006/main">
              <a:ext uri="{FF2B5EF4-FFF2-40B4-BE49-F238E27FC236}">
                <a16:creationId xmlns:a16="http://schemas.microsoft.com/office/drawing/2014/main" id="{DAC0F0FD-E20C-4ED1-8AC9-2B233EA4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33675"/>
            <a:ext cx="10515600" cy="3105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receivers: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otlp: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protocols: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http: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    endpoint: 0.0.0.0:4318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processors: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batch: {}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exporters: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debug: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verbosity: basic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service: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pipelines: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traces:  {receivers: [otlp], processors: [batch], exporters: [debug]}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2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2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  metrics: {receivers: [otlp], processors: [batch], exporters: [debug]}</a:t>
            </a:r>
          </a:p>
        </p:txBody>
      </p:sp>
    </p:spTree>
    <p:extLst>
      <p:ext uri="{BB962C8B-B14F-4D97-AF65-F5344CB8AC3E}">
        <p14:creationId xmlns:p14="http://schemas.microsoft.com/office/powerpoint/2010/main" val="32722617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3405F24-C9EE-4375-8D7B-B4B15A90E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8AE37FFF-811E-46E3-94B0-55F5A0F5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ED429AF5-9E50-4C9E-8511-B3BF2EE1A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A3542C-7B67-4072-BABA-2DBD687BE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Run the standard Collecto">
            <a:extLst xmlns:a="http://schemas.openxmlformats.org/drawingml/2006/main">
              <a:ext uri="{FF2B5EF4-FFF2-40B4-BE49-F238E27FC236}">
                <a16:creationId xmlns:a16="http://schemas.microsoft.com/office/drawing/2014/main" id="{16538672-EAF4-4623-BF71-C94D444CE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Run the standard Collector on OTLP/HTTP port 4318</a:t>
            </a:r>
          </a:p>
        </p:txBody>
      </p:sp>
      <p:sp>
        <p:nvSpPr>
          <p:cNvPr id="6" name="The debug exporter prints">
            <a:extLst xmlns:a="http://schemas.openxmlformats.org/drawingml/2006/main">
              <a:ext uri="{FF2B5EF4-FFF2-40B4-BE49-F238E27FC236}">
                <a16:creationId xmlns:a16="http://schemas.microsoft.com/office/drawing/2014/main" id="{298FEF71-6365-4942-B865-53A6A42CB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debug exporter prints received signal summaries to its terminal.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AE4E1D2-B5A1-4BF8-9CC0-163CEDB7A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359EA4C2-6342-4798-BB4E-9091AF33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8">
            <a:extLst xmlns:a="http://schemas.openxmlformats.org/drawingml/2006/main">
              <a:ext uri="{FF2B5EF4-FFF2-40B4-BE49-F238E27FC236}">
                <a16:creationId xmlns:a16="http://schemas.microsoft.com/office/drawing/2014/main" id="{E87F9FCA-DC41-4F3F-8EC9-F3B93CAF5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E4A3212-04BB-4D75-9AF0-4667D76B5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124422-1C3E-419D-A962-2BA341A3F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docker run --rm \&#10;  -p 12">
            <a:extLst xmlns:a="http://schemas.openxmlformats.org/drawingml/2006/main">
              <a:ext uri="{FF2B5EF4-FFF2-40B4-BE49-F238E27FC236}">
                <a16:creationId xmlns:a16="http://schemas.microsoft.com/office/drawing/2014/main" id="{882C4B0C-3F0C-4C40-B24C-54ED07D85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90825"/>
            <a:ext cx="10515600" cy="1990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docker run --rm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-p 127.0.0.1:4318:4318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-v "$PWD/otel-collector.yaml:/etc/otelcol/config.yaml:ro"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otel/opentelemetry-collector:0.161.0 \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--config=/etc/otelcol/config.yaml</a:t>
            </a:r>
          </a:p>
        </p:txBody>
      </p:sp>
      <p:sp>
        <p:nvSpPr>
          <p:cNvPr id="13" name="Use 4318 in both MySQL en">
            <a:extLst xmlns:a="http://schemas.openxmlformats.org/drawingml/2006/main">
              <a:ext uri="{FF2B5EF4-FFF2-40B4-BE49-F238E27FC236}">
                <a16:creationId xmlns:a16="http://schemas.microsoft.com/office/drawing/2014/main" id="{4135B15A-233C-4F6E-81E0-D5D7F1B5D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0477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Use 4318 in both MySQL endpoint URLs. This Collector does not populate the demo web page.</a:t>
            </a:r>
          </a:p>
        </p:txBody>
      </p:sp>
    </p:spTree>
    <p:extLst>
      <p:ext uri="{BB962C8B-B14F-4D97-AF65-F5344CB8AC3E}">
        <p14:creationId xmlns:p14="http://schemas.microsoft.com/office/powerpoint/2010/main" val="120043414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68B979-F077-4025-A37C-851D0321F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5A2E0202-6EE0-4008-8750-F3ADF7C7F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3EC45271-83E5-4BA0-87A1-CE61F5D58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30A42F2-7416-4E30-8B4E-CF1C703C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nstall and verify the My">
            <a:extLst xmlns:a="http://schemas.openxmlformats.org/drawingml/2006/main">
              <a:ext uri="{FF2B5EF4-FFF2-40B4-BE49-F238E27FC236}">
                <a16:creationId xmlns:a16="http://schemas.microsoft.com/office/drawing/2014/main" id="{B85F72E4-C526-409A-B1A3-EEBB16A34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Install and verify the MySQL server component</a:t>
            </a:r>
          </a:p>
        </p:txBody>
      </p:sp>
      <p:sp>
        <p:nvSpPr>
          <p:cNvPr id="6" name="The component registers t">
            <a:extLst xmlns:a="http://schemas.openxmlformats.org/drawingml/2006/main">
              <a:ext uri="{FF2B5EF4-FFF2-40B4-BE49-F238E27FC236}">
                <a16:creationId xmlns:a16="http://schemas.microsoft.com/office/drawing/2014/main" id="{D18023D3-B0D0-4223-8228-4101639B0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component registers telemetry variables on the server.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4EEA79-EFC8-4D15-919F-3AA33196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71D8ACCB-A733-4B13-8CA8-018B87181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09">
            <a:extLst xmlns:a="http://schemas.openxmlformats.org/drawingml/2006/main">
              <a:ext uri="{FF2B5EF4-FFF2-40B4-BE49-F238E27FC236}">
                <a16:creationId xmlns:a16="http://schemas.microsoft.com/office/drawing/2014/main" id="{76626484-B528-4631-B43F-B4C06DEB2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A981078-5BF1-451D-9C7F-896B0ECC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1097280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C3911-0615-4D1B-9985-5D4627BD0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09850"/>
            <a:ext cx="57150" cy="2686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INSTALL COMPONENT 'file:/">
            <a:extLst xmlns:a="http://schemas.openxmlformats.org/drawingml/2006/main">
              <a:ext uri="{FF2B5EF4-FFF2-40B4-BE49-F238E27FC236}">
                <a16:creationId xmlns:a16="http://schemas.microsoft.com/office/drawing/2014/main" id="{48DD98FC-D9B1-43C8-A952-1B61857DB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90825"/>
            <a:ext cx="10515600" cy="2352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INSTALL COMPONENT 'file://component_telemetry';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component_urn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FROM mysql.component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WHERE component_urn = 'file://component_telemetry';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6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6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GLOBAL VARIABLES LIKE 'telemetry.%';</a:t>
            </a:r>
          </a:p>
        </p:txBody>
      </p:sp>
      <p:sp>
        <p:nvSpPr>
          <p:cNvPr id="13" name="A returned component_urn ">
            <a:extLst xmlns:a="http://schemas.openxmlformats.org/drawingml/2006/main">
              <a:ext uri="{FF2B5EF4-FFF2-40B4-BE49-F238E27FC236}">
                <a16:creationId xmlns:a16="http://schemas.microsoft.com/office/drawing/2014/main" id="{DADE836B-2112-4149-A426-DAED7CFF4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7156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A returned component_urn confirms installation. The client telemetry plugin is optional and separate.</a:t>
            </a:r>
          </a:p>
        </p:txBody>
      </p:sp>
    </p:spTree>
    <p:extLst>
      <p:ext uri="{BB962C8B-B14F-4D97-AF65-F5344CB8AC3E}">
        <p14:creationId xmlns:p14="http://schemas.microsoft.com/office/powerpoint/2010/main" val="1743315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A85F5-277D-416B-8ED1-D8DD3D963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522219B6-2AC6-48E3-A024-3B56C3D6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900532CE-6F9B-4EFA-AE3D-17DDB824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F91967-BCB7-4899-A67D-FE165749A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oint both exporters at t">
            <a:extLst xmlns:a="http://schemas.openxmlformats.org/drawingml/2006/main">
              <a:ext uri="{FF2B5EF4-FFF2-40B4-BE49-F238E27FC236}">
                <a16:creationId xmlns:a16="http://schemas.microsoft.com/office/drawing/2014/main" id="{FF5C5C00-856D-441A-8EA7-C6907F78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Point both exporters at the same receiver</a:t>
            </a:r>
          </a:p>
        </p:txBody>
      </p:sp>
      <p:sp>
        <p:nvSpPr>
          <p:cNvPr id="6" name="Example below targets the">
            <a:extLst xmlns:a="http://schemas.openxmlformats.org/drawingml/2006/main">
              <a:ext uri="{FF2B5EF4-FFF2-40B4-BE49-F238E27FC236}">
                <a16:creationId xmlns:a16="http://schemas.microsoft.com/office/drawing/2014/main" id="{1FDCCF65-8B81-4D6B-B495-980AA4B8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Example below targets the built-in web demo receiver on 4173.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7BB58B-18D9-4FC1-8CD5-2ECD9372E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FA028F56-5EB6-42DC-82FB-D562910C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0">
            <a:extLst xmlns:a="http://schemas.openxmlformats.org/drawingml/2006/main">
              <a:ext uri="{FF2B5EF4-FFF2-40B4-BE49-F238E27FC236}">
                <a16:creationId xmlns:a16="http://schemas.microsoft.com/office/drawing/2014/main" id="{3F52B7E7-B068-4C9E-8368-7D9953007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8591C6-1EF2-4481-9EE2-C136E58A4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1097280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D08BD-EDB2-40DB-BB57-025AA8C67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57150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T PERSIST_ONLY telemetr">
            <a:extLst xmlns:a="http://schemas.openxmlformats.org/drawingml/2006/main">
              <a:ext uri="{FF2B5EF4-FFF2-40B4-BE49-F238E27FC236}">
                <a16:creationId xmlns:a16="http://schemas.microsoft.com/office/drawing/2014/main" id="{6B873277-D710-49B9-B110-D1D7C2A15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657475"/>
            <a:ext cx="105156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telemetry.otel_exporter_otlp_traces_protocol = 'http/json';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telemetry.otel_exporter_otlp_traces_endpoint =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'http://127.0.0.1:4173/v1/traces';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telemetry.otel_exporter_otlp_metrics_protocol = 'http/json';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telemetry.otel_exporter_otlp_metrics_endpoint =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'http://127.0.0.1:4173/v1/metrics';</a:t>
            </a:r>
          </a:p>
        </p:txBody>
      </p:sp>
      <p:sp>
        <p:nvSpPr>
          <p:cNvPr id="13" name="Collector path: change bo">
            <a:extLst xmlns:a="http://schemas.openxmlformats.org/drawingml/2006/main">
              <a:ext uri="{FF2B5EF4-FFF2-40B4-BE49-F238E27FC236}">
                <a16:creationId xmlns:a16="http://schemas.microsoft.com/office/drawing/2014/main" id="{C256046A-1C99-470E-BE7F-751C01EE1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5785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Collector path: change both URLs to port 4318. Keep /v1/traces and /v1/metrics.</a:t>
            </a:r>
          </a:p>
        </p:txBody>
      </p:sp>
    </p:spTree>
    <p:extLst>
      <p:ext uri="{BB962C8B-B14F-4D97-AF65-F5344CB8AC3E}">
        <p14:creationId xmlns:p14="http://schemas.microsoft.com/office/powerpoint/2010/main" val="110366769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80F1BF-F2E7-4803-88D7-91B6E78CE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A76445B1-D906-412B-A0A0-FB8B36A52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SIGNAL CONTROLS">
            <a:extLst xmlns:a="http://schemas.openxmlformats.org/drawingml/2006/main">
              <a:ext uri="{FF2B5EF4-FFF2-40B4-BE49-F238E27FC236}">
                <a16:creationId xmlns:a16="http://schemas.microsoft.com/office/drawing/2014/main" id="{C8503D36-26BD-4CAA-BD19-12B7C6D15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SIGNAL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95E894-85B9-4B61-B036-E65E92DB5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The component controls ea">
            <a:extLst xmlns:a="http://schemas.openxmlformats.org/drawingml/2006/main">
              <a:ext uri="{FF2B5EF4-FFF2-40B4-BE49-F238E27FC236}">
                <a16:creationId xmlns:a16="http://schemas.microsoft.com/office/drawing/2014/main" id="{6F278C92-108C-4F53-8BE1-76808D41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The component controls each signal separately</a:t>
            </a:r>
          </a:p>
        </p:txBody>
      </p:sp>
      <p:sp>
        <p:nvSpPr>
          <p:cNvPr id="6" name="Export settings are disti">
            <a:extLst xmlns:a="http://schemas.openxmlformats.org/drawingml/2006/main">
              <a:ext uri="{FF2B5EF4-FFF2-40B4-BE49-F238E27FC236}">
                <a16:creationId xmlns:a16="http://schemas.microsoft.com/office/drawing/2014/main" id="{8EED2E46-B5CB-4D8D-83B7-4EB77F40E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 settings are distinct from collection switches; restart for non-dynamic settings.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59183D-3B1D-4C52-A077-C0E548482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E22F1323-851A-48E0-990F-360A28CF4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1">
            <a:extLst xmlns:a="http://schemas.openxmlformats.org/drawingml/2006/main">
              <a:ext uri="{FF2B5EF4-FFF2-40B4-BE49-F238E27FC236}">
                <a16:creationId xmlns:a16="http://schemas.microsoft.com/office/drawing/2014/main" id="{7B12257C-ECDA-4210-9E4F-21C136F4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E687C4-04B3-492B-9637-5276752FC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1097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C28DC0-4396-47B9-A14A-B9C43EEB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66975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RACES">
            <a:extLst xmlns:a="http://schemas.openxmlformats.org/drawingml/2006/main">
              <a:ext uri="{FF2B5EF4-FFF2-40B4-BE49-F238E27FC236}">
                <a16:creationId xmlns:a16="http://schemas.microsoft.com/office/drawing/2014/main" id="{F0307237-1836-4E6F-AFE2-BC5A6C33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4320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TRACES</a:t>
            </a:r>
          </a:p>
        </p:txBody>
      </p:sp>
      <p:sp>
        <p:nvSpPr>
          <p:cNvPr id="13" name="COLLECT">
            <a:extLst xmlns:a="http://schemas.openxmlformats.org/drawingml/2006/main">
              <a:ext uri="{FF2B5EF4-FFF2-40B4-BE49-F238E27FC236}">
                <a16:creationId xmlns:a16="http://schemas.microsoft.com/office/drawing/2014/main" id="{2D013BE8-B28F-4DAB-8EC1-2C4CE4A79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57175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14" name="telemetry.trace_enabled  ">
            <a:extLst xmlns:a="http://schemas.openxmlformats.org/drawingml/2006/main">
              <a:ext uri="{FF2B5EF4-FFF2-40B4-BE49-F238E27FC236}">
                <a16:creationId xmlns:a16="http://schemas.microsoft.com/office/drawing/2014/main" id="{2A86A01B-E8E8-4FB6-A981-D2C1ADFDD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282892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telemetry.trace_enabled  (dynamic)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telemetry.query_text_enabled  (dynamic)</a:t>
            </a:r>
          </a:p>
        </p:txBody>
      </p:sp>
      <p:sp>
        <p:nvSpPr>
          <p:cNvPr id="15" name="EXPORT TO COLLECTOR">
            <a:extLst xmlns:a="http://schemas.openxmlformats.org/drawingml/2006/main">
              <a:ext uri="{FF2B5EF4-FFF2-40B4-BE49-F238E27FC236}">
                <a16:creationId xmlns:a16="http://schemas.microsoft.com/office/drawing/2014/main" id="{E6725EF7-966A-4939-A6B2-79E56B23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57175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 TO COLLECTOR</a:t>
            </a:r>
          </a:p>
        </p:txBody>
      </p:sp>
      <p:sp>
        <p:nvSpPr>
          <p:cNvPr id="16" name="telemetry.otel_exporter_o">
            <a:extLst xmlns:a="http://schemas.openxmlformats.org/drawingml/2006/main">
              <a:ext uri="{FF2B5EF4-FFF2-40B4-BE49-F238E27FC236}">
                <a16:creationId xmlns:a16="http://schemas.microsoft.com/office/drawing/2014/main" id="{F76A2561-6CAE-4AF2-A447-5660FDF0C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828925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telemetry.otel_exporter_otlp_traces_protocol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telemetry.otel_exporter_otlp_traces_endpoint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8F71FA-3BB6-4660-BF02-DE32A1AB5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1097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E60D6-8AC4-4D6A-9666-E17F04035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90925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758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METRICS">
            <a:extLst xmlns:a="http://schemas.openxmlformats.org/drawingml/2006/main">
              <a:ext uri="{FF2B5EF4-FFF2-40B4-BE49-F238E27FC236}">
                <a16:creationId xmlns:a16="http://schemas.microsoft.com/office/drawing/2014/main" id="{5D9F9BAF-74BF-41B6-BC52-AAAE5F456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86715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METRICS</a:t>
            </a:r>
          </a:p>
        </p:txBody>
      </p:sp>
      <p:sp>
        <p:nvSpPr>
          <p:cNvPr id="20" name="COLLECT">
            <a:extLst xmlns:a="http://schemas.openxmlformats.org/drawingml/2006/main">
              <a:ext uri="{FF2B5EF4-FFF2-40B4-BE49-F238E27FC236}">
                <a16:creationId xmlns:a16="http://schemas.microsoft.com/office/drawing/2014/main" id="{5C8A1D65-B195-4DFD-AA3E-A804138F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69570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21" name="telemetry.metrics_enabled">
            <a:extLst xmlns:a="http://schemas.openxmlformats.org/drawingml/2006/main">
              <a:ext uri="{FF2B5EF4-FFF2-40B4-BE49-F238E27FC236}">
                <a16:creationId xmlns:a16="http://schemas.microsoft.com/office/drawing/2014/main" id="{49A196F9-D644-44E9-A0C3-0E2F3F4A8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395287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telemetry.metrics_enabled  (restart)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telemetry.metrics_reader_frequency_1/2/3</a:t>
            </a:r>
          </a:p>
        </p:txBody>
      </p:sp>
      <p:sp>
        <p:nvSpPr>
          <p:cNvPr id="22" name="EXPORT TO COLLECTOR">
            <a:extLst xmlns:a="http://schemas.openxmlformats.org/drawingml/2006/main">
              <a:ext uri="{FF2B5EF4-FFF2-40B4-BE49-F238E27FC236}">
                <a16:creationId xmlns:a16="http://schemas.microsoft.com/office/drawing/2014/main" id="{89659C3A-9920-4225-A624-DE761F8F0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69570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 TO COLLECTOR</a:t>
            </a:r>
          </a:p>
        </p:txBody>
      </p:sp>
      <p:sp>
        <p:nvSpPr>
          <p:cNvPr id="23" name="telemetry.otel_exporter_o">
            <a:extLst xmlns:a="http://schemas.openxmlformats.org/drawingml/2006/main">
              <a:ext uri="{FF2B5EF4-FFF2-40B4-BE49-F238E27FC236}">
                <a16:creationId xmlns:a16="http://schemas.microsoft.com/office/drawing/2014/main" id="{8A217388-E358-4136-9F29-5B2E78EF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3952875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telemetry.otel_exporter_otlp_metrics_protocol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telemetry.otel_exporter_otlp_metrics_endpoint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3859F5B-C631-4E9C-AB5D-E97949DC6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10972800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1C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72F502-74A6-4A5E-8779-21CA1BF37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14875"/>
            <a:ext cx="666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LOGS*">
            <a:extLst xmlns:a="http://schemas.openxmlformats.org/drawingml/2006/main">
              <a:ext uri="{FF2B5EF4-FFF2-40B4-BE49-F238E27FC236}">
                <a16:creationId xmlns:a16="http://schemas.microsoft.com/office/drawing/2014/main" id="{47821392-3E7A-4F29-BA99-4EE5DA89A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991100"/>
            <a:ext cx="12954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7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LOGS*</a:t>
            </a:r>
          </a:p>
        </p:txBody>
      </p:sp>
      <p:sp>
        <p:nvSpPr>
          <p:cNvPr id="27" name="COLLECT">
            <a:extLst xmlns:a="http://schemas.openxmlformats.org/drawingml/2006/main">
              <a:ext uri="{FF2B5EF4-FFF2-40B4-BE49-F238E27FC236}">
                <a16:creationId xmlns:a16="http://schemas.microsoft.com/office/drawing/2014/main" id="{68A5A26D-6384-4B3C-A235-A31F375DB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4819650"/>
            <a:ext cx="3952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COLLECT</a:t>
            </a:r>
          </a:p>
        </p:txBody>
      </p:sp>
      <p:sp>
        <p:nvSpPr>
          <p:cNvPr id="28" name="telemetry.log_enabled  (d">
            <a:extLst xmlns:a="http://schemas.openxmlformats.org/drawingml/2006/main">
              <a:ext uri="{FF2B5EF4-FFF2-40B4-BE49-F238E27FC236}">
                <a16:creationId xmlns:a16="http://schemas.microsoft.com/office/drawing/2014/main" id="{0C107A94-5CFE-4861-AB51-8EE1BF87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525" y="5076825"/>
            <a:ext cx="3952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telemetry.log_enabled  (dynamic)</a:t>
            </a:r>
          </a:p>
        </p:txBody>
      </p:sp>
      <p:sp>
        <p:nvSpPr>
          <p:cNvPr id="29" name="EXPORT TO COLLECTOR">
            <a:extLst xmlns:a="http://schemas.openxmlformats.org/drawingml/2006/main">
              <a:ext uri="{FF2B5EF4-FFF2-40B4-BE49-F238E27FC236}">
                <a16:creationId xmlns:a16="http://schemas.microsoft.com/office/drawing/2014/main" id="{965B0DBA-172D-4004-B338-82DCA08EC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4819650"/>
            <a:ext cx="4895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 TO COLLECTOR</a:t>
            </a:r>
          </a:p>
        </p:txBody>
      </p:sp>
      <p:sp>
        <p:nvSpPr>
          <p:cNvPr id="30" name="telemetry.otel_exporter_o">
            <a:extLst xmlns:a="http://schemas.openxmlformats.org/drawingml/2006/main">
              <a:ext uri="{FF2B5EF4-FFF2-40B4-BE49-F238E27FC236}">
                <a16:creationId xmlns:a16="http://schemas.microsoft.com/office/drawing/2014/main" id="{B53F5560-AD8F-4075-89FD-8BB27B051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076825"/>
            <a:ext cx="48958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telemetry.otel_exporter_otlp_logs_protocol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24211F"/>
                </a:solidFill>
                <a:latin typeface="Menlo"/>
                <a:ea typeface="Menlo"/>
                <a:cs typeface="Menlo"/>
              </a:defRPr>
            </a:pPr>
            <a:r>
              <a:rPr sz="1200" b="0">
                <a:solidFill>
                  <a:srgbClr val="24211F"/>
                </a:solidFill>
                <a:latin typeface="Menlo"/>
                <a:ea typeface="Menlo"/>
                <a:cs typeface="Menlo"/>
              </a:rPr>
              <a:t>telemetry.otel_exporter_otlp_logs_endpoint</a:t>
            </a:r>
          </a:p>
        </p:txBody>
      </p:sp>
      <p:sp>
        <p:nvSpPr>
          <p:cNvPr id="31" name="*Log export requires MySQ">
            <a:extLst xmlns:a="http://schemas.openxmlformats.org/drawingml/2006/main">
              <a:ext uri="{FF2B5EF4-FFF2-40B4-BE49-F238E27FC236}">
                <a16:creationId xmlns:a16="http://schemas.microsoft.com/office/drawing/2014/main" id="{899D3FC0-6903-4C9E-AD0E-717648EE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251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*Log export requires MySQL Enterprise, HeatWave, or a custom logging component; Community’s interface alone is not an exporter.</a:t>
            </a:r>
          </a:p>
        </p:txBody>
      </p:sp>
    </p:spTree>
    <p:extLst>
      <p:ext uri="{BB962C8B-B14F-4D97-AF65-F5344CB8AC3E}">
        <p14:creationId xmlns:p14="http://schemas.microsoft.com/office/powerpoint/2010/main" val="6909217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E506D2A-D31E-469D-ADFD-54EC512C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93508027-8849-4CFF-8CA6-A3BFF107C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SIGNAL CONTROLS">
            <a:extLst xmlns:a="http://schemas.openxmlformats.org/drawingml/2006/main">
              <a:ext uri="{FF2B5EF4-FFF2-40B4-BE49-F238E27FC236}">
                <a16:creationId xmlns:a16="http://schemas.microsoft.com/office/drawing/2014/main" id="{98EC8C79-F3D2-4F0A-9FA7-1B92947F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SIGNAL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08E638-A766-4A1D-8FAA-3C6D126C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Log export requires a log">
            <a:extLst xmlns:a="http://schemas.openxmlformats.org/drawingml/2006/main">
              <a:ext uri="{FF2B5EF4-FFF2-40B4-BE49-F238E27FC236}">
                <a16:creationId xmlns:a16="http://schemas.microsoft.com/office/drawing/2014/main" id="{B92B268D-4736-49B0-9060-2E9D447FF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Log export requires a logging provider</a:t>
            </a:r>
          </a:p>
        </p:txBody>
      </p:sp>
      <p:sp>
        <p:nvSpPr>
          <p:cNvPr id="6" name="Use MySQL Enterprise, Hea">
            <a:extLst xmlns:a="http://schemas.openxmlformats.org/drawingml/2006/main">
              <a:ext uri="{FF2B5EF4-FFF2-40B4-BE49-F238E27FC236}">
                <a16:creationId xmlns:a16="http://schemas.microsoft.com/office/drawing/2014/main" id="{30F4FDCA-62A7-46B8-AEC5-8B2DFA6F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MySQL Enterprise, HeatWave, or a custom logging component before enabling logs.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A9F89-BC67-44A8-8EE0-1B59706F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279BC3AE-CB89-4E35-BB52-9DE3D002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2">
            <a:extLst xmlns:a="http://schemas.openxmlformats.org/drawingml/2006/main">
              <a:ext uri="{FF2B5EF4-FFF2-40B4-BE49-F238E27FC236}">
                <a16:creationId xmlns:a16="http://schemas.microsoft.com/office/drawing/2014/main" id="{CBFD66EB-A245-4A17-BAC8-B1EB6AD0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65D8C8-0802-48D3-B1B5-C7A9DB97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478BAC-849F-42BA-BA24-9EE477613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57150" cy="3133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-- With a supported loggi">
            <a:extLst xmlns:a="http://schemas.openxmlformats.org/drawingml/2006/main">
              <a:ext uri="{FF2B5EF4-FFF2-40B4-BE49-F238E27FC236}">
                <a16:creationId xmlns:a16="http://schemas.microsoft.com/office/drawing/2014/main" id="{EFF41FBB-CE31-4AB2-B121-08514CB0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14625"/>
            <a:ext cx="10515600" cy="280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With a supported logging provider installed: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telemetry.otel_exporter_otlp_logs_protocol = 'http/json';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telemetry.otel_exporter_otlp_logs_endpoint =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  'http://127.0.0.1:4318/v1/logs';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Restart for the exporter settings, then: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GLOBAL telemetry.log_enabled = ON;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350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GLOBAL STATUS LIKE 'Telemetry_logs_supported';</a:t>
            </a:r>
          </a:p>
        </p:txBody>
      </p:sp>
      <p:sp>
        <p:nvSpPr>
          <p:cNvPr id="13" name="The Community telemetry l">
            <a:extLst xmlns:a="http://schemas.openxmlformats.org/drawingml/2006/main">
              <a:ext uri="{FF2B5EF4-FFF2-40B4-BE49-F238E27FC236}">
                <a16:creationId xmlns:a16="http://schemas.microsoft.com/office/drawing/2014/main" id="{0FD3899D-2374-4BB4-9ED8-BC3AA2D80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The Community telemetry logging interface alone does not export log records.</a:t>
            </a:r>
          </a:p>
        </p:txBody>
      </p:sp>
    </p:spTree>
    <p:extLst>
      <p:ext uri="{BB962C8B-B14F-4D97-AF65-F5344CB8AC3E}">
        <p14:creationId xmlns:p14="http://schemas.microsoft.com/office/powerpoint/2010/main" val="138883482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72AA43-BC90-451F-8FB3-412A9E55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9BB0A93E-3B5D-43B8-BD5D-7EF2E52A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PUSH PATH">
            <a:extLst xmlns:a="http://schemas.openxmlformats.org/drawingml/2006/main">
              <a:ext uri="{FF2B5EF4-FFF2-40B4-BE49-F238E27FC236}">
                <a16:creationId xmlns:a16="http://schemas.microsoft.com/office/drawing/2014/main" id="{30BD0326-92C1-4841-B5E3-C0D8B30A4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PUSH PATH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4386759-1C8D-4C01-9608-A94AE5898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Enable signals, restart, ">
            <a:extLst xmlns:a="http://schemas.openxmlformats.org/drawingml/2006/main">
              <a:ext uri="{FF2B5EF4-FFF2-40B4-BE49-F238E27FC236}">
                <a16:creationId xmlns:a16="http://schemas.microsoft.com/office/drawing/2014/main" id="{14950E86-D4B7-4526-B335-973E46D4E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Enable signals, restart, then verify the effective settings</a:t>
            </a:r>
          </a:p>
        </p:txBody>
      </p:sp>
      <p:sp>
        <p:nvSpPr>
          <p:cNvPr id="6" name="Exporter and metrics sett">
            <a:extLst xmlns:a="http://schemas.openxmlformats.org/drawingml/2006/main">
              <a:ext uri="{FF2B5EF4-FFF2-40B4-BE49-F238E27FC236}">
                <a16:creationId xmlns:a16="http://schemas.microsoft.com/office/drawing/2014/main" id="{A2F3C392-1EF5-4C21-929B-1FF847651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Exporter and metrics settings are non-dynamic; apply them with a server restart.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0E04D-4A5D-4FE1-9E80-FCDC3E270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7ADBBBA3-C8C7-459C-9A2C-39B1EA63C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3">
            <a:extLst xmlns:a="http://schemas.openxmlformats.org/drawingml/2006/main">
              <a:ext uri="{FF2B5EF4-FFF2-40B4-BE49-F238E27FC236}">
                <a16:creationId xmlns:a16="http://schemas.microsoft.com/office/drawing/2014/main" id="{B6CCA18A-962F-4F23-840B-8F6E1DF4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05F973-88EE-41CA-9288-1D6734A6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1097280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97AD58-049B-4D80-89C2-625C2D24F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7150" cy="2771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ET PERSIST_ONLY telemetr">
            <a:extLst xmlns:a="http://schemas.openxmlformats.org/drawingml/2006/main">
              <a:ext uri="{FF2B5EF4-FFF2-40B4-BE49-F238E27FC236}">
                <a16:creationId xmlns:a16="http://schemas.microsoft.com/office/drawing/2014/main" id="{C4F82407-E8CE-4528-8E7C-F94960BB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52725"/>
            <a:ext cx="10515600" cy="243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telemetry.query_text_enabled = OFF;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telemetry.metrics_enabled = ON;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SET PERSIST_ONLY telemetry.trace_enabled = ON;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-- Restart mysqld, then inspect: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SHOW GLOBAL VARIABLES LIKE 'telemetry.%';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SELECT 1 AS telemetry_demo_query;</a:t>
            </a:r>
          </a:p>
        </p:txBody>
      </p:sp>
      <p:sp>
        <p:nvSpPr>
          <p:cNvPr id="13" name="query_text_enabled = OFF ">
            <a:extLst xmlns:a="http://schemas.openxmlformats.org/drawingml/2006/main">
              <a:ext uri="{FF2B5EF4-FFF2-40B4-BE49-F238E27FC236}">
                <a16:creationId xmlns:a16="http://schemas.microsoft.com/office/drawing/2014/main" id="{A0D9DFF4-C8E7-4BFF-A072-3BD4EBD70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668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query_text_enabled = OFF avoids exporting SQL text in this demo.</a:t>
            </a:r>
          </a:p>
        </p:txBody>
      </p:sp>
    </p:spTree>
    <p:extLst>
      <p:ext uri="{BB962C8B-B14F-4D97-AF65-F5344CB8AC3E}">
        <p14:creationId xmlns:p14="http://schemas.microsoft.com/office/powerpoint/2010/main" val="37081621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2810B9B-BBBB-49E3-B845-531C46AD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977C4B0B-F13F-45F4-97BD-AC1BA1E55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VERIFICATION">
            <a:extLst xmlns:a="http://schemas.openxmlformats.org/drawingml/2006/main">
              <a:ext uri="{FF2B5EF4-FFF2-40B4-BE49-F238E27FC236}">
                <a16:creationId xmlns:a16="http://schemas.microsoft.com/office/drawing/2014/main" id="{17B3F77D-0FED-4F54-91D3-903DE962A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VERIFICATION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F65E28-6A16-48C2-B7AF-1D69A1AB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Verify which telemetry si">
            <a:extLst xmlns:a="http://schemas.openxmlformats.org/drawingml/2006/main">
              <a:ext uri="{FF2B5EF4-FFF2-40B4-BE49-F238E27FC236}">
                <a16:creationId xmlns:a16="http://schemas.microsoft.com/office/drawing/2014/main" id="{F7EDA706-073A-4E41-93A1-2515ACAAE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Verify which telemetry signals are enabled</a:t>
            </a:r>
          </a:p>
        </p:txBody>
      </p:sp>
      <p:sp>
        <p:nvSpPr>
          <p:cNvPr id="6" name="Example output after conf">
            <a:extLst xmlns:a="http://schemas.openxmlformats.org/drawingml/2006/main">
              <a:ext uri="{FF2B5EF4-FFF2-40B4-BE49-F238E27FC236}">
                <a16:creationId xmlns:a16="http://schemas.microsoft.com/office/drawing/2014/main" id="{C14F5B68-F805-4DB9-9C0C-64E115657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Example output after configuring the traces-and-metrics demo; check your own server values.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D82327-0E3D-4ADE-B9A8-9A67A83A2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4418FED6-6D52-43D7-9A9F-6DAD6E6DE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4">
            <a:extLst xmlns:a="http://schemas.openxmlformats.org/drawingml/2006/main">
              <a:ext uri="{FF2B5EF4-FFF2-40B4-BE49-F238E27FC236}">
                <a16:creationId xmlns:a16="http://schemas.microsoft.com/office/drawing/2014/main" id="{E081B9B4-6698-4D96-8017-F11B4EC3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91649F-C3A3-41F0-B4BC-E9CB2CF40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1097280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925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B5DCAC-6AC9-4518-9AF3-8CFC8E3F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62225"/>
            <a:ext cx="57150" cy="3076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mysql&gt; SHOW GLOBAL VARIAB">
            <a:extLst xmlns:a="http://schemas.openxmlformats.org/drawingml/2006/main">
              <a:ext uri="{FF2B5EF4-FFF2-40B4-BE49-F238E27FC236}">
                <a16:creationId xmlns:a16="http://schemas.microsoft.com/office/drawing/2014/main" id="{76493204-D825-488D-9C00-EDC6C00E3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743200"/>
            <a:ext cx="10515600" cy="274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mysql&gt; SHOW GLOBAL VARIABLES LIKE '%tele%enable%';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+------------------------------+-------+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Variable_name                | Value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+------------------------------+-------+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telemetry.log_enabled        | OFF  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telemetry.metrics_enabled    | ON   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telemetry.query_text_enabled | OFF  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| telemetry.trace_enabled      | ON    |</a:t>
            </a:r>
          </a:p>
          <a:p xmlns:a="http://schemas.openxmlformats.org/drawingml/2006/main">
            <a:pPr algn="l">
              <a:lnSpc>
                <a:spcPct val="113000"/>
              </a:lnSpc>
              <a:buNone/>
              <a:defRPr sz="1575" b="0">
                <a:solidFill>
                  <a:srgbClr val="FFFFFF"/>
                </a:solidFill>
                <a:latin typeface="Menlo"/>
                <a:ea typeface="Menlo"/>
                <a:cs typeface="Menlo"/>
              </a:defRPr>
            </a:pPr>
            <a:r>
              <a:rPr sz="1575" b="0">
                <a:solidFill>
                  <a:srgbClr val="FFFFFF"/>
                </a:solidFill>
                <a:latin typeface="Menlo"/>
                <a:ea typeface="Menlo"/>
                <a:cs typeface="Menlo"/>
              </a:rPr>
              <a:t>+------------------------------+-------+</a:t>
            </a:r>
          </a:p>
        </p:txBody>
      </p:sp>
      <p:sp>
        <p:nvSpPr>
          <p:cNvPr id="13" name="Reading: metrics/traces O">
            <a:extLst xmlns:a="http://schemas.openxmlformats.org/drawingml/2006/main">
              <a:ext uri="{FF2B5EF4-FFF2-40B4-BE49-F238E27FC236}">
                <a16:creationId xmlns:a16="http://schemas.microsoft.com/office/drawing/2014/main" id="{949D9ADE-7B41-4517-87F5-3E7929B8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00725"/>
            <a:ext cx="107632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Reading: metrics/traces ON; logs/query text OFF. Confirm delivery at the receiver separately.</a:t>
            </a:r>
          </a:p>
        </p:txBody>
      </p:sp>
    </p:spTree>
    <p:extLst>
      <p:ext uri="{BB962C8B-B14F-4D97-AF65-F5344CB8AC3E}">
        <p14:creationId xmlns:p14="http://schemas.microsoft.com/office/powerpoint/2010/main" val="173369759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8C7CE27-0EB1-468D-A6B7-B032F3998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E4AA1718-4856-47F5-9891-F8089BCCD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DEMO A">
            <a:extLst xmlns:a="http://schemas.openxmlformats.org/drawingml/2006/main">
              <a:ext uri="{FF2B5EF4-FFF2-40B4-BE49-F238E27FC236}">
                <a16:creationId xmlns:a16="http://schemas.microsoft.com/office/drawing/2014/main" id="{2D9B30CD-F497-4F42-8DF4-CEC213995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DEMO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C34829-C9D4-4713-B562-3F8E938E4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Push walkthrough: prove e">
            <a:extLst xmlns:a="http://schemas.openxmlformats.org/drawingml/2006/main">
              <a:ext uri="{FF2B5EF4-FFF2-40B4-BE49-F238E27FC236}">
                <a16:creationId xmlns:a16="http://schemas.microsoft.com/office/drawing/2014/main" id="{48DC73A5-4418-485B-86DD-3F74163D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Push walkthrough: prove each hop in 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3F4430-5549-4CC7-B7DE-E5AB076B5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0EB651A2-7412-433F-A2A2-64C18BDD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15">
            <a:extLst xmlns:a="http://schemas.openxmlformats.org/drawingml/2006/main">
              <a:ext uri="{FF2B5EF4-FFF2-40B4-BE49-F238E27FC236}">
                <a16:creationId xmlns:a16="http://schemas.microsoft.com/office/drawing/2014/main" id="{D6838F58-4102-4FF0-A25C-C736A01E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9" name="01">
            <a:extLst xmlns:a="http://schemas.openxmlformats.org/drawingml/2006/main">
              <a:ext uri="{FF2B5EF4-FFF2-40B4-BE49-F238E27FC236}">
                <a16:creationId xmlns:a16="http://schemas.microsoft.com/office/drawing/2014/main" id="{AE5603AD-400E-4E31-AFA1-055C9E316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812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0" name="Start Collector">
            <a:extLst xmlns:a="http://schemas.openxmlformats.org/drawingml/2006/main">
              <a:ext uri="{FF2B5EF4-FFF2-40B4-BE49-F238E27FC236}">
                <a16:creationId xmlns:a16="http://schemas.microsoft.com/office/drawing/2014/main" id="{DF5F8827-5986-48F4-A7FD-70A3D98FF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812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Start Collector</a:t>
            </a:r>
          </a:p>
        </p:txBody>
      </p:sp>
      <p:sp>
        <p:nvSpPr>
          <p:cNvPr id="11" name="Run the Docker command an">
            <a:extLst xmlns:a="http://schemas.openxmlformats.org/drawingml/2006/main">
              <a:ext uri="{FF2B5EF4-FFF2-40B4-BE49-F238E27FC236}">
                <a16:creationId xmlns:a16="http://schemas.microsoft.com/office/drawing/2014/main" id="{9144F72A-DCD0-4A1E-9D75-02F38C0D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81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Run the Docker command and leave its terminal open.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133855-26D6-49DD-BAA8-68231959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384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02">
            <a:extLst xmlns:a="http://schemas.openxmlformats.org/drawingml/2006/main">
              <a:ext uri="{FF2B5EF4-FFF2-40B4-BE49-F238E27FC236}">
                <a16:creationId xmlns:a16="http://schemas.microsoft.com/office/drawing/2014/main" id="{EC33673E-8CAD-4D15-8CF3-62E5C88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337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Configure MySQL">
            <a:extLst xmlns:a="http://schemas.openxmlformats.org/drawingml/2006/main">
              <a:ext uri="{FF2B5EF4-FFF2-40B4-BE49-F238E27FC236}">
                <a16:creationId xmlns:a16="http://schemas.microsoft.com/office/drawing/2014/main" id="{CF981429-6F11-40FC-9D37-09D9598B9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133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Configure MySQL</a:t>
            </a:r>
          </a:p>
        </p:txBody>
      </p:sp>
      <p:sp>
        <p:nvSpPr>
          <p:cNvPr id="15" name="Use port 4318 in both end">
            <a:extLst xmlns:a="http://schemas.openxmlformats.org/drawingml/2006/main">
              <a:ext uri="{FF2B5EF4-FFF2-40B4-BE49-F238E27FC236}">
                <a16:creationId xmlns:a16="http://schemas.microsoft.com/office/drawing/2014/main" id="{FADCB082-781D-4707-822E-D5DFCC4B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1337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port 4318 in both endpoint URLs; restart and check SHOW GLOBAL VARIABLES.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50EB45-B4B7-4380-8922-57ECEECC9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03">
            <a:extLst xmlns:a="http://schemas.openxmlformats.org/drawingml/2006/main">
              <a:ext uri="{FF2B5EF4-FFF2-40B4-BE49-F238E27FC236}">
                <a16:creationId xmlns:a16="http://schemas.microsoft.com/office/drawing/2014/main" id="{142508C5-961D-4493-BD87-2C5D07F14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Generate activity">
            <a:extLst xmlns:a="http://schemas.openxmlformats.org/drawingml/2006/main">
              <a:ext uri="{FF2B5EF4-FFF2-40B4-BE49-F238E27FC236}">
                <a16:creationId xmlns:a16="http://schemas.microsoft.com/office/drawing/2014/main" id="{6887C8D6-52A7-4401-8AB6-CA850AB6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0862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Generate activity</a:t>
            </a:r>
          </a:p>
        </p:txBody>
      </p:sp>
      <p:sp>
        <p:nvSpPr>
          <p:cNvPr id="19" name="Connect to MySQL and run ">
            <a:extLst xmlns:a="http://schemas.openxmlformats.org/drawingml/2006/main">
              <a:ext uri="{FF2B5EF4-FFF2-40B4-BE49-F238E27FC236}">
                <a16:creationId xmlns:a16="http://schemas.microsoft.com/office/drawing/2014/main" id="{7E4CED91-1409-46FB-9B52-50D05681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0862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Connect to MySQL and run a short test workload or several SELECT statements.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637447-CF79-4A63-8633-D51C21EE8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434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04">
            <a:extLst xmlns:a="http://schemas.openxmlformats.org/drawingml/2006/main">
              <a:ext uri="{FF2B5EF4-FFF2-40B4-BE49-F238E27FC236}">
                <a16:creationId xmlns:a16="http://schemas.microsoft.com/office/drawing/2014/main" id="{FBB39A2C-EFBC-4C8A-9187-C47C49AF8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38725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2" name="Inspect output">
            <a:extLst xmlns:a="http://schemas.openxmlformats.org/drawingml/2006/main">
              <a:ext uri="{FF2B5EF4-FFF2-40B4-BE49-F238E27FC236}">
                <a16:creationId xmlns:a16="http://schemas.microsoft.com/office/drawing/2014/main" id="{A9368182-32BC-4B31-967E-9BA57111E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038725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Inspect output</a:t>
            </a:r>
          </a:p>
        </p:txBody>
      </p:sp>
      <p:sp>
        <p:nvSpPr>
          <p:cNvPr id="23" name="Wait for the export batch">
            <a:extLst xmlns:a="http://schemas.openxmlformats.org/drawingml/2006/main">
              <a:ext uri="{FF2B5EF4-FFF2-40B4-BE49-F238E27FC236}">
                <a16:creationId xmlns:a16="http://schemas.microsoft.com/office/drawing/2014/main" id="{9F8A4D66-F81B-4237-9A37-23C5851C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038725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Wait for the export batch; look for trace and metric records in Collector debug output.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5473B4-0622-42A8-9373-25B988373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95975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34942527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39B7CCB-34A0-4E3C-A5E4-92CECB04C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B65FC2D8-F578-44B7-AAD7-66CE7DF58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DEMO B">
            <a:extLst xmlns:a="http://schemas.openxmlformats.org/drawingml/2006/main">
              <a:ext uri="{FF2B5EF4-FFF2-40B4-BE49-F238E27FC236}">
                <a16:creationId xmlns:a16="http://schemas.microsoft.com/office/drawing/2014/main" id="{B2FA1F69-A4EA-4791-B108-725B4193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DEMO 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EA8737-4A63-41D2-BB3C-9D29A1FE0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Web demo walkthrough: see">
            <a:extLst xmlns:a="http://schemas.openxmlformats.org/drawingml/2006/main">
              <a:ext uri="{FF2B5EF4-FFF2-40B4-BE49-F238E27FC236}">
                <a16:creationId xmlns:a16="http://schemas.microsoft.com/office/drawing/2014/main" id="{B482A3BD-99C3-407A-A016-E36A9A56C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Web demo walkthrough: see imported OTLP JSON immediately</a:t>
            </a:r>
          </a:p>
        </p:txBody>
      </p:sp>
      <p:sp>
        <p:nvSpPr>
          <p:cNvPr id="6" name="The built-in receiver is ">
            <a:extLst xmlns:a="http://schemas.openxmlformats.org/drawingml/2006/main">
              <a:ext uri="{FF2B5EF4-FFF2-40B4-BE49-F238E27FC236}">
                <a16:creationId xmlns:a16="http://schemas.microsoft.com/office/drawing/2014/main" id="{1A7CEC89-8D5A-4CEC-8931-26D6EA55C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The built-in receiver is a local teaching aid; it is not a production Collector.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D4D393-13A3-4642-98AE-13D8A9C18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8788DB25-4424-42CA-B339-9AD368376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6">
            <a:extLst xmlns:a="http://schemas.openxmlformats.org/drawingml/2006/main">
              <a:ext uri="{FF2B5EF4-FFF2-40B4-BE49-F238E27FC236}">
                <a16:creationId xmlns:a16="http://schemas.microsoft.com/office/drawing/2014/main" id="{954F477F-E2BE-4E37-BF9D-D26EE2C7F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FE6E5849-D273-4E3A-BAF0-455088562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1" name="Start web app">
            <a:extLst xmlns:a="http://schemas.openxmlformats.org/drawingml/2006/main">
              <a:ext uri="{FF2B5EF4-FFF2-40B4-BE49-F238E27FC236}">
                <a16:creationId xmlns:a16="http://schemas.microsoft.com/office/drawing/2014/main" id="{7D28765B-9AE9-4D27-8ED3-421F1CC06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3431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Start web app</a:t>
            </a:r>
          </a:p>
        </p:txBody>
      </p:sp>
      <p:sp>
        <p:nvSpPr>
          <p:cNvPr id="12" name="Run node server.js, then ">
            <a:extLst xmlns:a="http://schemas.openxmlformats.org/drawingml/2006/main">
              <a:ext uri="{FF2B5EF4-FFF2-40B4-BE49-F238E27FC236}">
                <a16:creationId xmlns:a16="http://schemas.microsoft.com/office/drawing/2014/main" id="{6700A50B-6D00-459D-A0A2-FF0A9C9FE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3431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Run node server.js, then open http://127.0.0.1:4173/#telemetry.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865FC-E031-423D-B18C-260CBA88F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04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02">
            <a:extLst xmlns:a="http://schemas.openxmlformats.org/drawingml/2006/main">
              <a:ext uri="{FF2B5EF4-FFF2-40B4-BE49-F238E27FC236}">
                <a16:creationId xmlns:a16="http://schemas.microsoft.com/office/drawing/2014/main" id="{868B869C-9492-44C4-8B67-AB12EBBA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5" name="Check the receiver">
            <a:extLst xmlns:a="http://schemas.openxmlformats.org/drawingml/2006/main">
              <a:ext uri="{FF2B5EF4-FFF2-40B4-BE49-F238E27FC236}">
                <a16:creationId xmlns:a16="http://schemas.microsoft.com/office/drawing/2014/main" id="{A00722B5-47BD-47C7-B831-4FF48625F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3337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Check the receiver</a:t>
            </a:r>
          </a:p>
        </p:txBody>
      </p:sp>
      <p:sp>
        <p:nvSpPr>
          <p:cNvPr id="16" name="Click “Import sample OTLP">
            <a:extLst xmlns:a="http://schemas.openxmlformats.org/drawingml/2006/main">
              <a:ext uri="{FF2B5EF4-FFF2-40B4-BE49-F238E27FC236}">
                <a16:creationId xmlns:a16="http://schemas.microsoft.com/office/drawing/2014/main" id="{871C48C6-117E-4FE7-821D-48CDF3369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3337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Click “Import sample OTLP JSON” or upload an OTLP JSON file.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237EE5-504B-4AA5-8C6A-0A3FA57E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03">
            <a:extLst xmlns:a="http://schemas.openxmlformats.org/drawingml/2006/main">
              <a:ext uri="{FF2B5EF4-FFF2-40B4-BE49-F238E27FC236}">
                <a16:creationId xmlns:a16="http://schemas.microsoft.com/office/drawing/2014/main" id="{520996B0-8012-4DCC-B2CF-C65091F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2435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4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Point MySQL at :4173">
            <a:extLst xmlns:a="http://schemas.openxmlformats.org/drawingml/2006/main">
              <a:ext uri="{FF2B5EF4-FFF2-40B4-BE49-F238E27FC236}">
                <a16:creationId xmlns:a16="http://schemas.microsoft.com/office/drawing/2014/main" id="{EF899D0D-75A0-41DA-9BF9-A10DFF957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24350"/>
            <a:ext cx="381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Point MySQL at :4173</a:t>
            </a:r>
          </a:p>
        </p:txBody>
      </p:sp>
      <p:sp>
        <p:nvSpPr>
          <p:cNvPr id="20" name="Use the push-path SQL on ">
            <a:extLst xmlns:a="http://schemas.openxmlformats.org/drawingml/2006/main">
              <a:ext uri="{FF2B5EF4-FFF2-40B4-BE49-F238E27FC236}">
                <a16:creationId xmlns:a16="http://schemas.microsoft.com/office/drawing/2014/main" id="{A2F0E3E8-5F1E-4348-BD7E-D5321E342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324350"/>
            <a:ext cx="619125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Use the push-path SQL on the preceding slides; restart MySQL and run test queries.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B8C61C7-16BE-4B69-8973-5BF20E28B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816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ows identify sample, fil">
            <a:extLst xmlns:a="http://schemas.openxmlformats.org/drawingml/2006/main">
              <a:ext uri="{FF2B5EF4-FFF2-40B4-BE49-F238E27FC236}">
                <a16:creationId xmlns:a16="http://schemas.microsoft.com/office/drawing/2014/main" id="{4134D173-B554-4599-9D3C-656CB14B0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14975"/>
            <a:ext cx="10763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Rows identify sample, file import, or OTLP source. The dashboard does not query MySQL.</a:t>
            </a:r>
          </a:p>
        </p:txBody>
      </p:sp>
    </p:spTree>
    <p:extLst>
      <p:ext uri="{BB962C8B-B14F-4D97-AF65-F5344CB8AC3E}">
        <p14:creationId xmlns:p14="http://schemas.microsoft.com/office/powerpoint/2010/main" val="4567997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02E0210-F7EA-4A02-9A9C-64C0944C1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79013185-2494-4DEF-8AA8-AE4AD5478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TROUBLESHOOTING">
            <a:extLst xmlns:a="http://schemas.openxmlformats.org/drawingml/2006/main">
              <a:ext uri="{FF2B5EF4-FFF2-40B4-BE49-F238E27FC236}">
                <a16:creationId xmlns:a16="http://schemas.microsoft.com/office/drawing/2014/main" id="{811BC99E-CCA1-437E-B2EF-D53A2ED57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TROUBLESHOOTING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90C5C5-8A15-410B-8944-F23BE2F6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If no data arrives, check">
            <a:extLst xmlns:a="http://schemas.openxmlformats.org/drawingml/2006/main">
              <a:ext uri="{FF2B5EF4-FFF2-40B4-BE49-F238E27FC236}">
                <a16:creationId xmlns:a16="http://schemas.microsoft.com/office/drawing/2014/main" id="{05148730-C1CF-4C03-8F6B-9C0654EE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If no data arrives, check the chosen path first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7BD7DE-612B-4119-9106-83105A86C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4D7226DD-DC08-4CCF-A04D-955EF250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8" name="17">
            <a:extLst xmlns:a="http://schemas.openxmlformats.org/drawingml/2006/main">
              <a:ext uri="{FF2B5EF4-FFF2-40B4-BE49-F238E27FC236}">
                <a16:creationId xmlns:a16="http://schemas.microsoft.com/office/drawing/2014/main" id="{7A8CDB80-E64F-4648-A554-3CCCDDD1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sp>
        <p:nvSpPr>
          <p:cNvPr id="9" name="Polling checks">
            <a:extLst xmlns:a="http://schemas.openxmlformats.org/drawingml/2006/main">
              <a:ext uri="{FF2B5EF4-FFF2-40B4-BE49-F238E27FC236}">
                <a16:creationId xmlns:a16="http://schemas.microsoft.com/office/drawing/2014/main" id="{2CCE7FAF-BAA9-49F5-9F18-02329113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Polling checks</a:t>
            </a:r>
          </a:p>
        </p:txBody>
      </p:sp>
      <p:sp>
        <p:nvSpPr>
          <p:cNvPr id="10" name="Use Collector Contrib and">
            <a:extLst xmlns:a="http://schemas.openxmlformats.org/drawingml/2006/main">
              <a:ext uri="{FF2B5EF4-FFF2-40B4-BE49-F238E27FC236}">
                <a16:creationId xmlns:a16="http://schemas.microsoft.com/office/drawing/2014/main" id="{D0508353-DD86-4C17-B994-72D05D620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Collector Contrib and a reachable MySQL :3306 endpoint. Check the monitoring account, collection interval, and Collector errors.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6F8BBC-BDD3-4233-A240-11878128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ush checks">
            <a:extLst xmlns:a="http://schemas.openxmlformats.org/drawingml/2006/main">
              <a:ext uri="{FF2B5EF4-FFF2-40B4-BE49-F238E27FC236}">
                <a16:creationId xmlns:a16="http://schemas.microsoft.com/office/drawing/2014/main" id="{91AFCBD7-74CC-4F15-BBD6-5A8BE9804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Push checks</a:t>
            </a:r>
          </a:p>
        </p:txBody>
      </p:sp>
      <p:sp>
        <p:nvSpPr>
          <p:cNvPr id="13" name="Confirm component, protoc">
            <a:extLst xmlns:a="http://schemas.openxmlformats.org/drawingml/2006/main">
              <a:ext uri="{FF2B5EF4-FFF2-40B4-BE49-F238E27FC236}">
                <a16:creationId xmlns:a16="http://schemas.microsoft.com/office/drawing/2014/main" id="{1C2E733C-B784-4FEA-A6F1-804D75944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Confirm component, protocol, endpoint and restart. The web receiver accepts JSON only; protobuf gets HTTP 415. Check the MySQL error log.</a:t>
            </a:r>
          </a:p>
        </p:txBody>
      </p:sp>
      <p:sp>
        <p:nvSpPr>
          <p:cNvPr id="14" name="Log export is separate: t">
            <a:extLst xmlns:a="http://schemas.openxmlformats.org/drawingml/2006/main">
              <a:ext uri="{FF2B5EF4-FFF2-40B4-BE49-F238E27FC236}">
                <a16:creationId xmlns:a16="http://schemas.microsoft.com/office/drawing/2014/main" id="{17AC3656-93C0-434B-B0D7-86A5B53B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10572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425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Log export is separate: the illustrative demo log does not mean Community logging export is enabled.</a:t>
            </a:r>
          </a:p>
        </p:txBody>
      </p:sp>
    </p:spTree>
    <p:extLst>
      <p:ext uri="{BB962C8B-B14F-4D97-AF65-F5344CB8AC3E}">
        <p14:creationId xmlns:p14="http://schemas.microsoft.com/office/powerpoint/2010/main" val="41772551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4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1371D0C-F3CA-4A67-AF29-7933E4504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5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46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ORACLE  /  MySQL 9.7">
            <a:extLst xmlns:a="http://schemas.openxmlformats.org/drawingml/2006/main">
              <a:ext uri="{FF2B5EF4-FFF2-40B4-BE49-F238E27FC236}">
                <a16:creationId xmlns:a16="http://schemas.microsoft.com/office/drawing/2014/main" id="{06B6684E-D30E-4147-8B8A-38F429191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4800"/>
            <a:ext cx="3524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ORACLE  /  MySQL 9.7</a:t>
            </a:r>
          </a:p>
        </p:txBody>
      </p:sp>
      <p:sp>
        <p:nvSpPr>
          <p:cNvPr id="3" name="TAKEAWAY">
            <a:extLst xmlns:a="http://schemas.openxmlformats.org/drawingml/2006/main">
              <a:ext uri="{FF2B5EF4-FFF2-40B4-BE49-F238E27FC236}">
                <a16:creationId xmlns:a16="http://schemas.microsoft.com/office/drawing/2014/main" id="{06651145-DB2B-4BDB-96BC-F868C2543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3850"/>
            <a:ext cx="2705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75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TAKEAWAY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205358-A929-48C9-B1E4-0DD06E43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715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Use the collection model ">
            <a:extLst xmlns:a="http://schemas.openxmlformats.org/drawingml/2006/main">
              <a:ext uri="{FF2B5EF4-FFF2-40B4-BE49-F238E27FC236}">
                <a16:creationId xmlns:a16="http://schemas.microsoft.com/office/drawing/2014/main" id="{33215F75-1EA0-46D0-B8BA-6958A72F6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109728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75" b="1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the collection model that matches the question</a:t>
            </a:r>
          </a:p>
        </p:txBody>
      </p:sp>
      <p:sp>
        <p:nvSpPr>
          <p:cNvPr id="6" name="Polling supplies periodic">
            <a:extLst xmlns:a="http://schemas.openxmlformats.org/drawingml/2006/main">
              <a:ext uri="{FF2B5EF4-FFF2-40B4-BE49-F238E27FC236}">
                <a16:creationId xmlns:a16="http://schemas.microsoft.com/office/drawing/2014/main" id="{0A5E106E-FEAA-4346-BDBF-1945871AB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572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Polling supplies periodic server state; the component pushes instrumented events.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5C36831-CA4A-4598-A444-766FB3F2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627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MYSQL TELEMETRY  ·  DEEP ">
            <a:extLst xmlns:a="http://schemas.openxmlformats.org/drawingml/2006/main">
              <a:ext uri="{FF2B5EF4-FFF2-40B4-BE49-F238E27FC236}">
                <a16:creationId xmlns:a16="http://schemas.microsoft.com/office/drawing/2014/main" id="{AA9BFCAB-A08B-4E4A-B043-8348C62D0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5F5A55"/>
                </a:solidFill>
                <a:latin typeface="Arial"/>
                <a:ea typeface="Arial"/>
                <a:cs typeface="Arial"/>
              </a:rPr>
              <a:t>MYSQL TELEMETRY  ·  DEEP DIVE</a:t>
            </a:r>
          </a:p>
        </p:txBody>
      </p:sp>
      <p:sp>
        <p:nvSpPr>
          <p:cNvPr id="9" name="18">
            <a:extLst xmlns:a="http://schemas.openxmlformats.org/drawingml/2006/main">
              <a:ext uri="{FF2B5EF4-FFF2-40B4-BE49-F238E27FC236}">
                <a16:creationId xmlns:a16="http://schemas.microsoft.com/office/drawing/2014/main" id="{44C7F8C0-1966-44B1-951D-15C7E2BB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77575" y="6448425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0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10" name="Polling receiver">
            <a:extLst xmlns:a="http://schemas.openxmlformats.org/drawingml/2006/main">
              <a:ext uri="{FF2B5EF4-FFF2-40B4-BE49-F238E27FC236}">
                <a16:creationId xmlns:a16="http://schemas.microsoft.com/office/drawing/2014/main" id="{A79C460E-26BD-400C-B4D4-AD5EDDC1F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Polling receiver</a:t>
            </a:r>
          </a:p>
        </p:txBody>
      </p:sp>
      <p:sp>
        <p:nvSpPr>
          <p:cNvPr id="11" name="Use the Contrib MySQL rec">
            <a:extLst xmlns:a="http://schemas.openxmlformats.org/drawingml/2006/main">
              <a:ext uri="{FF2B5EF4-FFF2-40B4-BE49-F238E27FC236}">
                <a16:creationId xmlns:a16="http://schemas.microsoft.com/office/drawing/2014/main" id="{920C5460-2537-44F6-9DF9-B170BE1A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the Contrib MySQL receiver for periodic status and InnoDB metrics with a monitored database login.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DA0D2F-AEA1-406C-B948-41AF180D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2533650"/>
            <a:ext cx="19050" cy="2914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1C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ush component">
            <a:extLst xmlns:a="http://schemas.openxmlformats.org/drawingml/2006/main">
              <a:ext uri="{FF2B5EF4-FFF2-40B4-BE49-F238E27FC236}">
                <a16:creationId xmlns:a16="http://schemas.microsoft.com/office/drawing/2014/main" id="{DA9D4AE4-94B6-4A73-8C7F-E34B71BD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71750"/>
            <a:ext cx="5143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00758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58F"/>
                </a:solidFill>
                <a:latin typeface="Arial"/>
                <a:ea typeface="Arial"/>
                <a:cs typeface="Arial"/>
              </a:rPr>
              <a:t>Push component</a:t>
            </a:r>
          </a:p>
        </p:txBody>
      </p:sp>
      <p:sp>
        <p:nvSpPr>
          <p:cNvPr id="14" name="Use MySQL 9.7 telemetry f">
            <a:extLst xmlns:a="http://schemas.openxmlformats.org/drawingml/2006/main">
              <a:ext uri="{FF2B5EF4-FFF2-40B4-BE49-F238E27FC236}">
                <a16:creationId xmlns:a16="http://schemas.microsoft.com/office/drawing/2014/main" id="{D86B15C1-6C21-4946-9BED-4A5024E04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105150"/>
            <a:ext cx="50292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0">
                <a:solidFill>
                  <a:srgbClr val="24211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4211F"/>
                </a:solidFill>
                <a:latin typeface="Arial"/>
                <a:ea typeface="Arial"/>
                <a:cs typeface="Arial"/>
              </a:rPr>
              <a:t>Use MySQL 9.7 telemetry for native trace spans and metrics over OTLP. Add a supported logging provider when logs are needed.</a:t>
            </a:r>
          </a:p>
        </p:txBody>
      </p:sp>
      <p:sp>
        <p:nvSpPr>
          <p:cNvPr id="15" name="References">
            <a:extLst xmlns:a="http://schemas.openxmlformats.org/drawingml/2006/main">
              <a:ext uri="{FF2B5EF4-FFF2-40B4-BE49-F238E27FC236}">
                <a16:creationId xmlns:a16="http://schemas.microsoft.com/office/drawing/2014/main" id="{322E9E43-36BB-416F-9E02-D79BBE23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66687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C74634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C74634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16" name="dev.mysql.com/doc/refman/">
            <a:extLst xmlns:a="http://schemas.openxmlformats.org/drawingml/2006/main">
              <a:ext uri="{FF2B5EF4-FFF2-40B4-BE49-F238E27FC236}">
                <a16:creationId xmlns:a16="http://schemas.microsoft.com/office/drawing/2014/main" id="{98360F92-994A-4456-93F4-ACD10695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5F5A55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F5A55"/>
                </a:solidFill>
                <a:latin typeface="Arial"/>
                <a:ea typeface="Arial"/>
                <a:cs typeface="Arial"/>
              </a:rPr>
              <a:t>dev.mysql.com/doc/refman/9.7/en/telemetry.html   ·   github.com/open-telemetry/opentelemetry-collector-contrib/receiver/mysqlreceiver</a:t>
            </a:r>
          </a:p>
        </p:txBody>
      </p:sp>
    </p:spTree>
    <p:extLst>
      <p:ext uri="{BB962C8B-B14F-4D97-AF65-F5344CB8AC3E}">
        <p14:creationId xmlns:p14="http://schemas.microsoft.com/office/powerpoint/2010/main" val="10981032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2026-09-28T08:30:59.8970000Z</dcterms:created>
  <dcterms:modified xsi:type="dcterms:W3CDTF">2026-09-28T08:30:59.8970000Z</dcterms:modified>
</coreProperties>
</file>