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c1fb8eff34277" /><Relationship Type="http://schemas.openxmlformats.org/officeDocument/2006/relationships/extended-properties" Target="/docProps/app.xml" Id="R9460d68a2f024f00" /><Relationship Type="http://schemas.openxmlformats.org/officeDocument/2006/relationships/officeDocument" Target="/ppt/presentation.xml" Id="Rd132893d2f4c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d5a8dbf6e4eb0"/>
  </p:sldMasterIdLst>
  <p:notesMasterIdLst>
    <p:notesMasterId xmlns:r="http://schemas.openxmlformats.org/officeDocument/2006/relationships" r:id="R41963370aaac4fba"/>
  </p:notesMasterIdLst>
  <p:sldIdLst>
    <p:sldId xmlns:r="http://schemas.openxmlformats.org/officeDocument/2006/relationships" id="256" r:id="Rb7b313bacd1d4d08"/>
    <p:sldId xmlns:r="http://schemas.openxmlformats.org/officeDocument/2006/relationships" id="257" r:id="Rdbbadaa8f7fe4b83"/>
    <p:sldId xmlns:r="http://schemas.openxmlformats.org/officeDocument/2006/relationships" id="258" r:id="R9647178ae7664070"/>
    <p:sldId xmlns:r="http://schemas.openxmlformats.org/officeDocument/2006/relationships" id="259" r:id="R9aacee917cae48b6"/>
    <p:sldId xmlns:r="http://schemas.openxmlformats.org/officeDocument/2006/relationships" id="260" r:id="Ra2c98dda241d4b30"/>
    <p:sldId xmlns:r="http://schemas.openxmlformats.org/officeDocument/2006/relationships" id="261" r:id="R71201751f94e4c60"/>
    <p:sldId xmlns:r="http://schemas.openxmlformats.org/officeDocument/2006/relationships" id="262" r:id="Rbd180f1e7f014d7e"/>
    <p:sldId xmlns:r="http://schemas.openxmlformats.org/officeDocument/2006/relationships" id="263" r:id="R6290d5021e124dae"/>
    <p:sldId xmlns:r="http://schemas.openxmlformats.org/officeDocument/2006/relationships" id="264" r:id="R41cf8856dba742b4"/>
    <p:sldId xmlns:r="http://schemas.openxmlformats.org/officeDocument/2006/relationships" id="265" r:id="Rea0a64ade2db436a"/>
    <p:sldId xmlns:r="http://schemas.openxmlformats.org/officeDocument/2006/relationships" id="266" r:id="R580fe4b0578c49b7"/>
    <p:sldId xmlns:r="http://schemas.openxmlformats.org/officeDocument/2006/relationships" id="267" r:id="Rdf5c9f7ba0394b64"/>
    <p:sldId xmlns:r="http://schemas.openxmlformats.org/officeDocument/2006/relationships" id="268" r:id="Rb3a45a71d0614332"/>
    <p:sldId xmlns:r="http://schemas.openxmlformats.org/officeDocument/2006/relationships" id="269" r:id="R8cb367e48f5f4f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eb2f453694734" /><Relationship Type="http://schemas.openxmlformats.org/officeDocument/2006/relationships/slideMaster" Target="/ppt/slideMasters/slideMaster1.xml" Id="Re2dd5a8dbf6e4eb0" /><Relationship Type="http://schemas.openxmlformats.org/officeDocument/2006/relationships/notesMaster" Target="/ppt/notesMasters/notesMaster1.xml" Id="R41963370aaac4fba" /><Relationship Type="http://schemas.openxmlformats.org/officeDocument/2006/relationships/presProps" Target="/ppt/presProps.xml" Id="R20eace54e4804840" /><Relationship Type="http://schemas.openxmlformats.org/officeDocument/2006/relationships/tableStyles" Target="/ppt/tableStyles.xml" Id="R08c2f39d823d4744" /><Relationship Type="http://schemas.openxmlformats.org/officeDocument/2006/relationships/slide" Target="/ppt/slides/slide1.xml" Id="Rb7b313bacd1d4d08" /><Relationship Type="http://schemas.openxmlformats.org/officeDocument/2006/relationships/slide" Target="/ppt/slides/slide2.xml" Id="Rdbbadaa8f7fe4b83" /><Relationship Type="http://schemas.openxmlformats.org/officeDocument/2006/relationships/slide" Target="/ppt/slides/slide3.xml" Id="R9647178ae7664070" /><Relationship Type="http://schemas.openxmlformats.org/officeDocument/2006/relationships/slide" Target="/ppt/slides/slide4.xml" Id="R9aacee917cae48b6" /><Relationship Type="http://schemas.openxmlformats.org/officeDocument/2006/relationships/slide" Target="/ppt/slides/slide5.xml" Id="Ra2c98dda241d4b30" /><Relationship Type="http://schemas.openxmlformats.org/officeDocument/2006/relationships/slide" Target="/ppt/slides/slide6.xml" Id="R71201751f94e4c60" /><Relationship Type="http://schemas.openxmlformats.org/officeDocument/2006/relationships/slide" Target="/ppt/slides/slide7.xml" Id="Rbd180f1e7f014d7e" /><Relationship Type="http://schemas.openxmlformats.org/officeDocument/2006/relationships/slide" Target="/ppt/slides/slide8.xml" Id="R6290d5021e124dae" /><Relationship Type="http://schemas.openxmlformats.org/officeDocument/2006/relationships/slide" Target="/ppt/slides/slide9.xml" Id="R41cf8856dba742b4" /><Relationship Type="http://schemas.openxmlformats.org/officeDocument/2006/relationships/slide" Target="/ppt/slides/slide10.xml" Id="Rea0a64ade2db436a" /><Relationship Type="http://schemas.openxmlformats.org/officeDocument/2006/relationships/slide" Target="/ppt/slides/slide11.xml" Id="R580fe4b0578c49b7" /><Relationship Type="http://schemas.openxmlformats.org/officeDocument/2006/relationships/slide" Target="/ppt/slides/slide12.xml" Id="Rdf5c9f7ba0394b64" /><Relationship Type="http://schemas.openxmlformats.org/officeDocument/2006/relationships/slide" Target="/ppt/slides/slide13.xml" Id="Rb3a45a71d0614332" /><Relationship Type="http://schemas.openxmlformats.org/officeDocument/2006/relationships/slide" Target="/ppt/slides/slide14.xml" Id="R8cb367e48f5f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b840ca43c5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bc1dfc1834a25" /><Relationship Type="http://schemas.openxmlformats.org/officeDocument/2006/relationships/notesMaster" Target="/ppt/notesMasters/notesMaster1.xml" Id="R08489310de15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8dce40b674640" /><Relationship Type="http://schemas.openxmlformats.org/officeDocument/2006/relationships/notesMaster" Target="/ppt/notesMasters/notesMaster1.xml" Id="R4951145f22e9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d71243ab14891" /><Relationship Type="http://schemas.openxmlformats.org/officeDocument/2006/relationships/notesMaster" Target="/ppt/notesMasters/notesMaster1.xml" Id="R0556ddd1ff0f4f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0a72fe5ef4eb2" /><Relationship Type="http://schemas.openxmlformats.org/officeDocument/2006/relationships/notesMaster" Target="/ppt/notesMasters/notesMaster1.xml" Id="R6e8f4fc37c9c4d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63f7c15b94622" /><Relationship Type="http://schemas.openxmlformats.org/officeDocument/2006/relationships/notesMaster" Target="/ppt/notesMasters/notesMaster1.xml" Id="Rbbf72ed683324a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3bef8d376345d8" /><Relationship Type="http://schemas.openxmlformats.org/officeDocument/2006/relationships/notesMaster" Target="/ppt/notesMasters/notesMaster1.xml" Id="R9417ca1b397a4c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58a777841c4b61" /><Relationship Type="http://schemas.openxmlformats.org/officeDocument/2006/relationships/notesMaster" Target="/ppt/notesMasters/notesMaster1.xml" Id="R01d5ef5065bd44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7a52a2eb84d54" /><Relationship Type="http://schemas.openxmlformats.org/officeDocument/2006/relationships/notesMaster" Target="/ppt/notesMasters/notesMaster1.xml" Id="R88e20e4e63624d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4ef33b9dee4593" /><Relationship Type="http://schemas.openxmlformats.org/officeDocument/2006/relationships/notesMaster" Target="/ppt/notesMasters/notesMaster1.xml" Id="R2c362b9c17f54e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932853c3f24672" /><Relationship Type="http://schemas.openxmlformats.org/officeDocument/2006/relationships/notesMaster" Target="/ppt/notesMasters/notesMaster1.xml" Id="Rd1f55118efb849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6cd54fed514a38" /><Relationship Type="http://schemas.openxmlformats.org/officeDocument/2006/relationships/notesMaster" Target="/ppt/notesMasters/notesMaster1.xml" Id="Rf836344b799441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19353308fb4e72" /><Relationship Type="http://schemas.openxmlformats.org/officeDocument/2006/relationships/notesMaster" Target="/ppt/notesMasters/notesMaster1.xml" Id="R643895f56a2d48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d1364414514263" /><Relationship Type="http://schemas.openxmlformats.org/officeDocument/2006/relationships/notesMaster" Target="/ppt/notesMasters/notesMaster1.xml" Id="Ra411b03727c846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928fe0ff5a41c8" /><Relationship Type="http://schemas.openxmlformats.org/officeDocument/2006/relationships/notesMaster" Target="/ppt/notesMasters/notesMaster1.xml" Id="R897081b7de24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0925c366d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9fc30c6ac492c" /><Relationship Type="http://schemas.openxmlformats.org/officeDocument/2006/relationships/slideLayout" Target="/ppt/slideLayouts/slideLayout1.xml" Id="R59e1e32a4a44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1e32a4a44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96f9b6e5e4743" /><Relationship Type="http://schemas.openxmlformats.org/officeDocument/2006/relationships/image" Target="/ppt/media/image.png" Id="R38e99f1fb4cb4aef" /><Relationship Type="http://schemas.openxmlformats.org/officeDocument/2006/relationships/notesSlide" Target="/ppt/notesSlides/notesSlide1.xml" Id="Ra417edd3ef01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0c6d996fe4dc7" /><Relationship Type="http://schemas.openxmlformats.org/officeDocument/2006/relationships/notesSlide" Target="/ppt/notesSlides/notesSlide2.xml" Id="R4e6ca5a37636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1c0774faa461b" /><Relationship Type="http://schemas.openxmlformats.org/officeDocument/2006/relationships/notesSlide" Target="/ppt/notesSlides/notesSlide3.xml" Id="R22f9b24c93794d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7edf2c8ec47ed" /><Relationship Type="http://schemas.openxmlformats.org/officeDocument/2006/relationships/notesSlide" Target="/ppt/notesSlides/notesSlide4.xml" Id="R269446ea5a70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ec7ea6e96455c" /><Relationship Type="http://schemas.openxmlformats.org/officeDocument/2006/relationships/notesSlide" Target="/ppt/notesSlides/notesSlide5.xml" Id="Rfa483f546af04c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58e1fee00412b" /><Relationship Type="http://schemas.openxmlformats.org/officeDocument/2006/relationships/notesSlide" Target="/ppt/notesSlides/notesSlide6.xml" Id="Rd8ecbc5f8633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4a8b566145ba" /><Relationship Type="http://schemas.openxmlformats.org/officeDocument/2006/relationships/notesSlide" Target="/ppt/notesSlides/notesSlide7.xml" Id="R5cc32d07e76e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df0bdb875450f" /><Relationship Type="http://schemas.openxmlformats.org/officeDocument/2006/relationships/notesSlide" Target="/ppt/notesSlides/notesSlide8.xml" Id="R22008c03dbb848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6c2aedc24fc4" /><Relationship Type="http://schemas.openxmlformats.org/officeDocument/2006/relationships/notesSlide" Target="/ppt/notesSlides/notesSlide9.xml" Id="Re9be8b0042e441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86a2c48014a7e" /><Relationship Type="http://schemas.openxmlformats.org/officeDocument/2006/relationships/notesSlide" Target="/ppt/notesSlides/notesSlide10.xml" Id="R86b664b510e540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acabb3fd84ab3" /><Relationship Type="http://schemas.openxmlformats.org/officeDocument/2006/relationships/notesSlide" Target="/ppt/notesSlides/notesSlide11.xml" Id="R8d30add8fbcf4f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cf8e74e874807" /><Relationship Type="http://schemas.openxmlformats.org/officeDocument/2006/relationships/notesSlide" Target="/ppt/notesSlides/notesSlide12.xml" Id="R639235d31ea948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078ee9b54063" /><Relationship Type="http://schemas.openxmlformats.org/officeDocument/2006/relationships/notesSlide" Target="/ppt/notesSlides/notesSlide13.xml" Id="Rf7486fe2d62548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7a60077fb4026" /><Relationship Type="http://schemas.openxmlformats.org/officeDocument/2006/relationships/notesSlide" Target="/ppt/notesSlides/notesSlide14.xml" Id="R86608fcfea504c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73FE419-586A-4FC6-94E0-EF38750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9C8CF9-6B40-45CB-A19A-D2B4123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MYSQL 9.7 · QUERY PERFORMANCE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F96B62-DDE6-45F8-BD9C-1299C2A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Hypergraph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F63B781-7AE8-4A4A-BC87-9F742D0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D1A21-8C38-4D88-8DE4-30B4FF4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Why plans change—and when queries run faster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8AD0EA-73B6-4CE5-8280-DE4DD92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Background, evidence, and a hands-on comparison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9f1fb4cb4aef"/>
          <a:stretch xmlns:a="http://schemas.openxmlformats.org/drawingml/2006/main"/>
        </p:blipFill>
        <p:spPr>
          <a:xfrm xmlns:a="http://schemas.openxmlformats.org/drawingml/2006/main">
            <a:off x="10052517" y="400050"/>
            <a:ext cx="1183341" cy="8001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46AB1B-5205-420E-8AF0-24119FD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ORACLE-INSPIRED TECHNICAL BRIEFING</a:t>
            </a:r>
          </a:p>
        </p:txBody>
      </p:sp>
    </p:spTree>
    <p:extLst>
      <p:ext uri="{BB962C8B-B14F-4D97-AF65-F5344CB8AC3E}">
        <p14:creationId xmlns:p14="http://schemas.microsoft.com/office/powerpoint/2010/main" val="68323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42E9780-F7A1-42C2-A6C8-8132191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0DE4C0-6086-4DBB-84BE-22B4A5C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8542A-76D4-418F-9DC2-9FEF8EF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 SQL statement can have many valid execution plans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9ACDD36-D791-4D0B-A9EA-AB3E4B8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68411346-0E04-42FF-B280-F39F978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9.7 Reference Manual · EXPLAIN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2FCD0-E9E5-428B-8340-CAD9583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FD951AB0-97F6-4737-BDCC-B7C84D3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FROM SQL TO RESULT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20F893-FE88-4C86-B20D-C64260F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319F05-6C02-48E3-9656-37BFFF9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One SELECT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80652D-7279-42AB-9B8D-8C97E2E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4072C1-10F6-4E88-8F1F-120B7421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OPTIMIZER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C99CB0-BBDF-44B2-9AA7-52BD0B8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Explore plans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78501D-FEB6-48D1-827E-0926A14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9F97B0-BFA0-43ED-9501-C1759F5E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833623-9CEB-4E42-AB7C-0C6BFCC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Join + access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774840-9C19-4FE7-972B-8796A7A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47BCEF-52FB-412B-9F2F-08E9562F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45C622-9768-4A64-9461-AEF7BD09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Read + combine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6D803B-D498-499A-86C1-73F26AF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E9FA55-F641-49AC-ACB1-04C24AD3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70FF38-AC7E-4277-8E78-2E4823D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Same rows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062C3BA-C221-4F2E-83ED-FDDD683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D4E3D4-D778-44DE-81A5-8E1DEF1D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19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Join order and method determine how many rows and lookups are processed before the answer arrives.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C8151667-A5F2-42DC-BD10-17ECAA1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EXPLAIN ANALYZE reports the plan and what actually ran.</a:t>
            </a:r>
          </a:p>
        </p:txBody>
      </p:sp>
    </p:spTree>
    <p:extLst>
      <p:ext uri="{BB962C8B-B14F-4D97-AF65-F5344CB8AC3E}">
        <p14:creationId xmlns:p14="http://schemas.microsoft.com/office/powerpoint/2010/main" val="78923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D1BCB258-FD00-422F-8668-E03F450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20912D0-3137-4DE5-A6F4-14AA2B1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EE9319-35B5-47DE-8EAB-A467F0F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Complex joins expose the limits of a narrow plan search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C2A761-DB03-4D48-905E-BEC545C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F02AE72-BE1D-4CCF-8295-0BCFF07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FBD15-4653-4F05-B3AB-8186DEF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044BBC-CF28-4F94-86B3-5108540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982783-D662-47FE-8197-CAA0F1B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Join shapes multiply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FE98CF-0A9D-4974-8922-1398453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With more tables, the number of legal join orders grows rapidly.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F1A2BC-4378-479C-98CE-94F2C84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38CBB-6947-45C8-A1A7-92AC277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Order can be lost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D6907A-00A1-457A-BA51-FAA5054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locally cheap access path may force an expensive sort later.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455115-B23C-4277-81A7-82BF560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381524-4A3F-4D91-9B86-A68608F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Methods can diverge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36FFB8-6B94-4B59-B8F3-FDE119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Repeated index probes can cost more than scanning and hashing once.</a:t>
            </a:r>
          </a:p>
        </p:txBody>
      </p:sp>
    </p:spTree>
    <p:extLst>
      <p:ext uri="{BB962C8B-B14F-4D97-AF65-F5344CB8AC3E}">
        <p14:creationId xmlns:p14="http://schemas.microsoft.com/office/powerpoint/2010/main" val="312843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64C69BA-C2A4-40ED-A372-BA288756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B0C262-FB2A-4813-A3D2-36E9AA1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WHY HYPERGRAPH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A4CA5-2AA9-4E2B-9349-CEA2EBE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The optimizer evaluates connected join alternatives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CB5656-3542-4317-B3A0-E13AD2A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1C1F28E6-3C36-4680-A7E5-ECBFFC1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584EFC-0574-4FDE-94A8-6FBAF0C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654DD09A-8502-46B5-93B9-F481175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E1D21F1-F682-4DEC-9804-5179312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D12A3-14C8-4363-975F-A7624D7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Query graph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49053A-C3C3-47AC-82C7-13538E4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Tables + join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predicates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F2A3D2-B8E0-48BE-9478-14EAE57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9C30091B-6E81-438C-B425-C0148F9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7F27E46-0E75-4778-9EA0-AC7A4955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70DFE2-CEA7-47E2-9FDD-CE38E5D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Connected plans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2F89CF-8282-4448-8B8B-7A596362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Enumerate legal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partitions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903942-CED6-40F2-9F8D-DFEFA47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CC64EB21-1BD1-4BA5-A4DD-5C7A14D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FEE84AC-739C-44A2-B975-99E8D57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2E017C-1ABE-49EC-A0AF-EA87FBA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Costed paths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E190FC-7161-4B81-A1DB-4EDF6EE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Compare hash, loop,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scan, and order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C3712EA-038F-4C9F-A2E7-FCF35C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474E0F6F-5C16-4286-AAB0-D9023F8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5D50DF5D-96C4-4D2E-944E-9825E45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2DE1FD-1E85-4165-8B83-F658DBA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Chosen plan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A75A232-6A22-4618-A82E-3F0ED44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Execute the best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estimated route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01A03A3-F4AA-4D02-A2BB-AAD4151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It can retain a useful ordered path or join two reduced branches before combining the full result.</a:t>
            </a:r>
          </a:p>
        </p:txBody>
      </p:sp>
    </p:spTree>
    <p:extLst>
      <p:ext uri="{BB962C8B-B14F-4D97-AF65-F5344CB8AC3E}">
        <p14:creationId xmlns:p14="http://schemas.microsoft.com/office/powerpoint/2010/main" val="1495354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8CD51770-E808-442C-9DA7-CAF7E22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B77C6FB-8A71-4EC6-B343-4DC29BF7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WITH AND WITHOUT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871A7-A4F3-420F-9477-C87E7D4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The same SQL may produce a different execution plan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2F93E76-2B86-4084-A3FA-52E0E7C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200E13DD-40AB-4016-B5F8-20AC2B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B078CC-B9E2-4A81-82AA-872E068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EDE5BEA-847F-4D79-965B-D54B796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933B72-BB35-4EC7-9359-702DBDB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D4B7F0-5E4E-4A74-8FCF-745EFF9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6217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 JOIN OPTIMIZER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F6E9C1-688A-4D13-8E0D-501A2BE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62175"/>
            <a:ext cx="414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HYPERGRAPH OPTIMIZER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CBA7905-326D-43BB-832E-60F908D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60AAD0-FBF9-41AF-A8C7-600B4A3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Search shape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839EA2-4952-43F7-9977-31B847A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765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Mostly left-deep joins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B1475F-7476-4F59-97FF-78423ADF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765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Connected partitions; bushy plans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0BE4517-1DD9-4E03-995D-F6652E82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02EF35E-D812-44D8-94B3-8775391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Join method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6C2CD5B-5DD8-4302-BEE4-3B315CD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147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Often favors indexed nested loops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6465F2-882A-452E-B8B9-AC78D5E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1470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Costs hash and nested-loop joins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012B3C5-4BDC-480C-AC6E-008B19C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DC8F0CA-E0FF-45C7-BA0E-13E4C62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587396-BD25-4423-91F9-1425764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Row order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105568E-BD55-4A21-9D9E-887D777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5287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Often a later refinement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B213A9A-22E6-4084-B907-0D5A77E3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5287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Interesting orders enter plan search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06110B0-C570-4051-A4A8-4130867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331339-3DCB-496D-A5B2-8107288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Cost choice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8843F35-C029-4BDC-88D2-4C3B254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910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Established framework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C65656-DD42-49FA-A610-71D2257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910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Measured-cost model for alternatives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BF92F969-6E55-48D7-A38B-6D05835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B0ABA6E-A3B4-4E78-B65E-172B96A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7638288-DBEE-4BE3-9E38-A8CCC6D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FE37E6B-40FA-48B8-8EF2-7A50F09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292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Default in 9.7 Community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5B192C2-9B14-4500-A1E5-767ED8C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292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Opt-in in 9.7 Community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727DEA7C-10D5-432D-9954-52865E0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ote">
            <a:extLst xmlns:a="http://schemas.openxmlformats.org/drawingml/2006/main">
              <a:ext uri="{FF2B5EF4-FFF2-40B4-BE49-F238E27FC236}">
                <a16:creationId xmlns:a16="http://schemas.microsoft.com/office/drawing/2014/main" id="{A1D46FF8-4D55-43E6-8509-7A66EDE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different plan is not proof of a faster query; inspect actual work and latency.</a:t>
            </a:r>
          </a:p>
        </p:txBody>
      </p:sp>
    </p:spTree>
    <p:extLst>
      <p:ext uri="{BB962C8B-B14F-4D97-AF65-F5344CB8AC3E}">
        <p14:creationId xmlns:p14="http://schemas.microsoft.com/office/powerpoint/2010/main" val="788332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057CF97-CB7E-467D-9DA7-76037D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D8E7C9D-0800-46F3-A235-62714E1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PUBLISHED BENCHMARK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BE4E3-5DE8-4AFD-B5F6-3A0D5EA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Many TPC-DS queries improved; some regressed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15319-D95F-436C-BA98-830C697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7E7B302-CAFA-4A43-B3C7-F195CDC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 · TPC-DS SF1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E34E1E-4665-40F3-9735-993FAE1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7DDB85FA-4912-46C5-9B14-C1239FC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FASTER WITH HYPERGRAPH</a:t>
            </a:r>
          </a:p>
        </p:txBody>
      </p:sp>
      <p:sp>
        <p:nvSpPr>
          <p:cNvPr id="8" name="side-label">
            <a:extLst xmlns:a="http://schemas.openxmlformats.org/drawingml/2006/main">
              <a:ext uri="{FF2B5EF4-FFF2-40B4-BE49-F238E27FC236}">
                <a16:creationId xmlns:a16="http://schemas.microsoft.com/office/drawing/2014/main" id="{B29D7F6A-2FED-45C6-919D-F06ABB0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SLOWER WITH HYPERGRAPH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AB4A2-1A4C-451E-BD0D-554278D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85534C-AE5D-4C00-AA8F-FD24F20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77 of 101 query variants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EFB00B-998F-4C73-A33E-C03C589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38A304-C838-45F0-BF5B-E2D3E58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432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22.45% geomean runtime gain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EC8A78-F22F-427E-B426-2B6300F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BF43F4-6B4B-480D-AA9B-9500714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671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19 improved by at least 50%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8F8FCD-125F-4D9A-9253-2023716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5FE88E-368E-4916-9FA2-7388566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In-memory working set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6C9AE0-D75D-4B84-86D7-420B50C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ACD96E-1108-42A8-9C6C-90CDCA0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148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Scale factor 1; about 1 GB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A30C23-799A-47E6-8A23-254E1F5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1C6F3D-0DAF-4F00-886C-027EDBA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387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Off by default in Community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514357-30FF-45B3-AF58-4E426CA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C8662F-E0BE-48D6-9419-9E78AB3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24 of 101 variants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A6DB23-D1B5-4C8B-8EB4-3EC4400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CB6814-02E9-4C82-9E8B-A3B8AB1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14 regressed by at least 50%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6E28A89-75A7-4140-8C94-A564B37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A0A7D7B-873E-4318-A781-7A75CAD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Cardinality estimates can mislead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3DA908-6319-4A9C-87B5-DEEC56E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60AD76-74E1-413B-8FB5-C8ADC90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90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Not a universal speedup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43A2C1A-E078-43C6-A200-D47B55F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C7BD23-DDC1-4448-9176-B9A5B65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14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Benchmark your own workload</a:t>
            </a:r>
          </a:p>
        </p:txBody>
      </p:sp>
      <p:sp>
        <p:nvSpPr>
          <p:cNvPr id="31" name="note">
            <a:extLst xmlns:a="http://schemas.openxmlformats.org/drawingml/2006/main">
              <a:ext uri="{FF2B5EF4-FFF2-40B4-BE49-F238E27FC236}">
                <a16:creationId xmlns:a16="http://schemas.microsoft.com/office/drawing/2014/main" id="{1ECEC3A9-9433-4A4D-A6AA-F100453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run: TPC-DS SF1, 101 variants, same data and environment for both optimizers.</a:t>
            </a:r>
          </a:p>
        </p:txBody>
      </p:sp>
    </p:spTree>
    <p:extLst>
      <p:ext uri="{BB962C8B-B14F-4D97-AF65-F5344CB8AC3E}">
        <p14:creationId xmlns:p14="http://schemas.microsoft.com/office/powerpoint/2010/main" val="1263061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DA0D755-B379-4A9A-9549-9FF39CD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151269-2F28-4C58-A3D1-6B5D598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PLAN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B3D333-4486-4EEB-A134-47154D47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An early hash join cut one query from 451 ms to 122 ms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3C1FF0F-3B0F-4E0E-9DE6-0315731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C6CA7CC7-3FAA-4B8B-84A2-E313A55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Developer Advocate, Jul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F92FB8-841F-4C5D-A78B-C520C4CB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9A1009-8C37-4192-BCB4-803DD87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2C9F11-4594-4EB1-BBC2-0B89040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Classic · 451 ms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E4335A-4340-4B33-B953-7A9CF61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145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Eight-table nested-loop chain began at archived orders.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E0ED6D1-F80E-4F08-8252-0B9C846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AB92E3-D657-4BD5-B22B-EFAC28E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5950BE-02A8-4AD0-AE58-ED12884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Hypergraph · 122 ms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A636BB-53B4-4C97-9372-13AE617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384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Date-range scan plus early hash join combined two reduced branches.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62769A5-C502-4387-B8D0-250B5D7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7F6CB-4479-4C90-AC01-5DEE96B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3FB43C-5915-42FA-8930-CCA1C79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Less repeated work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0F2746-2B8D-4854-A773-9C3F585D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624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Subsequent joins received fewer rows; a covering category lookup helped.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416346F-C6DB-412D-8BE3-1E29214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7CF7F3-AD78-4E41-9AD8-A2584AA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8FB01A-4494-4E17-A4E2-CEF8353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Same query, new plan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3D86DC-DF38-4287-BEA7-0246FBF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8632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Only the optimizer hint changed; SQL, schema, and data stayed fixed.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09A92543-96CD-4210-915B-5E17BE1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Published example, not a guaranteed 3.7× improvement for other datasets.</a:t>
            </a:r>
          </a:p>
        </p:txBody>
      </p:sp>
    </p:spTree>
    <p:extLst>
      <p:ext uri="{BB962C8B-B14F-4D97-AF65-F5344CB8AC3E}">
        <p14:creationId xmlns:p14="http://schemas.microsoft.com/office/powerpoint/2010/main" val="1898841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2C35A1-6AC6-49BB-B788-B4F86DD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163D76-E7A6-41E0-B4B7-3229F9F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DEMO · 1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964BA-6697-423E-8AB2-2958AB9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Use one MySQL 9.7 server and one fixed dataset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7E1ED44-AD0D-42DF-A313-B80DEF8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56EB5C2-E3E9-4755-8ACE-A8374E9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Sakila Sample Database · installation guide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E3D48E-D357-492D-863C-B7268B1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B8B228-0AC4-432F-9D0E-F50E3B4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Prerequisite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F27F49-D0DE-4758-8315-3A34F84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Install MySQL 9.7 Community and load Sakila. Use an isolated test server; do not change schema or indexes between passes.</a:t>
            </a:r>
          </a:p>
        </p:txBody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FBDDA92B-4184-49A5-8215-A0AECA6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VERIFY SERVER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6A5DBA20-BC54-44CC-8CA9-1036B46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LOAD SAKILA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85388CB-96FF-4D2C-A17A-5E307F6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514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A5A00DA-D706-420A-ACA8-404BC60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66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BA2A6017-866D-4736-8FE7-858E3DAE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472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VERSION(), @@optimizer_switch;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B6DF2A-91D9-4F75-9404-9A839A5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1720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274E369-2B03-45E1-A3B1-8AF65001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ql-code">
            <a:extLst xmlns:a="http://schemas.openxmlformats.org/drawingml/2006/main">
              <a:ext uri="{FF2B5EF4-FFF2-40B4-BE49-F238E27FC236}">
                <a16:creationId xmlns:a16="http://schemas.microsoft.com/office/drawing/2014/main" id="{1F862647-2536-4DEA-A6CA-11A551E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48075"/>
            <a:ext cx="47529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SOURCE /path/sakila-schema.sql;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SOURCE /path/sakila-data.sql;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94D4D3B-DD65-4856-A6DF-2D94EAC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Confirm 9.7 and hypergraph_optimizer=off.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5F50F8-6E23-412E-8609-E788CE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517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Use the official Sakila archive; keep the same data for both passes.</a:t>
            </a:r>
          </a:p>
        </p:txBody>
      </p:sp>
    </p:spTree>
    <p:extLst>
      <p:ext uri="{BB962C8B-B14F-4D97-AF65-F5344CB8AC3E}">
        <p14:creationId xmlns:p14="http://schemas.microsoft.com/office/powerpoint/2010/main" val="5224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8A9DBE-6C95-489C-AD78-B12FC74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CD0BD3F-85C0-4F27-9B68-DB076F84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DEMO · 2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A57046-FA1C-4970-92B7-EAF0EA6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Create one six-table reporting query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1749760-EEBC-4600-8699-021E9FE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E566026E-0DF4-405A-92BB-F90E283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Sakila Sample Database · schema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23A0DC-FB65-4190-ABA4-242C412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074F717-B6E7-4F94-873E-CB3BBF5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1B476DB-73C1-49B2-8C74-514698E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ql-code">
            <a:extLst xmlns:a="http://schemas.openxmlformats.org/drawingml/2006/main">
              <a:ext uri="{FF2B5EF4-FFF2-40B4-BE49-F238E27FC236}">
                <a16:creationId xmlns:a16="http://schemas.microsoft.com/office/drawing/2014/main" id="{75DFB797-1E39-4805-8131-998FAD1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OR REPLACE VIEW sakila.hypergraph_demo AS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f.film_id, f.title, COUNT(*) AS rentals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sakila.film f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 sakila.film_category fc ON fc.film_id=f.film_id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 sakila.category c ON c.category_id=fc.category_id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 sakila.inventory i ON i.film_id=f.film_id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 sakila.rental r ON r.inventory_id=i.inventory_id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JOIN sakila.payment p ON p.rental_id=r.rental_id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c.name = 'Action'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BY f.film_id, f.title;</a:t>
            </a:r>
          </a:p>
        </p:txBody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FBEAAFD6-1808-48F5-82A5-2391321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The same view and outer SELECT are used in both passes. Sakila is small: this is a method demo, not a promised win.</a:t>
            </a:r>
          </a:p>
        </p:txBody>
      </p:sp>
    </p:spTree>
    <p:extLst>
      <p:ext uri="{BB962C8B-B14F-4D97-AF65-F5344CB8AC3E}">
        <p14:creationId xmlns:p14="http://schemas.microsoft.com/office/powerpoint/2010/main" val="694485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4336422-5210-4EF2-93EB-B45F8E9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FD5581-0669-4064-967C-ABCE227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DEMO · 3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57BD6-6DEC-46F7-AF7C-029718D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Capture the classic plan and baseline time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09F650-4EED-4FE2-B96A-695F14B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5B967D7-C330-4D1F-BD74-AFE5969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9.7 Reference Manual · EXPLAIN ANALYZE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00056-9332-4E8C-BAFA-43FF273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AF2AD372-7E8A-4AE5-BBE9-B2300C9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 ONE SESSION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B36116-9D01-4C89-A9CA-271DA48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7C63709-EEE0-43B0-8585-8ACB0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698F9232-9CDC-4747-A752-9974A15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401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SET SESSION optimizer_switch='hypergraph_optimizer=off';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EXPLAIN ANALYZE SELECT * FROM sakila.hypergraph_demo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ORDER BY rentals DESC, film_id LIMIT 20;</a:t>
            </a:r>
          </a:p>
        </p:txBody>
      </p:sp>
      <p:sp>
        <p:nvSpPr>
          <p:cNvPr id="11" name="side-label">
            <a:extLst xmlns:a="http://schemas.openxmlformats.org/drawingml/2006/main">
              <a:ext uri="{FF2B5EF4-FFF2-40B4-BE49-F238E27FC236}">
                <a16:creationId xmlns:a16="http://schemas.microsoft.com/office/drawing/2014/main" id="{EA8796AE-E3FD-4F66-A09F-899C01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REPEAT THE UNEXPLAINED QUERY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B14754C-0CA0-4E87-A892-ECF58B9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D1B36EE-7AF9-49A7-A7F4-5B0E043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E28E3C01-B4C1-4C4C-BEAB-E1A45D2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* FROM sakila.hypergraph_demo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ORDER BY rentals DESC, film_id LIMIT 20;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Repeat ≥5 times; record wall-clock time.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C455CBE2-5499-454C-B6A2-289C350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Save the plan, result rows, and median runtime. EXPLAIN ANALYZE executes the query and adds profiling overhead.</a:t>
            </a:r>
          </a:p>
        </p:txBody>
      </p:sp>
    </p:spTree>
    <p:extLst>
      <p:ext uri="{BB962C8B-B14F-4D97-AF65-F5344CB8AC3E}">
        <p14:creationId xmlns:p14="http://schemas.microsoft.com/office/powerpoint/2010/main" val="1311745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4336422-5210-4EF2-93EB-B45F8E9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FD5581-0669-4064-967C-ABCE227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DEMO · 4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57BD6-6DEC-46F7-AF7C-029718D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Enable Hypergraph only for the comparison session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09F650-4EED-4FE2-B96A-695F14B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5B967D7-C330-4D1F-BD74-AFE5969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00056-9332-4E8C-BAFA-43FF273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AF2AD372-7E8A-4AE5-BBE9-B2300C9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 THE SAME SESSION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B36116-9D01-4C89-A9CA-271DA48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7C63709-EEE0-43B0-8585-8ACB0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698F9232-9CDC-4747-A752-9974A15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401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SET SESSION optimizer_switch='hypergraph_optimizer=on';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EXPLAIN ANALYZE SELECT * FROM sakila.hypergraph_demo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ORDER BY rentals DESC, film_id LIMIT 20;</a:t>
            </a:r>
          </a:p>
        </p:txBody>
      </p:sp>
      <p:sp>
        <p:nvSpPr>
          <p:cNvPr id="11" name="side-label">
            <a:extLst xmlns:a="http://schemas.openxmlformats.org/drawingml/2006/main">
              <a:ext uri="{FF2B5EF4-FFF2-40B4-BE49-F238E27FC236}">
                <a16:creationId xmlns:a16="http://schemas.microsoft.com/office/drawing/2014/main" id="{EA8796AE-E3FD-4F66-A09F-899C01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REPEAT THE IDENTICAL QUERY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B14754C-0CA0-4E87-A892-ECF58B9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D1B36EE-7AF9-49A7-A7F4-5B0E043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E28E3C01-B4C1-4C4C-BEAB-E1A45D2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* FROM sakila.hypergraph_demo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ORDER BY rentals DESC, film_id LIMIT 20;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Repeat ≥5 times; record wall-clock time.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C455CBE2-5499-454C-B6A2-289C350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Confirm the switch took effect. Keep data, indexes, cache state, and client setup as comparable as possible.</a:t>
            </a:r>
          </a:p>
        </p:txBody>
      </p:sp>
    </p:spTree>
    <p:extLst>
      <p:ext uri="{BB962C8B-B14F-4D97-AF65-F5344CB8AC3E}">
        <p14:creationId xmlns:p14="http://schemas.microsoft.com/office/powerpoint/2010/main" val="13117453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E9EED859-BE41-4EBC-B5C2-00F9F879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D7828EE-A3A6-4822-A44D-C47433B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DEMO · 5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1BAC7-CC88-470E-A0B3-D07F8BDB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Read the plan before you claim a speedup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41EA66B-D0F5-47A7-A826-AE4FA09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D6B269C-79BE-40BB-A9B4-BA0FD3A1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9.7 Reference Manual · EXPLAIN ANALYZE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4CABE5-8370-45CA-ABE9-7ED3A04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3463C1-9BC2-496F-B700-0E530FB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Inspect join order, join method, actual rows, loops, and sort operations in the two saved plans.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39C1E57-1DCE-4040-AD9A-55BD1F98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3AD68A2-9C27-4435-A8B4-249C80B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B397C218-970E-4C88-A43F-15C6E73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0401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CLASSIC PLAN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Join order: __________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Join method: _________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Actual rows/loops: 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Sort or temp table: __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E3698FB-5F19-4E7D-8B91-602B8FC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1320DAD9-99AD-4B82-BFFE-E53C7D9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1D757EF4-A73A-4AB8-BFCD-8ED75BC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0401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HYPERGRAPH PLAN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Join order: __________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Join method: _________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Actual rows/loops: ___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Sort or temp table: __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3516E737-8C0D-43BF-9F35-C3DBF8A3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Compute median latency and percent change. If the plan is unchanged or slower, that is a valid result.</a:t>
            </a:r>
          </a:p>
        </p:txBody>
      </p:sp>
    </p:spTree>
    <p:extLst>
      <p:ext uri="{BB962C8B-B14F-4D97-AF65-F5344CB8AC3E}">
        <p14:creationId xmlns:p14="http://schemas.microsoft.com/office/powerpoint/2010/main" val="794214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FEF9AEC-DAC7-493C-8152-8152037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72563B8-8BA1-4DF2-AD3B-0EF9678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D5904-14B0-4129-9FCE-A5D3A6CE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Keep Hypergraph only where measured plans improve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74515-602E-4453-B0ED-A8089BB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A3B9118-BC76-4593-B7F7-F34BEC15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Optimizer Team, Apr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9FBB0D-91E3-4529-A43E-6F32ED4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630005B2-6BB6-46DC-B41A-A36A5F54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C9730B-B015-4B99-8AFE-AA87BB37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Classic vs Hypergraph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12A616-009B-45DA-9962-3D89F39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Result correctness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Median and p95 runtime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Actual rows and loops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Sort, temporary table, CPU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3F9A6193-1BFC-4048-A0EA-D6328E7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RESET THE SESSION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0FC911A-95E3-4573-A30E-D3D63E6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54768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C95B59A0-1C87-4C3F-9A3C-09DF5CB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666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EC955A17-43AB-427D-972F-4308B8B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505777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SET SESSION optimizer_switch='hypergraph_optimizer=off';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@@optimizer_switch;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Avoid a global change until workload testing is complete.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28D0B75C-A51A-41DA-91BC-B632C6D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small Sakila run demonstrates the method; use production-like data for a deployment decision.</a:t>
            </a:r>
          </a:p>
        </p:txBody>
      </p:sp>
    </p:spTree>
    <p:extLst>
      <p:ext uri="{BB962C8B-B14F-4D97-AF65-F5344CB8AC3E}">
        <p14:creationId xmlns:p14="http://schemas.microsoft.com/office/powerpoint/2010/main" val="19378951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CF3A73E-ECAD-429A-AFE8-00FF952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BC6BF28-9D92-431C-96F6-7C7F538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398F2-4DCE-48A8-8186-9AB0B72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Better plan search is an option—not a universal switch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0D0E2E-E724-4F82-900B-6162359A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3B94D27-D968-4927-9A0F-0F1402F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Primary sources below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F72F7B-6184-495F-8B1A-6EBF527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0318F0-96A5-4CA1-B21F-6583B33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5251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Start with slow multi-join queries. Compare both optimizers with EXPLAIN ANALYZE and repeated runtime measurements.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1C650B9-9C80-497F-8EA7-259D542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E0FEC560-9C11-41B8-93C5-C80071F8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PRIMARY REFERENCES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98CF5F-D915-4699-95D7-1C155BF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Oracle MySQL Optimizer Team · Hypergraph in Community (Apr 2026)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3B4C15-D5DD-45B8-9F14-D7C8DFAC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Oracle MySQL blog · Smarter Join Planning (Jul 2026)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475EF8-A13F-4E3B-9145-39F15EDF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MySQL 9.7 Reference Manual · EXPLAIN ANALYZE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F6B29F-340B-43A1-A788-3BABB1A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MySQL Sakila Sample Database · Installation</a:t>
            </a:r>
          </a:p>
        </p:txBody>
      </p:sp>
    </p:spTree>
    <p:extLst>
      <p:ext uri="{BB962C8B-B14F-4D97-AF65-F5344CB8AC3E}">
        <p14:creationId xmlns:p14="http://schemas.microsoft.com/office/powerpoint/2010/main" val="72601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2026-09-26T09:28:17.4370000Z</dcterms:created>
  <dcterms:modified xsi:type="dcterms:W3CDTF">2026-09-26T09:28:17.4370000Z</dcterms:modified>
</coreProperties>
</file>