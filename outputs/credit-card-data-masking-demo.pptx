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f2b126922c4f56" /><Relationship Type="http://schemas.openxmlformats.org/officeDocument/2006/relationships/extended-properties" Target="/docProps/app.xml" Id="R1797b724a4a44553" /><Relationship Type="http://schemas.openxmlformats.org/officeDocument/2006/relationships/officeDocument" Target="/ppt/presentation.xml" Id="R3f2eba87028848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e32f3364994ffd"/>
  </p:sldMasterIdLst>
  <p:notesMasterIdLst>
    <p:notesMasterId xmlns:r="http://schemas.openxmlformats.org/officeDocument/2006/relationships" r:id="R4a69497f00804905"/>
  </p:notesMasterIdLst>
  <p:sldIdLst>
    <p:sldId xmlns:r="http://schemas.openxmlformats.org/officeDocument/2006/relationships" id="256" r:id="Raf6325b8b4604ff8"/>
    <p:sldId xmlns:r="http://schemas.openxmlformats.org/officeDocument/2006/relationships" id="257" r:id="R340e9dac23d44b38"/>
    <p:sldId xmlns:r="http://schemas.openxmlformats.org/officeDocument/2006/relationships" id="258" r:id="R16b19d88c1974b06"/>
    <p:sldId xmlns:r="http://schemas.openxmlformats.org/officeDocument/2006/relationships" id="259" r:id="R5b1b845bc5414d00"/>
    <p:sldId xmlns:r="http://schemas.openxmlformats.org/officeDocument/2006/relationships" id="260" r:id="R6902ce84f79d440b"/>
    <p:sldId xmlns:r="http://schemas.openxmlformats.org/officeDocument/2006/relationships" id="261" r:id="Rb28877cc55c74c10"/>
    <p:sldId xmlns:r="http://schemas.openxmlformats.org/officeDocument/2006/relationships" id="262" r:id="Rbf4680c1d22643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319f1e885c4fd8" /><Relationship Type="http://schemas.openxmlformats.org/officeDocument/2006/relationships/slideMaster" Target="/ppt/slideMasters/slideMaster1.xml" Id="R1de32f3364994ffd" /><Relationship Type="http://schemas.openxmlformats.org/officeDocument/2006/relationships/notesMaster" Target="/ppt/notesMasters/notesMaster1.xml" Id="R4a69497f00804905" /><Relationship Type="http://schemas.openxmlformats.org/officeDocument/2006/relationships/presProps" Target="/ppt/presProps.xml" Id="R0d4cb68b8a984f18" /><Relationship Type="http://schemas.openxmlformats.org/officeDocument/2006/relationships/tableStyles" Target="/ppt/tableStyles.xml" Id="R38fb2e5766b74a92" /><Relationship Type="http://schemas.openxmlformats.org/officeDocument/2006/relationships/slide" Target="/ppt/slides/slide1.xml" Id="Raf6325b8b4604ff8" /><Relationship Type="http://schemas.openxmlformats.org/officeDocument/2006/relationships/slide" Target="/ppt/slides/slide2.xml" Id="R340e9dac23d44b38" /><Relationship Type="http://schemas.openxmlformats.org/officeDocument/2006/relationships/slide" Target="/ppt/slides/slide3.xml" Id="R16b19d88c1974b06" /><Relationship Type="http://schemas.openxmlformats.org/officeDocument/2006/relationships/slide" Target="/ppt/slides/slide4.xml" Id="R5b1b845bc5414d00" /><Relationship Type="http://schemas.openxmlformats.org/officeDocument/2006/relationships/slide" Target="/ppt/slides/slide5.xml" Id="R6902ce84f79d440b" /><Relationship Type="http://schemas.openxmlformats.org/officeDocument/2006/relationships/slide" Target="/ppt/slides/slide6.xml" Id="Rb28877cc55c74c10" /><Relationship Type="http://schemas.openxmlformats.org/officeDocument/2006/relationships/slide" Target="/ppt/slides/slide7.xml" Id="Rbf4680c1d22643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2f98fac7ae45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b9eb7813b84e11" /><Relationship Type="http://schemas.openxmlformats.org/officeDocument/2006/relationships/notesMaster" Target="/ppt/notesMasters/notesMaster1.xml" Id="Rcfc75eb2dc614d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a51e6ced4a4073" /><Relationship Type="http://schemas.openxmlformats.org/officeDocument/2006/relationships/notesMaster" Target="/ppt/notesMasters/notesMaster1.xml" Id="Ra0bc17a62c6c4b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ec9cf3c24b4b1f" /><Relationship Type="http://schemas.openxmlformats.org/officeDocument/2006/relationships/notesMaster" Target="/ppt/notesMasters/notesMaster1.xml" Id="R6838adeb30eb4a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c59960afae447b" /><Relationship Type="http://schemas.openxmlformats.org/officeDocument/2006/relationships/notesMaster" Target="/ppt/notesMasters/notesMaster1.xml" Id="R0383927853a941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02552f987b4bf5" /><Relationship Type="http://schemas.openxmlformats.org/officeDocument/2006/relationships/notesMaster" Target="/ppt/notesMasters/notesMaster1.xml" Id="R15247a1c725645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93dd9905cb4837" /><Relationship Type="http://schemas.openxmlformats.org/officeDocument/2006/relationships/notesMaster" Target="/ppt/notesMasters/notesMaster1.xml" Id="R463d3056e0c743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b939fd81204d98" /><Relationship Type="http://schemas.openxmlformats.org/officeDocument/2006/relationships/notesMaster" Target="/ppt/notesMasters/notesMaster1.xml" Id="R4d8bbe1179524e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3e26e5cc14d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21c6c0d40c4d42" /><Relationship Type="http://schemas.openxmlformats.org/officeDocument/2006/relationships/slideLayout" Target="/ppt/slideLayouts/slideLayout1.xml" Id="R5eb4912d9c6341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b4912d9c6341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54b6854654f14" /><Relationship Type="http://schemas.openxmlformats.org/officeDocument/2006/relationships/image" Target="/ppt/media/image.png" Id="R09c4fc2b97474ecc" /><Relationship Type="http://schemas.openxmlformats.org/officeDocument/2006/relationships/notesSlide" Target="/ppt/notesSlides/notesSlide1.xml" Id="Rbbb89c7872584b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9115a36f94938" /><Relationship Type="http://schemas.openxmlformats.org/officeDocument/2006/relationships/notesSlide" Target="/ppt/notesSlides/notesSlide2.xml" Id="R7586d36676044a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3ff0ce79d4812" /><Relationship Type="http://schemas.openxmlformats.org/officeDocument/2006/relationships/notesSlide" Target="/ppt/notesSlides/notesSlide3.xml" Id="Rc55402dc0a4b41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bd5d2fd804b88" /><Relationship Type="http://schemas.openxmlformats.org/officeDocument/2006/relationships/notesSlide" Target="/ppt/notesSlides/notesSlide4.xml" Id="R5cfa1aa07c2647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918f64e7b4cb1" /><Relationship Type="http://schemas.openxmlformats.org/officeDocument/2006/relationships/notesSlide" Target="/ppt/notesSlides/notesSlide5.xml" Id="R3ff6e6817da544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17d4e299f4029" /><Relationship Type="http://schemas.openxmlformats.org/officeDocument/2006/relationships/notesSlide" Target="/ppt/notesSlides/notesSlide6.xml" Id="Rd69a2196f99242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75f16a8fc4c6e" /><Relationship Type="http://schemas.openxmlformats.org/officeDocument/2006/relationships/notesSlide" Target="/ppt/notesSlides/notesSlide7.xml" Id="R2aa7b166834c4b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c4fc2b97474ecc"/>
          <a:srcRect xmlns:a="http://schemas.openxmlformats.org/drawingml/2006/main" l="18343" t="0" r="183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0"/>
            <a:ext cx="7715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0EF37-0211-4D21-98CD-9B6463BB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673FF-3D49-4DCE-A815-544F70C9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2857500" cy="68580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9503E-6F1F-4166-B430-F100CC0C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D7F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D7F3"/>
                </a:solidFill>
                <a:latin typeface="Aptos"/>
                <a:ea typeface="Aptos"/>
                <a:cs typeface="Aptos"/>
              </a:rPr>
              <a:t>SECURE PAYMENTS / LIVE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80392-B934-43C7-B5F5-F6D1538A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429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right people see the right card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8D926-7578-47BB-BBC3-742338DE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DD0E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DD0ED"/>
                </a:solidFill>
                <a:latin typeface="Aptos"/>
                <a:ea typeface="Aptos"/>
                <a:cs typeface="Aptos"/>
              </a:rPr>
              <a:t>A click-through demonstration of database-native masking, active roles, and controlled payment operations.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B20F2-C0B3-4CBE-8900-250C1E90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4193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232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EC6AE-D560-45C3-B731-2231E7AF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448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99A"/>
          </a:solidFill>
          <a:ln xmlns:a="http://schemas.openxmlformats.org/drawingml/2006/main" w="0">
            <a:solidFill>
              <a:srgbClr val="17B99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E1AD9-D0D1-4FC4-ABAF-70560FE1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910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MASK BY DEFAULT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0CED0-43F7-47EC-AA97-9EF8FEF6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9BED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EDC"/>
                </a:solidFill>
                <a:latin typeface="Aptos"/>
                <a:ea typeface="Aptos"/>
                <a:cs typeface="Aptos"/>
              </a:rPr>
              <a:t>Table · policy · role association · query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3D832-88A5-4295-87EE-FAB49250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79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790B8"/>
                </a:solidFill>
                <a:latin typeface="Aptos"/>
                <a:ea typeface="Aptos"/>
                <a:cs typeface="Aptos"/>
              </a:rPr>
              <a:t>Demo scripts: scripts/creditcard</a:t>
            </a:r>
          </a:p>
        </p:txBody>
      </p:sp>
    </p:spTree>
    <p:extLst>
      <p:ext uri="{BB962C8B-B14F-4D97-AF65-F5344CB8AC3E}">
        <p14:creationId xmlns:p14="http://schemas.microsoft.com/office/powerpoint/2010/main" val="15055416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5D385D-71C1-4613-9119-E95ECAE9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THE ACCESS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7A9E8-1975-40E1-9394-5F5D9FBA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Card data should travel with a privacy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E70F0-6362-4E40-8923-9F7D0343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database keeps the transaction useful while changing what each session can see.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BFC80-D5A3-4017-AE38-ABD304DC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CREDIT CARD MASKING DEMO  ·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53845-4F8B-450E-84BA-B390651C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MySQL Enterprise data masking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79F86-0992-4FD8-8F30-EE51B81B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857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17B0A-463D-41D4-8676-B71C1C59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146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Every transaction needs two 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8A91A-6768-4608-BB28-5481ED20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Operations need amounts, status and customer context.</a:t>
            </a:r>
          </a:p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Only approved payment-processing sessions need the PAN and expiry.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FEECC-DCB3-4366-833B-103B71C6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14875"/>
            <a:ext cx="3048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0D7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E99FF-7490-429F-A657-DF0F6B0C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19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D7F3"/>
          </a:solidFill>
          <a:ln xmlns:a="http://schemas.openxmlformats.org/drawingml/2006/main" w="0">
            <a:solidFill>
              <a:srgbClr val="20D7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79427-0B8D-4DE9-B7BC-89074706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19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D73DA-9BAA-4F2F-938A-727874DC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053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USEFUL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D930A-4FAE-4509-B7B8-C625C9FD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9053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PROTECTED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3E387-8365-4696-A85C-92122EAB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5143500" cy="3381375"/>
          </a:xfrm>
          <a:prstGeom xmlns:a="http://schemas.openxmlformats.org/drawingml/2006/main" prst="roundRect">
            <a:avLst>
              <a:gd name="adj" fmla="val 4507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64279-6044-4897-99CC-1C8096DB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D7F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D7F3"/>
                </a:solidFill>
                <a:latin typeface="Aptos"/>
                <a:ea typeface="Aptos"/>
                <a:cs typeface="Aptos"/>
              </a:rPr>
              <a:t>The design principle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041EF-B89D-48A6-BDB4-353D8AFD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“Same row.</a:t>
            </a:r>
          </a:p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Different exposure.”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9F579-7C3E-4D0F-8B1D-49B07165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3857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ED1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ED1EC"/>
                </a:solidFill>
                <a:latin typeface="Aptos"/>
                <a:ea typeface="Aptos"/>
                <a:cs typeface="Aptos"/>
              </a:rPr>
              <a:t>Masking is evaluated when the data is read, using the active role in the session.</a:t>
            </a:r>
          </a:p>
        </p:txBody>
      </p:sp>
    </p:spTree>
    <p:extLst>
      <p:ext uri="{BB962C8B-B14F-4D97-AF65-F5344CB8AC3E}">
        <p14:creationId xmlns:p14="http://schemas.microsoft.com/office/powerpoint/2010/main" val="20337381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55F063-B6C2-4FD4-A5BD-4D979493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1 / THE DATA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6B176-8155-4A30-B8F8-75CAB727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A single payment table holds business data and sensitive fields.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366B9-FD67-494A-8D4B-A3D94247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policy attaches to the sensitive base-table columns—not to a reporting copy.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1081A-4470-49B4-857F-5E5A34D8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CREDIT CARD MASKING DEMO  ·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9C3C3-20B4-4DB1-9A92-939F2DFF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MySQL Enterprise data masking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32E4F-56FE-4A92-8EAB-2713AE4F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ED4D3-51F4-4F58-91D4-7A881437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payment_tx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71F06-0111-4021-A89D-26B1FDD2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customer_id · order_reference · amount ·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08212-9719-4CA8-AEA3-92BB7B41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86125"/>
            <a:ext cx="1085850" cy="166687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A93A2-9831-4D38-B1BA-16DF6C1A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payment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79194-0FE7-4B17-94A9-F96BDCED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C4E01-76D3-4AD4-98B7-9F112972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86125"/>
            <a:ext cx="1543050" cy="166687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47E4A-98CA-4743-9625-0475DB4D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861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customer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35825D-C5D1-41AE-83EE-49505D51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4335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Ava Thompson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D7D2B-B415-45CB-A0C9-3FA14135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86125"/>
            <a:ext cx="1162050" cy="16668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21735-DFAA-41EB-A91F-35121310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861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amount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1770C-62BD-4151-B6C8-BB396188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4335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£129.99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F45005-FDB7-4A76-B083-5A0A9BC1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86125"/>
            <a:ext cx="1447800" cy="16668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05B8BA-1682-4129-8245-6D293F5B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861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C58ADF-E9FE-4E30-8D40-7A4D44C6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4335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AUTHORISED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2D056-D127-455D-94D3-E43D1955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86125"/>
            <a:ext cx="1114425" cy="1666875"/>
          </a:xfrm>
          <a:prstGeom xmlns:a="http://schemas.openxmlformats.org/drawingml/2006/main" prst="roundRect">
            <a:avLst>
              <a:gd name="adj" fmla="val 136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FC6C65-4232-480C-A77E-368A7DAD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86150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brand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0F5BED-2B2B-4A80-8A43-3F1B0729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43350"/>
            <a:ext cx="86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VISA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B23310-12D7-42F8-BBFA-7DB8EDDF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286125"/>
            <a:ext cx="20193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E8F8FD"/>
          </a:solidFill>
          <a:ln xmlns:a="http://schemas.openxmlformats.org/drawingml/2006/main" w="9525">
            <a:solidFill>
              <a:srgbClr val="20D7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B9E374-A316-4817-B54F-24D53829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486150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card number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D69964-AA80-4272-BAF1-89308E0B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9433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4111111111111111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9F986F-D6EC-44FB-828C-CB6B7AEC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148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SENSITIVE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C062DE-CBDC-4483-A8EE-F34C3273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286125"/>
            <a:ext cx="1114425" cy="1666875"/>
          </a:xfrm>
          <a:prstGeom xmlns:a="http://schemas.openxmlformats.org/drawingml/2006/main" prst="roundRect">
            <a:avLst>
              <a:gd name="adj" fmla="val 1367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874D2D-D880-47D5-B3A4-27709FDA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486150"/>
            <a:ext cx="866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expiry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7C43C3-90F5-458B-A9EF-3856C2C5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943350"/>
            <a:ext cx="86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12/28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32B5C6-82FC-45C4-B6F4-AFDCEBD2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514850"/>
            <a:ext cx="866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SENSITIVE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060C42-4BB5-4CF4-B8B9-8A8DF903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29225"/>
            <a:ext cx="762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Two column-level policies turn raw values into a role-aware view.</a:t>
            </a:r>
          </a:p>
        </p:txBody>
      </p:sp>
    </p:spTree>
    <p:extLst>
      <p:ext uri="{BB962C8B-B14F-4D97-AF65-F5344CB8AC3E}">
        <p14:creationId xmlns:p14="http://schemas.microsoft.com/office/powerpoint/2010/main" val="8946741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1C47FF-76D0-4765-88BD-B971DAC6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2 / THE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D7FF8-0F4C-45E8-B19D-90ACB1F6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The policy answers one question at query time: is pii_read active?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80137-83A4-495A-83E6-B5343979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If yes, return the source column. Otherwise, return a safe display value.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A400A-6E92-4F32-B864-C850B7B2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CREDIT CARD MASKING DEMO  ·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FF762-28C4-44B3-8550-88885822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MySQL Enterprise data masking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697EE-8CD9-4592-8C55-8EBC3A33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666750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0C1C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545B7-DA7A-465C-A94A-9AE994A8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7150" cy="2152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D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364ED-0752-4830-A04B-4954467C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66975"/>
            <a:ext cx="62103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CREATE MASKING POLICY card_pan_by_pii_role(pan_col)</a:t>
            </a:r>
          </a:p>
          <a:p xmlns:a="http://schemas.openxmlformats.org/drawingml/2006/main">
            <a:pPr algn="l"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  CASE WHEN CURRENT_ROLE_IN('pii_read')</a:t>
            </a:r>
          </a:p>
          <a:p xmlns:a="http://schemas.openxmlformats.org/drawingml/2006/main">
            <a:pPr algn="l"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       THEN pan_col</a:t>
            </a:r>
          </a:p>
          <a:p xmlns:a="http://schemas.openxmlformats.org/drawingml/2006/main">
            <a:pPr algn="l"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       ELSE CONCAT('************', RIGHT(pan_col, 4))</a:t>
            </a:r>
          </a:p>
          <a:p xmlns:a="http://schemas.openxmlformats.org/drawingml/2006/main">
            <a:pPr algn="l"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  END;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75397-7B0E-4C02-A7B6-D2150D1B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66675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0C1C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524D7-76ED-415B-9AE1-250F18CB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7150" cy="895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DD795-257A-48B2-A381-EF16B758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621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card_expiry_by_pii_role</a:t>
            </a:r>
          </a:p>
          <a:p xmlns:a="http://schemas.openxmlformats.org/drawingml/2006/main">
            <a:pPr algn="l"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  pii_read  →  expiry_col</a:t>
            </a:r>
          </a:p>
          <a:p xmlns:a="http://schemas.openxmlformats.org/drawingml/2006/main">
            <a:pPr algn="l">
              <a:def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D7E8FF"/>
                </a:solidFill>
                <a:latin typeface="Courier New"/>
                <a:ea typeface="Courier New"/>
                <a:cs typeface="Courier New"/>
              </a:rPr>
              <a:t>  otherwise →  '**/**'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73AFD-7449-4039-AEE6-77143FC6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3337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49F3E-611D-4AF9-9654-60FA0A2D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193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Policy behavior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420F9-7435-4F07-9AD9-B7C5A5E9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162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99A"/>
          </a:solidFill>
          <a:ln xmlns:a="http://schemas.openxmlformats.org/drawingml/2006/main" w="0">
            <a:solidFill>
              <a:srgbClr val="17B9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13158D-863C-4D8A-9D10-A2EC043D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05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Active pii_read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5B1C7-5C85-40C6-AF4D-A7F5B982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71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4111111111111111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E31A1-2B23-4F7D-B589-EFA6022B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067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7E2EF2-5ED8-4656-AF82-D8DDB5BF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100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Any other role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7DF29F-F517-46AF-A348-2386A08D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767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************1111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6CB3D-5D02-48B6-9C11-30AD4B42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006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 application-side branching required.</a:t>
            </a:r>
          </a:p>
        </p:txBody>
      </p:sp>
    </p:spTree>
    <p:extLst>
      <p:ext uri="{BB962C8B-B14F-4D97-AF65-F5344CB8AC3E}">
        <p14:creationId xmlns:p14="http://schemas.microsoft.com/office/powerpoint/2010/main" val="13952280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08E0D2-1189-4EC1-95DF-6826170C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3 / ROLE ASSOCIATION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580AC-4FF8-44FA-819A-48AA4D33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Access is granted once; the active role decides the visible value.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06311-5269-41D0-8D58-CB56A4EB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same SELECT can return a masked or clear view without changing the query.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E683C-5090-4561-BEA2-FAE154E1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CREDIT CARD MASKING DEMO  ·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4D680-0423-4A69-AACA-3BFA447A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MySQL Enterprise data masking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E8F66-D48B-4C5D-84CE-9F38C10D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352800"/>
            <a:ext cx="20478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8CA6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6D436-5D3F-4B32-B09E-199B1FAC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52800"/>
            <a:ext cx="2095500" cy="-8763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B9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735D4-B9B0-4DEC-8EB2-C23E4EED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24250"/>
            <a:ext cx="2095500" cy="9525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8B5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1ACA3-9786-4970-A7FC-980DD6CE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0383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20D7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A65A2-AF0C-4FC2-B29E-ADCEF32A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3EBC8-F287-45AE-A6ED-61D74B34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payment_tx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C2123-17B4-456D-BE1F-30B15D61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52825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card_number</a:t>
            </a:r>
          </a:p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card_expiry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5DECE-1371-4C69-A1F3-7BA936CC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6670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0B57C-B6EF-47BF-BF00-4F2182C3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813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B5CF6"/>
                </a:solidFill>
                <a:latin typeface="Aptos"/>
                <a:ea typeface="Aptos"/>
                <a:cs typeface="Aptos"/>
              </a:rPr>
              <a:t>MASKING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CDD76-C60A-4781-9BE1-369E61D1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432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CURRENT_ROLE_IN</a:t>
            </a:r>
          </a:p>
          <a:p xmlns:a="http://schemas.openxmlformats.org/drawingml/2006/main">
            <a:pPr algn="l">
              <a:defRPr sz="1575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('pii_read')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463EC-E6C6-40C8-81E7-FA8CF07A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7667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evaluated at read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48809C-36B7-4B8A-A7DD-EB4491D9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57350"/>
            <a:ext cx="19812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ECFDF8"/>
          </a:solidFill>
          <a:ln xmlns:a="http://schemas.openxmlformats.org/drawingml/2006/main" w="9525">
            <a:solidFill>
              <a:srgbClr val="17B99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175B2F-4A5C-493E-A41A-DDBF8F36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52625"/>
            <a:ext cx="95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1F0C43-4CEA-4328-AE56-AEC9E8E1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76475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pii_read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166F69-8BB7-4AC5-AA4E-2DFB61FE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241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card_admin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C271D4-B687-4102-A400-B05F26B1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43325"/>
            <a:ext cx="19812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AFE975-51F8-4B6C-813A-D451EAE0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38600"/>
            <a:ext cx="95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F2D87D-B5DE-4317-BD2A-33892701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62450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payments_read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CA8B88-C4EE-4C3D-AADC-1C2C9708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10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payment_analyst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BF581A-8D5A-4E30-8CE9-24F1A587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Role grants establish least privilege. SET DEFAULT ROLE makes the intended role active at login.</a:t>
            </a:r>
          </a:p>
        </p:txBody>
      </p:sp>
    </p:spTree>
    <p:extLst>
      <p:ext uri="{BB962C8B-B14F-4D97-AF65-F5344CB8AC3E}">
        <p14:creationId xmlns:p14="http://schemas.microsoft.com/office/powerpoint/2010/main" val="1050869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77758E-5765-4A8E-AA96-32D766CB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D7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D7F3"/>
                </a:solidFill>
                <a:latin typeface="Aptos"/>
                <a:ea typeface="Aptos"/>
                <a:cs typeface="Aptos"/>
              </a:rPr>
              <a:t>FLOW DEMO / SCENE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19A0D-27E7-4F9B-9C8A-BE02DDC4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payment analyst runs the normal report.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61DC2-9AD2-422F-807E-F8EDE635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C9E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9E4"/>
                </a:solidFill>
                <a:latin typeface="Aptos"/>
                <a:ea typeface="Aptos"/>
                <a:cs typeface="Aptos"/>
              </a:rPr>
              <a:t>payments_read is active · the exact same join is safe for day-to-day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80B00-0104-4CD6-A7FF-8F9D886A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14600"/>
            <a:ext cx="1809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4F81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EE31C-2986-4004-B0AE-E3B85DE9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14600"/>
            <a:ext cx="17621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4F81A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89ECA-A508-4EF4-8109-164F08F3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5049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2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18745-2A69-4D4D-B5F2-A8F03EEE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D7F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D7F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F1179-D58E-442B-8E88-3BA4B033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A8392-293B-4AF1-B034-07F5A3FF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2047875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2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4C5FB-C14A-403A-B291-1B68E2CD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812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D7F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D7F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E23D7-6F67-43BF-9A64-5DECA46F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574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SELECT + JOIN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5EAD0-E8F2-4515-90C0-1DF9F031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2194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D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99BB7-456B-4A33-B8C3-C35A8617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812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A2A33-50A6-4AC6-886B-429A9951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574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Masked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5E064-B922-4D6C-8D29-44269593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3441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D1A98-A37B-41BD-A7D6-8314555B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CURRENT_USER()  payment_analyst@localhost     CURRENT_ROLE()  payments_read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5F0B6A-EAE5-4BBA-B92F-DB04C196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89A5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>
                <a:solidFill>
                  <a:srgbClr val="7889A5"/>
                </a:solidFill>
                <a:latin typeface="Courier New"/>
                <a:ea typeface="Courier New"/>
                <a:cs typeface="Courier New"/>
              </a:rPr>
              <a:t>payment_id     customer_name     amount      card_brand     card_number          card_expiry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A7D726-245F-4581-B237-924C80D7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885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101            Ava Thompson      £129.99     VISA           ************1111     **/**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50855-7619-4A35-9BE0-A16790DE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885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102            Noah Williams     £49.50      MASTERCARD     ************4444     **/**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8FADD-1BCC-4FE8-98D5-EE723F9E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90950"/>
            <a:ext cx="1476375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E7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8A5882-90C2-4DE1-A67A-2C3AC67B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86200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SAFE TO SHARE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3B672-E69F-4C2E-B689-A0D0EADF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CREDIT CARD MASKING DEMO  ·  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A1CCFB-D0C1-40B3-9F77-22B08377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MySQL Enterprise data masking</a:t>
            </a:r>
          </a:p>
        </p:txBody>
      </p:sp>
    </p:spTree>
    <p:extLst>
      <p:ext uri="{BB962C8B-B14F-4D97-AF65-F5344CB8AC3E}">
        <p14:creationId xmlns:p14="http://schemas.microsoft.com/office/powerpoint/2010/main" val="20510742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3B3CA7-045E-4DA3-8635-56C1CF5F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FLOW DEMO / SCENE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8DBC8-35EA-4EB1-B74C-9B421F83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Activate pii_read only for approved payment processing.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ECB69-5656-4367-B066-879BD1FC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policy reveals the source values to the authorised session, then the workflow can settle approved payments.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A69E4-8EF4-4DC4-B9CD-07702E11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CREDIT CARD MASKING DEMO  ·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A72A8-65BE-44AF-A1D6-CF7A87E5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MySQL Enterprise data masking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1F4E3-3762-40FB-9AAA-4C12623D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4324350" cy="2914650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0713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70274-3C3E-42DF-B4EC-663BCA29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D7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D7F3"/>
                </a:solidFill>
                <a:latin typeface="Aptos"/>
                <a:ea typeface="Aptos"/>
                <a:cs typeface="Aptos"/>
              </a:rPr>
              <a:t>ACTIVE 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6A9CC-7E8F-469D-BEE5-69631B3C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0512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17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card_admin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2175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pii_read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7E7AB-0E41-4145-85AA-BF57CB0F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ED1E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ED1EC"/>
                </a:solidFill>
                <a:latin typeface="Aptos"/>
                <a:ea typeface="Aptos"/>
                <a:cs typeface="Aptos"/>
              </a:rPr>
              <a:t>Clear PAN + expiry are available</a:t>
            </a:r>
          </a:p>
          <a:p xmlns:a="http://schemas.openxmlformats.org/drawingml/2006/main">
            <a:pPr algn="l">
              <a:defRPr sz="1350" b="0">
                <a:solidFill>
                  <a:srgbClr val="BED1E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ED1EC"/>
                </a:solidFill>
                <a:latin typeface="Aptos"/>
                <a:ea typeface="Aptos"/>
                <a:cs typeface="Aptos"/>
              </a:rPr>
              <a:t>for the processing operation.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F2117-85D8-461D-926D-47D8F67F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67125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7B9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97554-D693-46B2-BEDE-A0D38694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19325"/>
            <a:ext cx="4667250" cy="2914650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986F5-9756-4A24-B561-329B09B8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527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AUTHORIZED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1FC3D-91FF-4B13-A147-952E1E6A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3E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>
                <a:solidFill>
                  <a:srgbClr val="10213E"/>
                </a:solidFill>
                <a:latin typeface="Courier New"/>
                <a:ea typeface="Courier New"/>
                <a:cs typeface="Courier New"/>
              </a:rPr>
              <a:t>4111111111111111     12/28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466E8-BCFA-4EE8-9300-B969BC85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623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FOR UPDATE  →  SET payment_status = 'SETTLED'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9A449-D238-4DF7-A346-0459F9B7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76700"/>
            <a:ext cx="26098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7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0A3EB-AAFD-4202-AA82-4DC3A118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195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AUTHORISED  →  SETTLED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962AF1-9482-4C01-BE7D-25B3E5C4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B99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B99A"/>
                </a:solidFill>
                <a:latin typeface="Aptos"/>
                <a:ea typeface="Aptos"/>
                <a:cs typeface="Aptos"/>
              </a:rPr>
              <a:t>The takeaway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06D94-84C9-4B5C-B60D-DEA8EA27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Protect by default. Reveal by role. Keep the operational flow intact.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1FD34-4807-405F-ADDF-76C65BD3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CREDIT CARD MASKING DEMO  ·  07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B7CBF4-BA4B-433E-9F35-E95A6289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57950"/>
            <a:ext cx="2457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MySQL Enterprise data masking</a:t>
            </a:r>
          </a:p>
        </p:txBody>
      </p:sp>
    </p:spTree>
    <p:extLst>
      <p:ext uri="{BB962C8B-B14F-4D97-AF65-F5344CB8AC3E}">
        <p14:creationId xmlns:p14="http://schemas.microsoft.com/office/powerpoint/2010/main" val="1082579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2026-09-25T17:24:12.7630000Z</dcterms:created>
  <dcterms:modified xsi:type="dcterms:W3CDTF">2026-09-25T17:24:12.7630000Z</dcterms:modified>
</coreProperties>
</file>