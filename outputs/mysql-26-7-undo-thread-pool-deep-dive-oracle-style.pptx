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052fa928a844da" /><Relationship Type="http://schemas.openxmlformats.org/officeDocument/2006/relationships/extended-properties" Target="/docProps/app.xml" Id="Rc0c26462e4294897" /><Relationship Type="http://schemas.openxmlformats.org/officeDocument/2006/relationships/officeDocument" Target="/ppt/presentation.xml" Id="Ra903fd2d215641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613b67c0d042a0"/>
  </p:sldMasterIdLst>
  <p:notesMasterIdLst>
    <p:notesMasterId xmlns:r="http://schemas.openxmlformats.org/officeDocument/2006/relationships" r:id="Rfa44ccb17a8b4b74"/>
  </p:notesMasterIdLst>
  <p:sldIdLst>
    <p:sldId xmlns:r="http://schemas.openxmlformats.org/officeDocument/2006/relationships" id="256" r:id="R43fb457e43ec4784"/>
    <p:sldId xmlns:r="http://schemas.openxmlformats.org/officeDocument/2006/relationships" id="257" r:id="Rded91f9488a44f48"/>
    <p:sldId xmlns:r="http://schemas.openxmlformats.org/officeDocument/2006/relationships" id="258" r:id="R91e28e1a7f7f4dea"/>
    <p:sldId xmlns:r="http://schemas.openxmlformats.org/officeDocument/2006/relationships" id="259" r:id="R00ba6694d66249e5"/>
    <p:sldId xmlns:r="http://schemas.openxmlformats.org/officeDocument/2006/relationships" id="260" r:id="R939f69607115401d"/>
    <p:sldId xmlns:r="http://schemas.openxmlformats.org/officeDocument/2006/relationships" id="261" r:id="R1df327a6c8844530"/>
    <p:sldId xmlns:r="http://schemas.openxmlformats.org/officeDocument/2006/relationships" id="262" r:id="R86a19f072f9942dc"/>
    <p:sldId xmlns:r="http://schemas.openxmlformats.org/officeDocument/2006/relationships" id="263" r:id="R27ecf75771524bf7"/>
    <p:sldId xmlns:r="http://schemas.openxmlformats.org/officeDocument/2006/relationships" id="264" r:id="Rb30e442edfa04f56"/>
    <p:sldId xmlns:r="http://schemas.openxmlformats.org/officeDocument/2006/relationships" id="265" r:id="R62f9295e50ab44a6"/>
    <p:sldId xmlns:r="http://schemas.openxmlformats.org/officeDocument/2006/relationships" id="266" r:id="R1c6d38d56fc046a0"/>
    <p:sldId xmlns:r="http://schemas.openxmlformats.org/officeDocument/2006/relationships" id="267" r:id="R079826efa6d645a2"/>
    <p:sldId xmlns:r="http://schemas.openxmlformats.org/officeDocument/2006/relationships" id="268" r:id="R360941d57ff3446f"/>
    <p:sldId xmlns:r="http://schemas.openxmlformats.org/officeDocument/2006/relationships" id="269" r:id="R5f3b004a8d424589"/>
    <p:sldId xmlns:r="http://schemas.openxmlformats.org/officeDocument/2006/relationships" id="270" r:id="R53a578bb5a7d4340"/>
    <p:sldId xmlns:r="http://schemas.openxmlformats.org/officeDocument/2006/relationships" id="271" r:id="Rd144c8161aff448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8e5ef6bb74fef" /><Relationship Type="http://schemas.openxmlformats.org/officeDocument/2006/relationships/slideMaster" Target="/ppt/slideMasters/slideMaster1.xml" Id="R33613b67c0d042a0" /><Relationship Type="http://schemas.openxmlformats.org/officeDocument/2006/relationships/notesMaster" Target="/ppt/notesMasters/notesMaster1.xml" Id="Rfa44ccb17a8b4b74" /><Relationship Type="http://schemas.openxmlformats.org/officeDocument/2006/relationships/presProps" Target="/ppt/presProps.xml" Id="R4124302a9858493e" /><Relationship Type="http://schemas.openxmlformats.org/officeDocument/2006/relationships/tableStyles" Target="/ppt/tableStyles.xml" Id="R920ebe588f5e4807" /><Relationship Type="http://schemas.openxmlformats.org/officeDocument/2006/relationships/slide" Target="/ppt/slides/slide1.xml" Id="R43fb457e43ec4784" /><Relationship Type="http://schemas.openxmlformats.org/officeDocument/2006/relationships/slide" Target="/ppt/slides/slide2.xml" Id="Rded91f9488a44f48" /><Relationship Type="http://schemas.openxmlformats.org/officeDocument/2006/relationships/slide" Target="/ppt/slides/slide3.xml" Id="R91e28e1a7f7f4dea" /><Relationship Type="http://schemas.openxmlformats.org/officeDocument/2006/relationships/slide" Target="/ppt/slides/slide4.xml" Id="R00ba6694d66249e5" /><Relationship Type="http://schemas.openxmlformats.org/officeDocument/2006/relationships/slide" Target="/ppt/slides/slide5.xml" Id="R939f69607115401d" /><Relationship Type="http://schemas.openxmlformats.org/officeDocument/2006/relationships/slide" Target="/ppt/slides/slide6.xml" Id="R1df327a6c8844530" /><Relationship Type="http://schemas.openxmlformats.org/officeDocument/2006/relationships/slide" Target="/ppt/slides/slide7.xml" Id="R86a19f072f9942dc" /><Relationship Type="http://schemas.openxmlformats.org/officeDocument/2006/relationships/slide" Target="/ppt/slides/slide8.xml" Id="R27ecf75771524bf7" /><Relationship Type="http://schemas.openxmlformats.org/officeDocument/2006/relationships/slide" Target="/ppt/slides/slide9.xml" Id="Rb30e442edfa04f56" /><Relationship Type="http://schemas.openxmlformats.org/officeDocument/2006/relationships/slide" Target="/ppt/slides/slide10.xml" Id="R62f9295e50ab44a6" /><Relationship Type="http://schemas.openxmlformats.org/officeDocument/2006/relationships/slide" Target="/ppt/slides/slide11.xml" Id="R1c6d38d56fc046a0" /><Relationship Type="http://schemas.openxmlformats.org/officeDocument/2006/relationships/slide" Target="/ppt/slides/slide12.xml" Id="R079826efa6d645a2" /><Relationship Type="http://schemas.openxmlformats.org/officeDocument/2006/relationships/slide" Target="/ppt/slides/slide13.xml" Id="R360941d57ff3446f" /><Relationship Type="http://schemas.openxmlformats.org/officeDocument/2006/relationships/slide" Target="/ppt/slides/slide14.xml" Id="R5f3b004a8d424589" /><Relationship Type="http://schemas.openxmlformats.org/officeDocument/2006/relationships/slide" Target="/ppt/slides/slide15.xml" Id="R53a578bb5a7d4340" /><Relationship Type="http://schemas.openxmlformats.org/officeDocument/2006/relationships/slide" Target="/ppt/slides/slide16.xml" Id="Rd144c8161aff448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0b4a40c7094498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31db80489f46e1" /><Relationship Type="http://schemas.openxmlformats.org/officeDocument/2006/relationships/notesMaster" Target="/ppt/notesMasters/notesMaster1.xml" Id="R4631754493014a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a67f840258426c" /><Relationship Type="http://schemas.openxmlformats.org/officeDocument/2006/relationships/notesMaster" Target="/ppt/notesMasters/notesMaster1.xml" Id="R34a95e58057b4b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a930573262482b" /><Relationship Type="http://schemas.openxmlformats.org/officeDocument/2006/relationships/notesMaster" Target="/ppt/notesMasters/notesMaster1.xml" Id="R133e783af68546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1814309b334b48" /><Relationship Type="http://schemas.openxmlformats.org/officeDocument/2006/relationships/notesMaster" Target="/ppt/notesMasters/notesMaster1.xml" Id="Ra41ca1928e1742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38f323d9804bfd" /><Relationship Type="http://schemas.openxmlformats.org/officeDocument/2006/relationships/notesMaster" Target="/ppt/notesMasters/notesMaster1.xml" Id="R3143dd9fd86143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99fadfa8bd4b62" /><Relationship Type="http://schemas.openxmlformats.org/officeDocument/2006/relationships/notesMaster" Target="/ppt/notesMasters/notesMaster1.xml" Id="R438aef4f9d6049a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9d0e6b7a974abc" /><Relationship Type="http://schemas.openxmlformats.org/officeDocument/2006/relationships/notesMaster" Target="/ppt/notesMasters/notesMaster1.xml" Id="R8e49c8ce0ad6467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01b4f5cc5042ef" /><Relationship Type="http://schemas.openxmlformats.org/officeDocument/2006/relationships/notesMaster" Target="/ppt/notesMasters/notesMaster1.xml" Id="Rba1992053ded43e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3e9dacb30c4040" /><Relationship Type="http://schemas.openxmlformats.org/officeDocument/2006/relationships/notesMaster" Target="/ppt/notesMasters/notesMaster1.xml" Id="R391152e5484d44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d3064e6302248e8" /><Relationship Type="http://schemas.openxmlformats.org/officeDocument/2006/relationships/notesMaster" Target="/ppt/notesMasters/notesMaster1.xml" Id="R3a62aa421c0048f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3ad501439b14a85" /><Relationship Type="http://schemas.openxmlformats.org/officeDocument/2006/relationships/notesMaster" Target="/ppt/notesMasters/notesMaster1.xml" Id="R91ae35fa8f5a49a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746d4a5dd946fe" /><Relationship Type="http://schemas.openxmlformats.org/officeDocument/2006/relationships/notesMaster" Target="/ppt/notesMasters/notesMaster1.xml" Id="R707ec4a8e87d43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e647bcff6044487" /><Relationship Type="http://schemas.openxmlformats.org/officeDocument/2006/relationships/notesMaster" Target="/ppt/notesMasters/notesMaster1.xml" Id="R001a5ee3a923442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f533b8e4a3e498a" /><Relationship Type="http://schemas.openxmlformats.org/officeDocument/2006/relationships/notesMaster" Target="/ppt/notesMasters/notesMaster1.xml" Id="Re29e016fcec64e4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4b6385f6b6444e" /><Relationship Type="http://schemas.openxmlformats.org/officeDocument/2006/relationships/notesMaster" Target="/ppt/notesMasters/notesMaster1.xml" Id="R561661d88f07430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bd61a0e7044c5f" /><Relationship Type="http://schemas.openxmlformats.org/officeDocument/2006/relationships/notesMaster" Target="/ppt/notesMasters/notesMaster1.xml" Id="R8aae3c445d764e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55871d43845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72ba0018614b90" /><Relationship Type="http://schemas.openxmlformats.org/officeDocument/2006/relationships/slideLayout" Target="/ppt/slideLayouts/slideLayout1.xml" Id="R8919072e495642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19072e495642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4981867b4f405c" /><Relationship Type="http://schemas.openxmlformats.org/officeDocument/2006/relationships/image" Target="/ppt/media/image.png" Id="R709cedc69f80442d" /><Relationship Type="http://schemas.openxmlformats.org/officeDocument/2006/relationships/notesSlide" Target="/ppt/notesSlides/notesSlide1.xml" Id="Rc0b1c104eab842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e29c2390342dd" /><Relationship Type="http://schemas.openxmlformats.org/officeDocument/2006/relationships/notesSlide" Target="/ppt/notesSlides/notesSlide2.xml" Id="R7e71210c7b5349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71c35816c4682" /><Relationship Type="http://schemas.openxmlformats.org/officeDocument/2006/relationships/notesSlide" Target="/ppt/notesSlides/notesSlide3.xml" Id="R2d624a32c4d44d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1863e7722f44a1" /><Relationship Type="http://schemas.openxmlformats.org/officeDocument/2006/relationships/notesSlide" Target="/ppt/notesSlides/notesSlide4.xml" Id="R7f639d09b1e14f8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e82cd95d224440" /><Relationship Type="http://schemas.openxmlformats.org/officeDocument/2006/relationships/notesSlide" Target="/ppt/notesSlides/notesSlide5.xml" Id="Red5298f43e27446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897175359a4374" /><Relationship Type="http://schemas.openxmlformats.org/officeDocument/2006/relationships/notesSlide" Target="/ppt/notesSlides/notesSlide6.xml" Id="R529e81de66b44b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a201a665940db" /><Relationship Type="http://schemas.openxmlformats.org/officeDocument/2006/relationships/notesSlide" Target="/ppt/notesSlides/notesSlide7.xml" Id="Rc8aec79abc674f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a1cb662654b25" /><Relationship Type="http://schemas.openxmlformats.org/officeDocument/2006/relationships/notesSlide" Target="/ppt/notesSlides/notesSlide8.xml" Id="Rb74ea6daf23e4c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a358bab264708" /><Relationship Type="http://schemas.openxmlformats.org/officeDocument/2006/relationships/notesSlide" Target="/ppt/notesSlides/notesSlide9.xml" Id="R1cf12337a22a4d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ed90c1d5a41f2" /><Relationship Type="http://schemas.openxmlformats.org/officeDocument/2006/relationships/notesSlide" Target="/ppt/notesSlides/notesSlide10.xml" Id="Re626ed5629e641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8a41801e724336" /><Relationship Type="http://schemas.openxmlformats.org/officeDocument/2006/relationships/notesSlide" Target="/ppt/notesSlides/notesSlide11.xml" Id="R8f90ac248cec41d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c69e0e3934124" /><Relationship Type="http://schemas.openxmlformats.org/officeDocument/2006/relationships/notesSlide" Target="/ppt/notesSlides/notesSlide12.xml" Id="R0e7dd15b24ec464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3b93721a64296" /><Relationship Type="http://schemas.openxmlformats.org/officeDocument/2006/relationships/notesSlide" Target="/ppt/notesSlides/notesSlide13.xml" Id="R7cc7f6b1248042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ef94dd703d4ade" /><Relationship Type="http://schemas.openxmlformats.org/officeDocument/2006/relationships/notesSlide" Target="/ppt/notesSlides/notesSlide14.xml" Id="Rad298f1650984ab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131b39f8e43d9" /><Relationship Type="http://schemas.openxmlformats.org/officeDocument/2006/relationships/notesSlide" Target="/ppt/notesSlides/notesSlide15.xml" Id="R03f61bb917b2402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24d34c92d84222" /><Relationship Type="http://schemas.openxmlformats.org/officeDocument/2006/relationships/notesSlide" Target="/ppt/notesSlides/notesSlide16.xml" Id="R0eb5202fc4374c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773FE419-586A-4FC6-94E0-EF387508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19C8CF9-6B40-45CB-A19A-D2B4123E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MYSQL 26.7 · STORAGE + CONCURRENCY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91F96B62-DDE6-45F8-BD9C-1299C2A9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09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Undo Truncation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4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&amp; Thread Pool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F63B781-7AE8-4A4A-BC87-9F742D09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1524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C3D1A21-8C38-4D88-8DE4-30B4FF40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9429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 deep dive into recovery state and concurrent execution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58AD0EA-73B6-4CE5-8280-DE4DD92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Implementation, verification, and benchmark playbook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cedc69f80442d"/>
          <a:stretch xmlns:a="http://schemas.openxmlformats.org/drawingml/2006/main"/>
        </p:blipFill>
        <p:spPr>
          <a:xfrm xmlns:a="http://schemas.openxmlformats.org/drawingml/2006/main">
            <a:off x="10052517" y="400050"/>
            <a:ext cx="1183341" cy="800100"/>
          </a:xfrm>
          <a:prstGeom xmlns:a="http://schemas.openxmlformats.org/drawingml/2006/main" prst="rect">
            <a:avLst/>
          </a:prstGeom>
        </p:spPr>
      </p:pic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546AB1B-5205-420E-8AF0-24119FDA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ORACLE-INSPIRED TECHNICAL BRIEFING</a:t>
            </a:r>
          </a:p>
        </p:txBody>
      </p:sp>
    </p:spTree>
    <p:extLst>
      <p:ext uri="{BB962C8B-B14F-4D97-AF65-F5344CB8AC3E}">
        <p14:creationId xmlns:p14="http://schemas.microsoft.com/office/powerpoint/2010/main" val="68323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142E9780-F7A1-42C2-A6C8-8132191D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E0DE4C0-6086-4DBB-84BE-22B4A5C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RELEASE CONTEXT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18542A-76D4-418F-9DC2-9FEF8EF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MySQL 26.7 changes two operational paths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9ACDD36-D791-4D0B-A9EA-AB3E4B8A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68411346-0E04-42FF-B280-F39F9786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Release Notes · Reference Manual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EEC2FCD0-E9E5-428B-8340-CAD95837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FD951AB0-97F6-4737-BDCC-B7C84D38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TWO DISTINCT IMPROVEMENTS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9220F893-FE88-4C86-B20D-C64260F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UNDO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9319F05-6C02-48E3-9656-37BFFF97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InnoDB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7080652D-7279-42AB-9B8D-8C97E2EB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D4072C1-10F6-4E88-8F1F-120B7421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HEADER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54C99CB0-BBDF-44B2-9AA7-52BD0B80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Crash state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6F78501D-FEB6-48D1-827E-0926A14A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139F97B0-BFA0-43ED-9501-C1759F5E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POOL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8833623-9CEB-4E42-AB7C-0C6BFCC13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Plugin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774840-9C19-4FE7-972B-8796A7AC8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147BCEF-52FB-412B-9F2F-08E9562F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RUN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9A45C622-9768-4A64-9461-AEF7BD09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Bounded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6D803B-D498-499A-86C1-73F26AFC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8132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9E9FA55-F641-49AC-ACB1-04C24AD3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57475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PROOF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BF70FF38-AC7E-4277-8E78-2E4823D3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81325"/>
            <a:ext cx="190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Measure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062C3BA-C221-4F2E-83ED-FDDD683C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DD4E3D4-D778-44DE-81A5-8E1DEF1D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10191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Undo changes how in-progress truncation is recovered. Thread Pool changes how many client statements execute at once.</a:t>
            </a:r>
          </a:p>
        </p:txBody>
      </p:sp>
      <p:sp>
        <p:nvSpPr>
          <p:cNvPr id="24" name="note">
            <a:extLst xmlns:a="http://schemas.openxmlformats.org/drawingml/2006/main">
              <a:ext uri="{FF2B5EF4-FFF2-40B4-BE49-F238E27FC236}">
                <a16:creationId xmlns:a16="http://schemas.microsoft.com/office/drawing/2014/main" id="{C8151667-A5F2-42DC-BD10-17ECAA1F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Neither change alters application SQL or transaction semantics.</a:t>
            </a:r>
          </a:p>
        </p:txBody>
      </p:sp>
    </p:spTree>
    <p:extLst>
      <p:ext uri="{BB962C8B-B14F-4D97-AF65-F5344CB8AC3E}">
        <p14:creationId xmlns:p14="http://schemas.microsoft.com/office/powerpoint/2010/main" val="7892336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D1BCB258-FD00-422F-8668-E03F4501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20912D0-3137-4DE5-A6F4-14AA2B15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UNDO · 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EE9319-35B5-47DE-8EAB-A467F0F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Undo tablespaces retain records needed by transactions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3C2A761-DB03-4D48-905E-BEC545C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F02AE72-BE1D-4CCF-8295-0BCFF07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Undo Tablespaces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0FBD15-4653-4F05-B3AB-8186DEF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044BBC-CF28-4F94-86B3-5108540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982783-D662-47FE-8197-CAA0F1B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MVCC and rollback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FE98CF-0A9D-4974-8922-1398453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Undo records support consistent reads and reversal of uncommitted changes.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F1A2BC-4378-479C-98CE-94F2C84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F38CBB-6947-45C8-A1A7-92AC277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Growth is normal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D6907A-00A1-457A-BA51-FAA5054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Long transactions and heavy writes can grow undo tablespace files.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455115-B23C-4277-81A7-82BF560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381524-4A3F-4D91-9B86-A68608F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Truncation reclaims space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36FFB8-6B94-4B59-B8F3-FDE1194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InnoDB drains an undo space, truncates it, then makes it usable again.</a:t>
            </a:r>
          </a:p>
        </p:txBody>
      </p:sp>
    </p:spTree>
    <p:extLst>
      <p:ext uri="{BB962C8B-B14F-4D97-AF65-F5344CB8AC3E}">
        <p14:creationId xmlns:p14="http://schemas.microsoft.com/office/powerpoint/2010/main" val="312843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64C69BA-C2A4-40ED-A372-BA288756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FB0C262-FB2A-4813-A3D2-36E9AA1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UNDO · WHAT CHANGED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5A4CA5-2AA9-4E2B-9349-CEA2EBE9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Undo truncation progress lives in the tablespace header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FCB5656-3542-4317-B3A0-E13AD2A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1C1F28E6-3C36-4680-A7E5-ECBFFC1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Undo Tablespaces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584EFC-0574-4FDE-94A8-6FBAF0CC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654DD09A-8502-46B5-93B9-F481175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E1D21F1-F682-4DEC-9804-51793120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6D12A3-14C8-4363-975F-A7624D7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Select space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49053A-C3C3-47AC-82C7-13538E4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Drain rollback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segments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F2A3D2-B8E0-48BE-9478-14EAE57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9C30091B-6E81-438C-B425-C0148F9D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7F27E46-0E75-4778-9EA0-AC7A4955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70DFE2-CEA7-47E2-9FDD-CE38E5D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Mark header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2F89CF-8282-4448-8B8B-7A596362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Flag the file as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unusable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903942-CED6-40F2-9F8D-DFEFA47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CC64EB21-1BD1-4BA5-A4DD-5C7A14D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FEE84AC-739C-44A2-B975-99E8D57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2E017C-1ABE-49EC-A0AF-EA87FBAE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Truncate file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E190FC-7161-4B81-A1DB-4EDF6EED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Shrink after purge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has drained it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C3712EA-038F-4C9F-A2E7-FCF35C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474E0F6F-5C16-4286-AAB0-D9023F8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5D50DF5D-96C4-4D2E-944E-9825E45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A2DE1FD-1E85-4165-8B83-F658DBA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Clear flag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A75A232-6A22-4618-A82E-3F0ED44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Return the space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to service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01A03A3-F4AA-4D02-A2BB-AAD4151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After an interruption, startup reads the header and recovers the affected undo space.</a:t>
            </a:r>
          </a:p>
        </p:txBody>
      </p:sp>
    </p:spTree>
    <p:extLst>
      <p:ext uri="{BB962C8B-B14F-4D97-AF65-F5344CB8AC3E}">
        <p14:creationId xmlns:p14="http://schemas.microsoft.com/office/powerpoint/2010/main" val="14953542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8CD51770-E808-442C-9DA7-CAF7E22B9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B77C6FB-8A71-4EC6-B343-4DC29BF7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BEFORE AND AFTER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B7871A7-A4F3-420F-9477-C87E7D4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Recovery no longer needs a new local marker file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12F93E76-2B86-4084-A3FA-52E0E7C6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200E13DD-40AB-4016-B5F8-20AC2B2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Undo Tablespaces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B078CC-B9E2-4A81-82AA-872E0688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box">
            <a:extLst xmlns:a="http://schemas.openxmlformats.org/drawingml/2006/main">
              <a:ext uri="{FF2B5EF4-FFF2-40B4-BE49-F238E27FC236}">
                <a16:creationId xmlns:a16="http://schemas.microsoft.com/office/drawing/2014/main" id="{5EDE5BEA-847F-4D79-965B-D54B7961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0820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C933B72-BB35-4EC7-9359-702DBDBF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3336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DD4B7F0-5E4E-4A74-8FCF-745EFF96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162175"/>
            <a:ext cx="36385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EARLIER RELEASES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50F6E9C1-688A-4D13-8E0D-501A2BE3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162175"/>
            <a:ext cx="4143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MYSQL 26.7</a:t>
            </a:r>
          </a:p>
        </p:txBody>
      </p:sp>
      <p:sp>
        <p:nvSpPr>
          <p:cNvPr id="11" name="box">
            <a:extLst xmlns:a="http://schemas.openxmlformats.org/drawingml/2006/main">
              <a:ext uri="{FF2B5EF4-FFF2-40B4-BE49-F238E27FC236}">
                <a16:creationId xmlns:a16="http://schemas.microsoft.com/office/drawing/2014/main" id="{8CBA7905-326D-43BB-832E-60F908D9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D60AAD0-FBF9-41AF-A8C7-600B4A3F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7652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Progress marker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8839EA2-4952-43F7-9977-31B847AB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765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undo_*_trunc.log file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5B1475F-7476-4F59-97FF-78423ADF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67652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Undo tablespace file header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0BE4517-1DD9-4E03-995D-F6652E82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02EF35E-D812-44D8-94B3-87753913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1470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Interrupted operation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A6C2CD5B-5DD8-4302-BEE4-3B315CD9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31470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Marker guides recovery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06465F2-882A-452E-B8B9-AC78D5EE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31470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Header + redo/DDL logs guide recovery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7012B3C5-4BDC-480C-AC6E-008B19CA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box">
            <a:extLst xmlns:a="http://schemas.openxmlformats.org/drawingml/2006/main">
              <a:ext uri="{FF2B5EF4-FFF2-40B4-BE49-F238E27FC236}">
                <a16:creationId xmlns:a16="http://schemas.microsoft.com/office/drawing/2014/main" id="{EDC8F0CA-E0FF-45C7-BA0E-13E4C621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A587396-BD25-4423-91F9-1425764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New marker files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9105568E-BD55-4A21-9D9E-887D7776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95287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Created for truncation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B213A9A-22E6-4084-B907-0D5A77E3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395287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Not created</a:t>
            </a:r>
          </a:p>
        </p:txBody>
      </p:sp>
      <p:sp>
        <p:nvSpPr>
          <p:cNvPr id="24" name="rule">
            <a:extLst xmlns:a="http://schemas.openxmlformats.org/drawingml/2006/main">
              <a:ext uri="{FF2B5EF4-FFF2-40B4-BE49-F238E27FC236}">
                <a16:creationId xmlns:a16="http://schemas.microsoft.com/office/drawing/2014/main" id="{906110B0-C570-4051-A4A8-4130867A5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97331339-3DCB-496D-A5B2-81072887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Legacy markers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58843F35-C029-4BDC-88D2-4C3B254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4591050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Read at startup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CC65656-DD42-49FA-A610-71D22576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591050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Still recognized, then removed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BF92F969-6E55-48D7-A38B-6D05835B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x">
            <a:extLst xmlns:a="http://schemas.openxmlformats.org/drawingml/2006/main">
              <a:ext uri="{FF2B5EF4-FFF2-40B4-BE49-F238E27FC236}">
                <a16:creationId xmlns:a16="http://schemas.microsoft.com/office/drawing/2014/main" id="{8B0ABA6E-A3B4-4E78-B65E-172B96A1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7638288-DBEE-4BE3-9E38-A8CCC6D7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22955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Application result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CFE37E6B-40FA-48B8-8EF2-7A50F095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5229225"/>
            <a:ext cx="3600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Same transactional behavior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5B192C2-9B14-4500-A1E5-767ED8C9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5229225"/>
            <a:ext cx="4105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Same transactional behavior</a:t>
            </a:r>
          </a:p>
        </p:txBody>
      </p:sp>
      <p:sp>
        <p:nvSpPr>
          <p:cNvPr id="33" name="rule">
            <a:extLst xmlns:a="http://schemas.openxmlformats.org/drawingml/2006/main">
              <a:ext uri="{FF2B5EF4-FFF2-40B4-BE49-F238E27FC236}">
                <a16:creationId xmlns:a16="http://schemas.microsoft.com/office/drawing/2014/main" id="{727DEA7C-10D5-432D-9954-52865E0A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note">
            <a:extLst xmlns:a="http://schemas.openxmlformats.org/drawingml/2006/main">
              <a:ext uri="{FF2B5EF4-FFF2-40B4-BE49-F238E27FC236}">
                <a16:creationId xmlns:a16="http://schemas.microsoft.com/office/drawing/2014/main" id="{A1D46FF8-4D55-43E6-8509-7A66EDE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This is a crash-recovery simplification, not a documented TPS gain.</a:t>
            </a:r>
          </a:p>
        </p:txBody>
      </p:sp>
    </p:spTree>
    <p:extLst>
      <p:ext uri="{BB962C8B-B14F-4D97-AF65-F5344CB8AC3E}">
        <p14:creationId xmlns:p14="http://schemas.microsoft.com/office/powerpoint/2010/main" val="788332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1057CF97-CB7E-467D-9DA7-76037D6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D8E7C9D-0800-46F3-A235-62714E16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UNDO · IMPLEMENTATION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EBE4E3-5DE8-4AFD-B5F6-3A0D5EA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Upgrade and verify; there is no separate undo plugin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215319-D95F-436C-BA98-830C697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7E7B302-CAFA-4A43-B3C7-F195CDC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Undo Tablespaces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E34E1E-4665-40F3-9735-993FAE1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7DDB85FA-4912-46C5-9B14-C1239FC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DO BEFORE UPGRADE</a:t>
            </a:r>
          </a:p>
        </p:txBody>
      </p:sp>
      <p:sp>
        <p:nvSpPr>
          <p:cNvPr id="8" name="side-label">
            <a:extLst xmlns:a="http://schemas.openxmlformats.org/drawingml/2006/main">
              <a:ext uri="{FF2B5EF4-FFF2-40B4-BE49-F238E27FC236}">
                <a16:creationId xmlns:a16="http://schemas.microsoft.com/office/drawing/2014/main" id="{B29D7F6A-2FED-45C6-919D-F06ABB0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DO NOT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7AB4A2-1A4C-451E-BD0D-554278D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85534C-AE5D-4C00-AA8F-FD24F20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193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Back up the instance and test restore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EFB00B-998F-4C73-A33E-C03C589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38A304-C838-45F0-BF5B-E2D3E58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432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Review supported upgrade path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EC8A78-F22F-427E-B426-2B6300F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4BF43F4-6B4B-480D-AA9B-95007143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671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Keep at least two active undo spaces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8F8FCD-125F-4D9A-9253-2023716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5FE88E-368E-4916-9FA2-7388566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9097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Check long-running transactions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C6C9AE0-D75D-4B84-86D7-420B50C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ACD96E-1108-42A8-9C6C-90CDCA0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148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Record current undo file sizes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A30C23-799A-47E6-8A23-254E1F5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1C6F3D-0DAF-4F00-886C-027EDBA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387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Plan an isolated recovery test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514357-30FF-45B3-AF58-4E426CA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5C8662F-E0BE-48D6-9419-9E78AB3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193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Delete undo files by hand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6A6DB23-D1B5-4C8B-8EB4-3EC4400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1CB6814-02E9-4C82-9E8B-A3B8AB1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Remove legacy markers before startup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6E28A89-75A7-4140-8C94-A564B37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A0A7D7B-873E-4318-A781-7A75CAD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671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Assume truncation is immediate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23DA908-6319-4A9C-87B5-DEEC56E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160AD76-74E1-413B-8FB5-C8ADC90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909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Force a crash on production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43A2C1A-E078-43C6-A200-D47B55F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FC7BD23-DDC1-4448-9176-B9A5B65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14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Claim an unmeasured speedup</a:t>
            </a:r>
          </a:p>
        </p:txBody>
      </p:sp>
      <p:sp>
        <p:nvSpPr>
          <p:cNvPr id="31" name="note">
            <a:extLst xmlns:a="http://schemas.openxmlformats.org/drawingml/2006/main">
              <a:ext uri="{FF2B5EF4-FFF2-40B4-BE49-F238E27FC236}">
                <a16:creationId xmlns:a16="http://schemas.microsoft.com/office/drawing/2014/main" id="{1ECEC3A9-9433-4A4D-A6AA-F100453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After upgrade, verify version, undo settings, tablespace states, and the error log.</a:t>
            </a:r>
          </a:p>
        </p:txBody>
      </p:sp>
    </p:spTree>
    <p:extLst>
      <p:ext uri="{BB962C8B-B14F-4D97-AF65-F5344CB8AC3E}">
        <p14:creationId xmlns:p14="http://schemas.microsoft.com/office/powerpoint/2010/main" val="12630610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962C35A1-6AC6-49BB-B788-B4F86DD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163D76-E7A6-41E0-B4B7-3229F9F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UNDO · VERIFY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964BA-6697-423E-8AB2-2958AB9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Inspect settings and run a lab-only truncation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7E1ED44-AD0D-42DF-A313-B80DEF86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56EB5C2-E3E9-4755-8ACE-A8374E9F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Undo Tablespaces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E3D48E-D357-492D-863C-B7268B1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B8B228-0AC4-432F-9D0E-F50E3B4A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Controlled test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F27F49-D0DE-4758-8315-3A34F84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Automatic truncation needs two active undo spaces. Manual truncation needs three; use an isolated test instance and wait for EMPTY before reactivation.</a:t>
            </a:r>
          </a:p>
        </p:txBody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FBDDA92B-4184-49A5-8215-A0AECA6C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SETTINGS</a:t>
            </a:r>
          </a:p>
        </p:txBody>
      </p:sp>
      <p:sp>
        <p:nvSpPr>
          <p:cNvPr id="10" name="side-label">
            <a:extLst xmlns:a="http://schemas.openxmlformats.org/drawingml/2006/main">
              <a:ext uri="{FF2B5EF4-FFF2-40B4-BE49-F238E27FC236}">
                <a16:creationId xmlns:a16="http://schemas.microsoft.com/office/drawing/2014/main" id="{6A5DBA20-BC54-44CC-8CA9-1036B46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MANUAL TEST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85388CB-96FF-4D2C-A17A-5E307F6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5143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A5A00DA-D706-420A-ACA8-404BC60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666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BA2A6017-866D-4736-8FE7-858E3DAE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472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VERSION(), @@innodb_undo_log_truncate,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     @@innodb_max_undo_log_size;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4B6DF2A-91D9-4F75-9404-9A839A5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51720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274E369-2B03-45E1-A3B1-8AF65001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666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ql-code">
            <a:extLst xmlns:a="http://schemas.openxmlformats.org/drawingml/2006/main">
              <a:ext uri="{FF2B5EF4-FFF2-40B4-BE49-F238E27FC236}">
                <a16:creationId xmlns:a16="http://schemas.microsoft.com/office/drawing/2014/main" id="{1F862647-2536-4DEA-A6CA-11A551E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48075"/>
            <a:ext cx="47529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CREATE UNDO TABLESPACE demo_undo ADD DATAFILE 'demo_undo.ibu';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ALTER UNDO TABLESPACE demo_undo SET INACTIVE;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NAME, STATE FROM information_schema.INNODB_TABLESPACES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WHERE NAME='demo_undo';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-- After STATE becomes EMPTY: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ALTER UNDO TABLESPACE demo_undo SET ACTIVE;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94D4D3B-DD65-4856-A6DF-2D94EACE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Record the 26.7 build and current thresholds.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5F50F8-6E23-412E-8609-E788CE2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517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Monitor the state and file size; do not delete the file by hand.</a:t>
            </a:r>
          </a:p>
        </p:txBody>
      </p:sp>
    </p:spTree>
    <p:extLst>
      <p:ext uri="{BB962C8B-B14F-4D97-AF65-F5344CB8AC3E}">
        <p14:creationId xmlns:p14="http://schemas.microsoft.com/office/powerpoint/2010/main" val="522451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4DA0D755-B379-4A9A-9549-9FF39CD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5151269-2F28-4C58-A3D1-6B5D5984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UNDO · BENCHMARK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B3D333-4486-4EEB-A134-47154D47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Validate recovery behavior, not just file size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03C1FF0F-3B0F-4E0E-9DE6-03157310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C6CA7CC7-3FAA-4B8B-84A2-E313A556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Undo Tablespaces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CF92FB8-841F-4C5D-A78B-C520C4CB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69A1009-8C37-4192-BCB4-803DD8775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85975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F22C9F11-4594-4EB1-BBC2-0B890403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0955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CDE4335A-4340-4B33-B953-7A9CF61A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11455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Record undo file size, transaction rate, and p95 latency under a fixed write workload.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EE0ED6D1-F80E-4F08-8252-0B9C8469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9082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3AB92E3-D657-4BD5-B22B-EFAC28E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E5950BE-02A8-4AD0-AE58-ED12884B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1942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Trigger truncation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A636BB-53B4-4C97-9372-13AE6170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03847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Use a test instance; allow purge to drain. Do not force a production crash.</a:t>
            </a:r>
          </a:p>
        </p:txBody>
      </p:sp>
      <p:sp>
        <p:nvSpPr>
          <p:cNvPr id="14" name="rule">
            <a:extLst xmlns:a="http://schemas.openxmlformats.org/drawingml/2006/main">
              <a:ext uri="{FF2B5EF4-FFF2-40B4-BE49-F238E27FC236}">
                <a16:creationId xmlns:a16="http://schemas.microsoft.com/office/drawing/2014/main" id="{562769A5-C502-4387-B8D0-250B5D79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0EE7F6CB-4479-4C90-AC01-5DEE96BB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0D3FB43C-5915-42FA-8930-CCA1C79A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43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Recovery drill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200F2746-2B8D-4854-A773-9C3F585D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962400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In an isolated clone, interrupt truncation and restart; inspect error log and table availability.</a:t>
            </a:r>
          </a:p>
        </p:txBody>
      </p:sp>
      <p:sp>
        <p:nvSpPr>
          <p:cNvPr id="18" name="rule">
            <a:extLst xmlns:a="http://schemas.openxmlformats.org/drawingml/2006/main">
              <a:ext uri="{FF2B5EF4-FFF2-40B4-BE49-F238E27FC236}">
                <a16:creationId xmlns:a16="http://schemas.microsoft.com/office/drawing/2014/main" id="{6416346F-C6DB-412D-8BE3-1E292140D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38675"/>
            <a:ext cx="10125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947CF7F3-AD78-4E41-9AD8-A2584AAA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95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7E8FB01A-4494-4E17-A4E2-CEF83538A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67275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2C3D86DC-DF38-4287-BEA7-0246FBF1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86325"/>
            <a:ext cx="714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Check recovery time, file recreation, correct results, and steady-state latency.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09A92543-96CD-4210-915B-5E17BE10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No 26.7 undo speedup is claimed without a controlled measurement.</a:t>
            </a:r>
          </a:p>
        </p:txBody>
      </p:sp>
    </p:spTree>
    <p:extLst>
      <p:ext uri="{BB962C8B-B14F-4D97-AF65-F5344CB8AC3E}">
        <p14:creationId xmlns:p14="http://schemas.microsoft.com/office/powerpoint/2010/main" val="18988417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D1BCB258-FD00-422F-8668-E03F4501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720912D0-3137-4DE5-A6F4-14AA2B15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THREAD POOL · CHALLENGE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EE9319-35B5-47DE-8EAB-A467F0F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High connection counts can overrun useful parallelism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3C2A761-DB03-4D48-905E-BEC545C3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F02AE72-BE1D-4CCF-8295-0BCFF07D4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Thread Pool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20FBD15-4653-4F05-B3AB-8186DEF3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9044BBC-CF28-4F94-86B3-51085404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E6982783-D662-47FE-8197-CAA0F1B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9550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Thread stacks grow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6FE98CF-0A9D-4974-8922-13984535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6697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The default model keeps one execution thread per connected client.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BF1A2BC-4378-479C-98CE-94F2C84B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9F38CBB-6947-45C8-A1A7-92AC2773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24225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Scheduling costs rise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DD6907A-00A1-457A-BA51-FAA5054F6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95700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Context switching and cache churn increase as active threads multiply.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B8455115-B23C-4277-81A7-82BF5603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2381524-4A3F-4D91-9B86-A68608F0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52950"/>
            <a:ext cx="992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InnoDB contention rises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CC36FFB8-6B94-4B59-B8F3-FDE1194F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24425"/>
            <a:ext cx="9925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Too many concurrent transactions compete for shared resources.</a:t>
            </a:r>
          </a:p>
        </p:txBody>
      </p:sp>
    </p:spTree>
    <p:extLst>
      <p:ext uri="{BB962C8B-B14F-4D97-AF65-F5344CB8AC3E}">
        <p14:creationId xmlns:p14="http://schemas.microsoft.com/office/powerpoint/2010/main" val="3128435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64C69BA-C2A4-40ED-A372-BA288756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FB0C262-FB2A-4813-A3D2-36E9AA1E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THREAD POOL · WHY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C5A4CA5-2AA9-4E2B-9349-CEA2EBE9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 pool schedules statements onto reusable workers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FCB5656-3542-4317-B3A0-E13AD2A6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1C1F28E6-3C36-4680-A7E5-ECBFFC18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Thread Pool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A584EFC-0574-4FDE-94A8-6FBAF0CC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654DD09A-8502-46B5-93B9-F481175E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8" name="box">
            <a:extLst xmlns:a="http://schemas.openxmlformats.org/drawingml/2006/main">
              <a:ext uri="{FF2B5EF4-FFF2-40B4-BE49-F238E27FC236}">
                <a16:creationId xmlns:a16="http://schemas.microsoft.com/office/drawing/2014/main" id="{6E1D21F1-F682-4DEC-9804-51793120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6D12A3-14C8-4363-975F-A7624D76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Connections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6749053A-C3C3-47AC-82C7-13538E4C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2133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Many clients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remain connected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DF2A3D2-B8E0-48BE-9478-14EAE57B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9C30091B-6E81-438C-B425-C0148F9D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37F27E46-0E75-4778-9EA0-AC7A49557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370DFE2-CEA7-47E2-9FDD-CE38E5D2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Thread groups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F2F89CF-8282-4448-8B8B-7A596362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Queue and schedule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C903942-CED6-40F2-9F8D-DFEFA474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CC64EB21-1BD1-4BA5-A4DD-5C7A14D1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18" name="box">
            <a:extLst xmlns:a="http://schemas.openxmlformats.org/drawingml/2006/main">
              <a:ext uri="{FF2B5EF4-FFF2-40B4-BE49-F238E27FC236}">
                <a16:creationId xmlns:a16="http://schemas.microsoft.com/office/drawing/2014/main" id="{BFEE84AC-739C-44A2-B975-99E8D5763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66975"/>
            <a:ext cx="233362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372E017C-1ABE-49EC-A0AF-EA87FBAEC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81300"/>
            <a:ext cx="19907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Workers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0E190FC-7161-4B81-A1DB-4EDF6EED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19500"/>
            <a:ext cx="19907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Reuse threads; cap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active queries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6C3712EA-038F-4C9F-A2E7-FCF35C4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3209925"/>
            <a:ext cx="28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2" name="mechanism-node">
            <a:extLst xmlns:a="http://schemas.openxmlformats.org/drawingml/2006/main">
              <a:ext uri="{FF2B5EF4-FFF2-40B4-BE49-F238E27FC236}">
                <a16:creationId xmlns:a16="http://schemas.microsoft.com/office/drawing/2014/main" id="{474E0F6F-5C16-4286-AAB0-D9023F8E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2124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B"/>
            </a:solidFill>
            <a:prstDash val="solid"/>
          </a:ln>
        </p:spPr>
      </p:sp>
      <p:sp>
        <p:nvSpPr>
          <p:cNvPr id="23" name="box">
            <a:extLst xmlns:a="http://schemas.openxmlformats.org/drawingml/2006/main">
              <a:ext uri="{FF2B5EF4-FFF2-40B4-BE49-F238E27FC236}">
                <a16:creationId xmlns:a16="http://schemas.microsoft.com/office/drawing/2014/main" id="{5D50DF5D-96C4-4D2E-944E-9825E45A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66975"/>
            <a:ext cx="2381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0A2DE1FD-1E85-4165-8B83-F658DBA6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Transactions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A75A232-6A22-4618-A82E-3F0ED442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19500"/>
            <a:ext cx="2038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Run at sustainable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parallelism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301A03A3-F4AA-4D02-A2BB-AAD41514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105727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The goal is steadier throughput and latency at high concurrency—not fewer SQL statements.</a:t>
            </a:r>
          </a:p>
        </p:txBody>
      </p:sp>
    </p:spTree>
    <p:extLst>
      <p:ext uri="{BB962C8B-B14F-4D97-AF65-F5344CB8AC3E}">
        <p14:creationId xmlns:p14="http://schemas.microsoft.com/office/powerpoint/2010/main" val="1495354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962C35A1-6AC6-49BB-B788-B4F86DD7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D163D76-E7A6-41E0-B4B7-3229F9FD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THREAD POOL · INSTALL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964BA-6697-423E-8AB2-2958AB91F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Load the plugin at startup on MySQL 26.7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67E1ED44-AD0D-42DF-A313-B80DEF86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A56EB5C2-E3E9-4755-8ACE-A8374E9F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Thread Pool Installation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3E3D48E-D357-492D-863C-B7268B1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8B8B228-0AC4-432F-9D0E-F50E3B4A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Prerequisites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20F27F49-D0DE-4758-8315-3A34F8413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Use a 26.7 Community or Enterprise build that ships thread_pool in plugin_dir. Test on a staging instance, back up config, and plan a restart.</a:t>
            </a:r>
          </a:p>
        </p:txBody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FBDDA92B-4184-49A5-8215-A0AECA6C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CHECK LIBRARY</a:t>
            </a:r>
          </a:p>
        </p:txBody>
      </p:sp>
      <p:sp>
        <p:nvSpPr>
          <p:cNvPr id="10" name="side-label">
            <a:extLst xmlns:a="http://schemas.openxmlformats.org/drawingml/2006/main">
              <a:ext uri="{FF2B5EF4-FFF2-40B4-BE49-F238E27FC236}">
                <a16:creationId xmlns:a16="http://schemas.microsoft.com/office/drawing/2014/main" id="{6A5DBA20-BC54-44CC-8CA9-1036B469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MY.CNF · UNIX-LIKE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485388CB-96FF-4D2C-A17A-5E307F67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51435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DA5A00DA-D706-420A-ACA8-404BC60F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66675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BA2A6017-866D-4736-8FE7-858E3DAE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4724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SHOW VARIABLES LIKE 'plugin_dir';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VERSION();</a:t>
            </a:r>
          </a:p>
        </p:txBody>
      </p:sp>
      <p:sp>
        <p:nvSpPr>
          <p:cNvPr id="14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74B6DF2A-91D9-4F75-9404-9A839A50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51720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box">
            <a:extLst xmlns:a="http://schemas.openxmlformats.org/drawingml/2006/main">
              <a:ext uri="{FF2B5EF4-FFF2-40B4-BE49-F238E27FC236}">
                <a16:creationId xmlns:a16="http://schemas.microsoft.com/office/drawing/2014/main" id="{B274E369-2B03-45E1-A3B1-8AF650014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57575"/>
            <a:ext cx="6667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ql-code">
            <a:extLst xmlns:a="http://schemas.openxmlformats.org/drawingml/2006/main">
              <a:ext uri="{FF2B5EF4-FFF2-40B4-BE49-F238E27FC236}">
                <a16:creationId xmlns:a16="http://schemas.microsoft.com/office/drawing/2014/main" id="{1F862647-2536-4DEA-A6CA-11A551E3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48075"/>
            <a:ext cx="47529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[mysqld]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plugin-load-add=thread_pool.so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# Windows: use thread_pool.dll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# Restart mysqld after the change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94D4D3B-DD65-4856-A6DF-2D94EACE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29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The 26.7 release makes Thread Pool available in Community Edition.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05F50F8-6E23-412E-8609-E788CE2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5172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If startup fails, inspect the server error log; restore prior config.</a:t>
            </a:r>
          </a:p>
        </p:txBody>
      </p:sp>
    </p:spTree>
    <p:extLst>
      <p:ext uri="{BB962C8B-B14F-4D97-AF65-F5344CB8AC3E}">
        <p14:creationId xmlns:p14="http://schemas.microsoft.com/office/powerpoint/2010/main" val="5224518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C4336422-5210-4EF2-93EB-B45F8E9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0FD5581-0669-4064-967C-ABCE227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THREAD POOL · VERIFY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57BD6-6DEC-46F7-AF7C-029718D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Confirm the plugin before tuning its limits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709F650-4EED-4FE2-B96A-695F14B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D5B967D7-C330-4D1F-BD74-AFE5969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Thread Pool Elements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00056-9332-4E8C-BAFA-43FF273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AF2AD372-7E8A-4AE5-BBE9-B2300C9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VERIFY ACTIVE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B36116-9D01-4C89-A9CA-271DA48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07C63709-EEE0-43B0-8585-8ACB042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698F9232-9CDC-4747-A752-9974A15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0401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PLUGIN_NAME, PLUGIN_STATUS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FROM information_schema.PLUGINS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WHERE PLUGIN_NAME='thread_pool';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SHOW VARIABLES LIKE 'thread_handling';</a:t>
            </a:r>
          </a:p>
        </p:txBody>
      </p:sp>
      <p:sp>
        <p:nvSpPr>
          <p:cNvPr id="11" name="side-label">
            <a:extLst xmlns:a="http://schemas.openxmlformats.org/drawingml/2006/main">
              <a:ext uri="{FF2B5EF4-FFF2-40B4-BE49-F238E27FC236}">
                <a16:creationId xmlns:a16="http://schemas.microsoft.com/office/drawing/2014/main" id="{EA8796AE-E3FD-4F66-A09F-899C01A6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INSPECT THE NEW MONITORS</a:t>
            </a:r>
          </a:p>
        </p:txBody>
      </p:sp>
      <p:sp>
        <p:nvSpPr>
          <p:cNvPr id="12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B14754C-0CA0-4E87-A892-ECF58B91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D1B36EE-7AF9-49A7-A7F4-5B0E043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ql-code">
            <a:extLst xmlns:a="http://schemas.openxmlformats.org/drawingml/2006/main">
              <a:ext uri="{FF2B5EF4-FFF2-40B4-BE49-F238E27FC236}">
                <a16:creationId xmlns:a16="http://schemas.microsoft.com/office/drawing/2014/main" id="{E28E3C01-B4C1-4C4C-BEAB-E1A45D27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1040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SELECT TABLE_NAME FROM information_schema.TABLES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WHERE TABLE_SCHEMA='performance_schema'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AND TABLE_NAME LIKE 'tp%';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SHOW VARIABLES LIKE 'thread_pool_size';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C455CBE2-5499-454C-B6A2-289C350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Expect ACTIVE and thread_handling=loaded-dynamically. Tune size at startup; compare workload results before changing other knobs.</a:t>
            </a:r>
          </a:p>
        </p:txBody>
      </p:sp>
    </p:spTree>
    <p:extLst>
      <p:ext uri="{BB962C8B-B14F-4D97-AF65-F5344CB8AC3E}">
        <p14:creationId xmlns:p14="http://schemas.microsoft.com/office/powerpoint/2010/main" val="13117453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1057CF97-CB7E-467D-9DA7-76037D6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DD8E7C9D-0800-46F3-A235-62714E167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PUBLISHED BENCHMARK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AEBE4E3-5DE8-4AFD-B5F6-3A0D5EA0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An earlier Oracle test shows the high-concurrency case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215319-D95F-436C-BA98-830C6972D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7E7B302-CAFA-4A43-B3C7-F195CDC6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Oracle MySQL blog · The New MySQL Thread Pool (2023)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E34E1E-4665-40F3-9735-993FAE1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7DDB85FA-4912-46C5-9B14-C1239FCF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OBSERVED IN ORACLE TEST</a:t>
            </a:r>
          </a:p>
        </p:txBody>
      </p:sp>
      <p:sp>
        <p:nvSpPr>
          <p:cNvPr id="8" name="side-label">
            <a:extLst xmlns:a="http://schemas.openxmlformats.org/drawingml/2006/main">
              <a:ext uri="{FF2B5EF4-FFF2-40B4-BE49-F238E27FC236}">
                <a16:creationId xmlns:a16="http://schemas.microsoft.com/office/drawing/2014/main" id="{B29D7F6A-2FED-45C6-919D-F06ABB0B6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478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DO NOT GENERALIZE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87AB4A2-1A4C-451E-BD0D-554278D4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F585534C-AE5D-4C00-AA8F-FD24F20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4193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MySQL 8.0.34; 48-core Xeon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5EFB00B-998F-4C73-A33E-C03C589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9238A304-C838-45F0-BF5B-E2D3E586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9432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TPCC-style workload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C7EC8A78-F22F-427E-B426-2B6300F99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4BF43F4-6B4B-480D-AA9B-95007143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46710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Default model: ~2,000 TPS at &gt;4,096 users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738F8FCD-125F-4D9A-9253-2023716F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FF5FE88E-368E-4916-9FA2-73885669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99097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Thread Pool: ~17,000 TPS at &gt;4,096 users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C6C9AE0-D75D-4B84-86D7-420B50C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6ACD96E-1108-42A8-9C6C-90CDCA0AA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514850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Pool size 48; algorithm 1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7A30C23-799A-47E6-8A23-254E1F51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9F1C6F3D-0DAF-4F00-886C-027EDBA0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038725"/>
            <a:ext cx="4667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Lower rate of throughput decline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1514357-30FF-45B3-AF58-4E426CA3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28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5C8662F-E0BE-48D6-9419-9E78AB39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4193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 MySQL 26.7 result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6A6DB23-D1B5-4C8B-8EB4-3EC44001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1CB6814-02E9-4C82-9E8B-A3B8AB1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 universal 8.5× speedup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66E28A89-75A7-4140-8C94-A564B37C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76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1A0A7D7B-873E-4318-A781-7A75CAD8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671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 low-concurrency benefit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23DA908-6319-4A9C-87B5-DEEC56E4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00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160AD76-74E1-413B-8FB5-C8ADC9009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9909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 latency guarantee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43A2C1A-E078-43C6-A200-D47B55F9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FC7BD23-DDC1-4448-9176-B9A5B656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51485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312D2A"/>
                </a:solidFill>
                <a:latin typeface="Arial"/>
                <a:ea typeface="Arial"/>
                <a:cs typeface="Arial"/>
              </a:rPr>
              <a:t>A substitute for local testing</a:t>
            </a:r>
          </a:p>
        </p:txBody>
      </p:sp>
      <p:sp>
        <p:nvSpPr>
          <p:cNvPr id="31" name="note">
            <a:extLst xmlns:a="http://schemas.openxmlformats.org/drawingml/2006/main">
              <a:ext uri="{FF2B5EF4-FFF2-40B4-BE49-F238E27FC236}">
                <a16:creationId xmlns:a16="http://schemas.microsoft.com/office/drawing/2014/main" id="{1ECEC3A9-9433-4A4D-A6AA-F1004535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Historical Oracle result illustrates the mechanism; remeasure on 26.7 with your own workload.</a:t>
            </a:r>
          </a:p>
        </p:txBody>
      </p:sp>
    </p:spTree>
    <p:extLst>
      <p:ext uri="{BB962C8B-B14F-4D97-AF65-F5344CB8AC3E}">
        <p14:creationId xmlns:p14="http://schemas.microsoft.com/office/powerpoint/2010/main" val="12630610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C4336422-5210-4EF2-93EB-B45F8E9E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0FD5581-0669-4064-967C-ABCE2271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LOCAL BENCHMARK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257BD6-6DEC-46F7-AF7C-029718D0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Run the same workload with and without the pool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B709F650-4EED-4FE2-B96A-695F14B1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D5B967D7-C330-4D1F-BD74-AFE5969F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sysbench project README · MySQL 26.7 Thread Pool Manual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00056-9332-4E8C-BAFA-43FF2734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AF2AD372-7E8A-4AE5-BBE9-B2300C9D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RUN THE SAME COMMAND IN BOTH CONFIGURATIONS</a:t>
            </a:r>
          </a:p>
        </p:txBody>
      </p:sp>
      <p:sp>
        <p:nvSpPr>
          <p:cNvPr id="8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2EB36116-9D01-4C89-A9CA-271DA48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108204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box">
            <a:extLst xmlns:a="http://schemas.openxmlformats.org/drawingml/2006/main">
              <a:ext uri="{FF2B5EF4-FFF2-40B4-BE49-F238E27FC236}">
                <a16:creationId xmlns:a16="http://schemas.microsoft.com/office/drawing/2014/main" id="{07C63709-EEE0-43B0-8585-8ACB0428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ql-code">
            <a:extLst xmlns:a="http://schemas.openxmlformats.org/drawingml/2006/main">
              <a:ext uri="{FF2B5EF4-FFF2-40B4-BE49-F238E27FC236}">
                <a16:creationId xmlns:a16="http://schemas.microsoft.com/office/drawing/2014/main" id="{698F9232-9CDC-4747-A752-9974A155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04013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sysbench oltp_read_write --db-driver=mysql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--mysql-host=HOST --mysql-user=bench --mysql-db=sbtest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--tables=16 --table-size=100000 --threads=128 \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  --warmup-time=30 --time=180 --report-interval=10 run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# Repeat at 32, 128, 512 clients; 3 runs each.</a:t>
            </a:r>
          </a:p>
        </p:txBody>
      </p:sp>
      <p:sp>
        <p:nvSpPr>
          <p:cNvPr id="11" name="side-label">
            <a:extLst xmlns:a="http://schemas.openxmlformats.org/drawingml/2006/main">
              <a:ext uri="{FF2B5EF4-FFF2-40B4-BE49-F238E27FC236}">
                <a16:creationId xmlns:a16="http://schemas.microsoft.com/office/drawing/2014/main" id="{EA8796AE-E3FD-4F66-A09F-899C01A6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RESULTS TO RECORD</a:t>
            </a:r>
          </a:p>
        </p:txBody>
      </p:sp>
      <p:sp>
        <p:nvSpPr>
          <p:cNvPr id="12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5B14754C-0CA0-4E87-A892-ECF58B91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box">
            <a:extLst xmlns:a="http://schemas.openxmlformats.org/drawingml/2006/main">
              <a:ext uri="{FF2B5EF4-FFF2-40B4-BE49-F238E27FC236}">
                <a16:creationId xmlns:a16="http://schemas.microsoft.com/office/drawing/2014/main" id="{7D1B36EE-7AF9-49A7-A7F4-5B0E043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66675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ql-code">
            <a:extLst xmlns:a="http://schemas.openxmlformats.org/drawingml/2006/main">
              <a:ext uri="{FF2B5EF4-FFF2-40B4-BE49-F238E27FC236}">
                <a16:creationId xmlns:a16="http://schemas.microsoft.com/office/drawing/2014/main" id="{E28E3C01-B4C1-4C4C-BEAB-E1A45D27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43425"/>
            <a:ext cx="10401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TPS · p95/p99 latency · errors · CPU · Threads_running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Compare median runs at each concurrency level.</a:t>
            </a:r>
          </a:p>
        </p:txBody>
      </p:sp>
      <p:sp>
        <p:nvSpPr>
          <p:cNvPr id="15" name="note">
            <a:extLst xmlns:a="http://schemas.openxmlformats.org/drawingml/2006/main">
              <a:ext uri="{FF2B5EF4-FFF2-40B4-BE49-F238E27FC236}">
                <a16:creationId xmlns:a16="http://schemas.microsoft.com/office/drawing/2014/main" id="{C455CBE2-5499-454C-B6A2-289C3505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Prepare the dataset once. Use a secure test credential outside the command line; randomize run order and watch for resource saturation.</a:t>
            </a:r>
          </a:p>
        </p:txBody>
      </p:sp>
    </p:spTree>
    <p:extLst>
      <p:ext uri="{BB962C8B-B14F-4D97-AF65-F5344CB8AC3E}">
        <p14:creationId xmlns:p14="http://schemas.microsoft.com/office/powerpoint/2010/main" val="131174539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3FEF9AEC-DAC7-493C-8152-8152037F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372563B8-8BA1-4DF2-AD3B-0EF9678A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ROLLOUT DECISION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9D5904-14B0-4129-9FCE-A5D3A6CE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Keep the pool only if it improves your concurrency target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AA274515-602E-4453-B0ED-A8089BB1D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4A3B9118-BC76-4593-B7F7-F34BEC15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MySQL 26.7 Reference Manual · Thread Pool Tuning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59FBB0D-91E3-4529-A43E-6F32ED45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7" name="side-label">
            <a:extLst xmlns:a="http://schemas.openxmlformats.org/drawingml/2006/main">
              <a:ext uri="{FF2B5EF4-FFF2-40B4-BE49-F238E27FC236}">
                <a16:creationId xmlns:a16="http://schemas.microsoft.com/office/drawing/2014/main" id="{630005B2-6BB6-46DC-B41A-A36A5F545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58C9730B-B015-4B99-8AFE-AA87BB37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Baseline vs pool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A712A616-009B-45DA-9962-3D89F39A1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4175"/>
            <a:ext cx="4476750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TPS at peak clients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p95/p99 latency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Errors and timeouts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CPU and active threads</a:t>
            </a:r>
          </a:p>
        </p:txBody>
      </p:sp>
      <p:sp>
        <p:nvSpPr>
          <p:cNvPr id="10" name="side-label">
            <a:extLst xmlns:a="http://schemas.openxmlformats.org/drawingml/2006/main">
              <a:ext uri="{FF2B5EF4-FFF2-40B4-BE49-F238E27FC236}">
                <a16:creationId xmlns:a16="http://schemas.microsoft.com/office/drawing/2014/main" id="{3F9A6193-1BFC-4048-A0EA-D6328E7B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9621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TUNE, THEN RETEST</a:t>
            </a:r>
          </a:p>
        </p:txBody>
      </p:sp>
      <p:sp>
        <p:nvSpPr>
          <p:cNvPr id="11" name="code-background">
            <a:extLst xmlns:a="http://schemas.openxmlformats.org/drawingml/2006/main">
              <a:ext uri="{FF2B5EF4-FFF2-40B4-BE49-F238E27FC236}">
                <a16:creationId xmlns:a16="http://schemas.microsoft.com/office/drawing/2014/main" id="{10FC911A-95E3-4573-A30E-D3D63E61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24100"/>
            <a:ext cx="5476875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ox">
            <a:extLst xmlns:a="http://schemas.openxmlformats.org/drawingml/2006/main">
              <a:ext uri="{FF2B5EF4-FFF2-40B4-BE49-F238E27FC236}">
                <a16:creationId xmlns:a16="http://schemas.microsoft.com/office/drawing/2014/main" id="{C95B59A0-1C87-4C3F-9A3C-09DF5CB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324100"/>
            <a:ext cx="66675" cy="2581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ql-code">
            <a:extLst xmlns:a="http://schemas.openxmlformats.org/drawingml/2006/main">
              <a:ext uri="{FF2B5EF4-FFF2-40B4-BE49-F238E27FC236}">
                <a16:creationId xmlns:a16="http://schemas.microsoft.com/office/drawing/2014/main" id="{EC955A17-43AB-427D-972F-4308B8B7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14600"/>
            <a:ext cx="5057775" cy="2276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Start with thread_pool_size near physical cores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for InnoDB (up to 512).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F5F1ED"/>
                </a:solidFill>
                <a:latin typeface="Aptos Mono"/>
                <a:ea typeface="Aptos Mono"/>
                <a:cs typeface="Aptos Mono"/>
              </a:rPr>
              <a:t>Size is startup-only; document rollback.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28D0B75C-A51A-41DA-91BC-B632C6D7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293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A low-concurrency workload may not benefit. Revert plugin loading if tail latency or errors worsen.</a:t>
            </a:r>
          </a:p>
        </p:txBody>
      </p:sp>
    </p:spTree>
    <p:extLst>
      <p:ext uri="{BB962C8B-B14F-4D97-AF65-F5344CB8AC3E}">
        <p14:creationId xmlns:p14="http://schemas.microsoft.com/office/powerpoint/2010/main" val="193789513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ox">
            <a:extLst xmlns:a="http://schemas.openxmlformats.org/drawingml/2006/main">
              <a:ext uri="{FF2B5EF4-FFF2-40B4-BE49-F238E27FC236}">
                <a16:creationId xmlns:a16="http://schemas.microsoft.com/office/drawing/2014/main" id="{7CF3A73E-ECAD-429A-AFE8-00FF9526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2BC6BF28-9D92-431C-96F6-7C7F538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90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E398F2-4DCE-48A8-8186-9AB0B72F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39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925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Treat undo recovery and concurrency as separate tests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380D0E2E-E724-4F82-900B-6162359A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ource">
            <a:extLst xmlns:a="http://schemas.openxmlformats.org/drawingml/2006/main">
              <a:ext uri="{FF2B5EF4-FFF2-40B4-BE49-F238E27FC236}">
                <a16:creationId xmlns:a16="http://schemas.microsoft.com/office/drawing/2014/main" id="{33B94D27-D968-4927-9A0F-0F1402F7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625C5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5C56"/>
                </a:solidFill>
                <a:latin typeface="Arial"/>
                <a:ea typeface="Arial"/>
                <a:cs typeface="Arial"/>
              </a:rPr>
              <a:t>Primary sources below</a:t>
            </a:r>
          </a:p>
        </p:txBody>
      </p:sp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0F72F7B-6184-495F-8B1A-6EBF527E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381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6E0318F0-96A5-4CA1-B21F-6583B339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0525125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400" b="1">
                <a:solidFill>
                  <a:srgbClr val="312D2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312D2A"/>
                </a:solidFill>
                <a:latin typeface="Arial"/>
                <a:ea typeface="Arial"/>
                <a:cs typeface="Arial"/>
              </a:rPr>
              <a:t>Undo requires an upgrade and recovery validation. Thread Pool requires plugin installation, a controlled A/B benchmark, and a reversible rollout.</a:t>
            </a:r>
          </a:p>
        </p:txBody>
      </p:sp>
      <p:sp>
        <p:nvSpPr>
          <p:cNvPr id="8" name="rule">
            <a:extLst xmlns:a="http://schemas.openxmlformats.org/drawingml/2006/main">
              <a:ext uri="{FF2B5EF4-FFF2-40B4-BE49-F238E27FC236}">
                <a16:creationId xmlns:a16="http://schemas.microsoft.com/office/drawing/2014/main" id="{81C650B9-9C80-497F-8EA7-259D542D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820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ide-label">
            <a:extLst xmlns:a="http://schemas.openxmlformats.org/drawingml/2006/main">
              <a:ext uri="{FF2B5EF4-FFF2-40B4-BE49-F238E27FC236}">
                <a16:creationId xmlns:a16="http://schemas.microsoft.com/office/drawing/2014/main" id="{E0FEC560-9C11-41B8-93C5-C80071F8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PRIMARY REFERENCES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B398CF5F-D915-4699-95D7-1C155BFD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9102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MySQL 26.7 Release Notes · Thread Pool and InnoDB changes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443B4C15-D5DD-45B8-9F14-D7C8DFAC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MySQL 26.7 Reference Manual · Undo Tablespaces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E8475EF8-A13F-4E3B-9145-39F15EDF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MySQL 26.7 Reference Manual · Thread Pool Installation/Tuning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CF6B29F-340B-43A1-A788-3BABB1A5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625C56"/>
                </a:solidFill>
                <a:latin typeface="Aptos Mono"/>
                <a:ea typeface="Aptos Mono"/>
                <a:cs typeface="Aptos Mono"/>
              </a:rPr>
              <a:t>Oracle MySQL blog · The New MySQL Thread Pool (2023)</a:t>
            </a:r>
          </a:p>
        </p:txBody>
      </p:sp>
    </p:spTree>
    <p:extLst>
      <p:ext uri="{BB962C8B-B14F-4D97-AF65-F5344CB8AC3E}">
        <p14:creationId xmlns:p14="http://schemas.microsoft.com/office/powerpoint/2010/main" val="726016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2026-09-26T21:04:30.8460000Z</dcterms:created>
  <dcterms:modified xsi:type="dcterms:W3CDTF">2026-09-26T21:04:30.8460000Z</dcterms:modified>
</coreProperties>
</file>