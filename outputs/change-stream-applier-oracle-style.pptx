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8201d5cd304208" /><Relationship Type="http://schemas.openxmlformats.org/officeDocument/2006/relationships/extended-properties" Target="/docProps/app.xml" Id="Red818b998bad4e8f" /><Relationship Type="http://schemas.openxmlformats.org/officeDocument/2006/relationships/officeDocument" Target="/ppt/presentation.xml" Id="R9c86bd717bd549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1c088600b34c1a"/>
  </p:sldMasterIdLst>
  <p:notesMasterIdLst>
    <p:notesMasterId xmlns:r="http://schemas.openxmlformats.org/officeDocument/2006/relationships" r:id="Rcda1765e06ad4de3"/>
  </p:notesMasterIdLst>
  <p:sldIdLst>
    <p:sldId xmlns:r="http://schemas.openxmlformats.org/officeDocument/2006/relationships" id="256" r:id="Rf77a9e1e244b44c1"/>
    <p:sldId xmlns:r="http://schemas.openxmlformats.org/officeDocument/2006/relationships" id="257" r:id="R5b2bfda1df354d89"/>
    <p:sldId xmlns:r="http://schemas.openxmlformats.org/officeDocument/2006/relationships" id="258" r:id="R60b193d8a27f42b1"/>
    <p:sldId xmlns:r="http://schemas.openxmlformats.org/officeDocument/2006/relationships" id="259" r:id="R54eb6450c652454c"/>
    <p:sldId xmlns:r="http://schemas.openxmlformats.org/officeDocument/2006/relationships" id="260" r:id="Rbd7db182fa7b418c"/>
    <p:sldId xmlns:r="http://schemas.openxmlformats.org/officeDocument/2006/relationships" id="261" r:id="R44683f0204da424d"/>
    <p:sldId xmlns:r="http://schemas.openxmlformats.org/officeDocument/2006/relationships" id="262" r:id="R4db1b8b382644290"/>
    <p:sldId xmlns:r="http://schemas.openxmlformats.org/officeDocument/2006/relationships" id="263" r:id="R240eae70750a4b85"/>
    <p:sldId xmlns:r="http://schemas.openxmlformats.org/officeDocument/2006/relationships" id="264" r:id="Re7bf0f6e1009469b"/>
    <p:sldId xmlns:r="http://schemas.openxmlformats.org/officeDocument/2006/relationships" id="265" r:id="R23d3c6d62f574171"/>
    <p:sldId xmlns:r="http://schemas.openxmlformats.org/officeDocument/2006/relationships" id="266" r:id="R1aec87791d3c485e"/>
    <p:sldId xmlns:r="http://schemas.openxmlformats.org/officeDocument/2006/relationships" id="267" r:id="R20773b3fded84b7d"/>
    <p:sldId xmlns:r="http://schemas.openxmlformats.org/officeDocument/2006/relationships" id="268" r:id="R76207868f1824e93"/>
    <p:sldId xmlns:r="http://schemas.openxmlformats.org/officeDocument/2006/relationships" id="269" r:id="R31063222279c40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2c2ee59ecd4df5" /><Relationship Type="http://schemas.openxmlformats.org/officeDocument/2006/relationships/slideMaster" Target="/ppt/slideMasters/slideMaster1.xml" Id="Re21c088600b34c1a" /><Relationship Type="http://schemas.openxmlformats.org/officeDocument/2006/relationships/notesMaster" Target="/ppt/notesMasters/notesMaster1.xml" Id="Rcda1765e06ad4de3" /><Relationship Type="http://schemas.openxmlformats.org/officeDocument/2006/relationships/presProps" Target="/ppt/presProps.xml" Id="R4ed02614710f4fcc" /><Relationship Type="http://schemas.openxmlformats.org/officeDocument/2006/relationships/tableStyles" Target="/ppt/tableStyles.xml" Id="R2c7211d96dad4c15" /><Relationship Type="http://schemas.openxmlformats.org/officeDocument/2006/relationships/slide" Target="/ppt/slides/slide1.xml" Id="Rf77a9e1e244b44c1" /><Relationship Type="http://schemas.openxmlformats.org/officeDocument/2006/relationships/slide" Target="/ppt/slides/slide2.xml" Id="R5b2bfda1df354d89" /><Relationship Type="http://schemas.openxmlformats.org/officeDocument/2006/relationships/slide" Target="/ppt/slides/slide3.xml" Id="R60b193d8a27f42b1" /><Relationship Type="http://schemas.openxmlformats.org/officeDocument/2006/relationships/slide" Target="/ppt/slides/slide4.xml" Id="R54eb6450c652454c" /><Relationship Type="http://schemas.openxmlformats.org/officeDocument/2006/relationships/slide" Target="/ppt/slides/slide5.xml" Id="Rbd7db182fa7b418c" /><Relationship Type="http://schemas.openxmlformats.org/officeDocument/2006/relationships/slide" Target="/ppt/slides/slide6.xml" Id="R44683f0204da424d" /><Relationship Type="http://schemas.openxmlformats.org/officeDocument/2006/relationships/slide" Target="/ppt/slides/slide7.xml" Id="R4db1b8b382644290" /><Relationship Type="http://schemas.openxmlformats.org/officeDocument/2006/relationships/slide" Target="/ppt/slides/slide8.xml" Id="R240eae70750a4b85" /><Relationship Type="http://schemas.openxmlformats.org/officeDocument/2006/relationships/slide" Target="/ppt/slides/slide9.xml" Id="Re7bf0f6e1009469b" /><Relationship Type="http://schemas.openxmlformats.org/officeDocument/2006/relationships/slide" Target="/ppt/slides/slide10.xml" Id="R23d3c6d62f574171" /><Relationship Type="http://schemas.openxmlformats.org/officeDocument/2006/relationships/slide" Target="/ppt/slides/slide11.xml" Id="R1aec87791d3c485e" /><Relationship Type="http://schemas.openxmlformats.org/officeDocument/2006/relationships/slide" Target="/ppt/slides/slide12.xml" Id="R20773b3fded84b7d" /><Relationship Type="http://schemas.openxmlformats.org/officeDocument/2006/relationships/slide" Target="/ppt/slides/slide13.xml" Id="R76207868f1824e93" /><Relationship Type="http://schemas.openxmlformats.org/officeDocument/2006/relationships/slide" Target="/ppt/slides/slide14.xml" Id="R31063222279c40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2d96e8767145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89e12c1614425f" /><Relationship Type="http://schemas.openxmlformats.org/officeDocument/2006/relationships/notesMaster" Target="/ppt/notesMasters/notesMaster1.xml" Id="Rcebf4658397145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0480a63e2b4051" /><Relationship Type="http://schemas.openxmlformats.org/officeDocument/2006/relationships/notesMaster" Target="/ppt/notesMasters/notesMaster1.xml" Id="Rc97e42e263a247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5c310cf9424199" /><Relationship Type="http://schemas.openxmlformats.org/officeDocument/2006/relationships/notesMaster" Target="/ppt/notesMasters/notesMaster1.xml" Id="R8a7892b705714c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1e6e9be68c454e" /><Relationship Type="http://schemas.openxmlformats.org/officeDocument/2006/relationships/notesMaster" Target="/ppt/notesMasters/notesMaster1.xml" Id="Rf418a89eb79642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9d7282943f43e2" /><Relationship Type="http://schemas.openxmlformats.org/officeDocument/2006/relationships/notesMaster" Target="/ppt/notesMasters/notesMaster1.xml" Id="R945b2daac97946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16f7aef73f415d" /><Relationship Type="http://schemas.openxmlformats.org/officeDocument/2006/relationships/notesMaster" Target="/ppt/notesMasters/notesMaster1.xml" Id="R89125034c40b44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2f21056fe24ce3" /><Relationship Type="http://schemas.openxmlformats.org/officeDocument/2006/relationships/notesMaster" Target="/ppt/notesMasters/notesMaster1.xml" Id="Rdbe85493115641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57ff62f9114a50" /><Relationship Type="http://schemas.openxmlformats.org/officeDocument/2006/relationships/notesMaster" Target="/ppt/notesMasters/notesMaster1.xml" Id="R5b847f54403343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0e784cf2fb4a73" /><Relationship Type="http://schemas.openxmlformats.org/officeDocument/2006/relationships/notesMaster" Target="/ppt/notesMasters/notesMaster1.xml" Id="Rc99037fb9d0542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38ff94513341e7" /><Relationship Type="http://schemas.openxmlformats.org/officeDocument/2006/relationships/notesMaster" Target="/ppt/notesMasters/notesMaster1.xml" Id="Ref393af59d0249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4e749fb4f34ff5" /><Relationship Type="http://schemas.openxmlformats.org/officeDocument/2006/relationships/notesMaster" Target="/ppt/notesMasters/notesMaster1.xml" Id="R6427c635711f4d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67419921304f6f" /><Relationship Type="http://schemas.openxmlformats.org/officeDocument/2006/relationships/notesMaster" Target="/ppt/notesMasters/notesMaster1.xml" Id="R50de13d8874742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1723bd53e044b7" /><Relationship Type="http://schemas.openxmlformats.org/officeDocument/2006/relationships/notesMaster" Target="/ppt/notesMasters/notesMaster1.xml" Id="R7795e0e3a07e41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04ebeba7cd4b90" /><Relationship Type="http://schemas.openxmlformats.org/officeDocument/2006/relationships/notesMaster" Target="/ppt/notesMasters/notesMaster1.xml" Id="Ra803e7ca5d0543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405e0904743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592568957448f8" /><Relationship Type="http://schemas.openxmlformats.org/officeDocument/2006/relationships/slideLayout" Target="/ppt/slideLayouts/slideLayout1.xml" Id="Rd9f75416f54649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f75416f54649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228864ab04fb5" /><Relationship Type="http://schemas.openxmlformats.org/officeDocument/2006/relationships/image" Target="/ppt/media/image.png" Id="Rf681a655f30e440d" /><Relationship Type="http://schemas.openxmlformats.org/officeDocument/2006/relationships/notesSlide" Target="/ppt/notesSlides/notesSlide1.xml" Id="Ra22f06fd35d54e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80e47f0eb42ba" /><Relationship Type="http://schemas.openxmlformats.org/officeDocument/2006/relationships/notesSlide" Target="/ppt/notesSlides/notesSlide2.xml" Id="Rd60e7590eb6f4c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28010b70c462d" /><Relationship Type="http://schemas.openxmlformats.org/officeDocument/2006/relationships/notesSlide" Target="/ppt/notesSlides/notesSlide3.xml" Id="R491de071471743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1348d37fd4dcb" /><Relationship Type="http://schemas.openxmlformats.org/officeDocument/2006/relationships/notesSlide" Target="/ppt/notesSlides/notesSlide4.xml" Id="Rf264ac76f42941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7f2f178554f53" /><Relationship Type="http://schemas.openxmlformats.org/officeDocument/2006/relationships/notesSlide" Target="/ppt/notesSlides/notesSlide5.xml" Id="R4cdf4a7cc6b54f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f3a62276e47af" /><Relationship Type="http://schemas.openxmlformats.org/officeDocument/2006/relationships/notesSlide" Target="/ppt/notesSlides/notesSlide6.xml" Id="R19a92e2a527b46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96cc4540b4989" /><Relationship Type="http://schemas.openxmlformats.org/officeDocument/2006/relationships/notesSlide" Target="/ppt/notesSlides/notesSlide7.xml" Id="R4792bec5733c46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91ff1fefc4431" /><Relationship Type="http://schemas.openxmlformats.org/officeDocument/2006/relationships/notesSlide" Target="/ppt/notesSlides/notesSlide8.xml" Id="R4b4379bf5ae748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2ac1c7ee5451d" /><Relationship Type="http://schemas.openxmlformats.org/officeDocument/2006/relationships/notesSlide" Target="/ppt/notesSlides/notesSlide9.xml" Id="Rc0f7561284b448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7febf96bd40a1" /><Relationship Type="http://schemas.openxmlformats.org/officeDocument/2006/relationships/notesSlide" Target="/ppt/notesSlides/notesSlide10.xml" Id="R2a61006fab5947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4ac07abd34f4e" /><Relationship Type="http://schemas.openxmlformats.org/officeDocument/2006/relationships/notesSlide" Target="/ppt/notesSlides/notesSlide11.xml" Id="R49115bed40c84e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fdfd7d6274b68" /><Relationship Type="http://schemas.openxmlformats.org/officeDocument/2006/relationships/notesSlide" Target="/ppt/notesSlides/notesSlide12.xml" Id="R088cb43611a64d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7f0c336044237" /><Relationship Type="http://schemas.openxmlformats.org/officeDocument/2006/relationships/notesSlide" Target="/ppt/notesSlides/notesSlide13.xml" Id="R9d91bc30ad724a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cf77aed884bd5" /><Relationship Type="http://schemas.openxmlformats.org/officeDocument/2006/relationships/notesSlide" Target="/ppt/notesSlides/notesSlide14.xml" Id="R57ae2198f19d41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773FE419-586A-4FC6-94E0-EF387508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19C8CF9-6B40-45CB-A19A-D2B4123E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MYSQL 26.7 · REPLICATION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91F96B62-DDE6-45F8-BD9C-1299C2A9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809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Change Stream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Applier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F63B781-7AE8-4A4A-BC87-9F742D09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3D1A21-8C38-4D88-8DE4-30B4FF40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Why it exists, how it works, and how to evaluate it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58AD0EA-73B6-4CE5-8280-DE4DD92E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A practical MTA versus CSA walkthrough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1a655f30e440d"/>
          <a:stretch xmlns:a="http://schemas.openxmlformats.org/drawingml/2006/main"/>
        </p:blipFill>
        <p:spPr>
          <a:xfrm xmlns:a="http://schemas.openxmlformats.org/drawingml/2006/main">
            <a:off x="10052517" y="400050"/>
            <a:ext cx="1183341" cy="8001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46AB1B-5205-420E-8AF0-24119FDA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5C56"/>
                </a:solidFill>
                <a:latin typeface="Arial"/>
                <a:ea typeface="Arial"/>
                <a:cs typeface="Arial"/>
              </a:rPr>
              <a:t>ORACLE-INSPIRED TECHNICAL BRIEFING</a:t>
            </a:r>
          </a:p>
        </p:txBody>
      </p:sp>
    </p:spTree>
    <p:extLst>
      <p:ext uri="{BB962C8B-B14F-4D97-AF65-F5344CB8AC3E}">
        <p14:creationId xmlns:p14="http://schemas.microsoft.com/office/powerpoint/2010/main" val="683235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142E9780-F7A1-42C2-A6C8-8132191D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E0DE4C0-6086-4DBB-84BE-22B4A5C2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18542A-76D4-418F-9DC2-9FEF8EF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Replication lag often starts at the apply stage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9ACDD36-D791-4D0B-A9EA-AB3E4B8A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68411346-0E04-42FF-B280-F39F9786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§19.2.4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C2FCD0-E9E5-428B-8340-CAD95837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FD951AB0-97F6-4737-BDCC-B7C84D38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THE REPLICATION PATH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20F893-FE88-4C86-B20D-C64260FD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319F05-6C02-48E3-9656-37BFFF97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Binary log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080652D-7279-42AB-9B8D-8C97E2EB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813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D4072C1-10F6-4E88-8F1F-120B7421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RECEIVER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C99CB0-BBDF-44B2-9AA7-52BD0B80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F78501D-FEB6-48D1-827E-0926A14A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813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39F97B0-BFA0-43ED-9501-C1759F5E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RELAY LOG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8833623-9CEB-4E42-AB7C-0C6BFCC1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Queued events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4774840-9C19-4FE7-972B-8796A7AC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813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147BCEF-52FB-412B-9F2F-08E9562F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APPLIER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A45C622-9768-4A64-9461-AEF7BD09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Execute + commit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6D803B-D498-499A-86C1-73F26AFC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813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9E9FA55-F641-49AC-ACB1-04C24AD3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REPLICA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F70FF38-AC7E-4277-8E78-2E4823D3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Current data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062C3BA-C221-4F2E-83ED-FDDD683C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DD4E3D4-D778-44DE-81A5-8E1DEF1D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191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When writes arrive faster than a replica can apply them, relay-log backlog and replication lag grow.</a:t>
            </a:r>
          </a:p>
        </p:txBody>
      </p:sp>
      <p:sp>
        <p:nvSpPr>
          <p:cNvPr id="24" name="note">
            <a:extLst xmlns:a="http://schemas.openxmlformats.org/drawingml/2006/main">
              <a:ext uri="{FF2B5EF4-FFF2-40B4-BE49-F238E27FC236}">
                <a16:creationId xmlns:a16="http://schemas.microsoft.com/office/drawing/2014/main" id="{C8151667-A5F2-42DC-BD10-17ECAA1F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CSA changes the replica applier—not the source binary log or transport protocol.</a:t>
            </a:r>
          </a:p>
        </p:txBody>
      </p:sp>
    </p:spTree>
    <p:extLst>
      <p:ext uri="{BB962C8B-B14F-4D97-AF65-F5344CB8AC3E}">
        <p14:creationId xmlns:p14="http://schemas.microsoft.com/office/powerpoint/2010/main" val="789233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D1BCB258-FD00-422F-8668-E03F4501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20912D0-3137-4DE5-A6F4-14AA2B15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CHALLENGES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EE9319-35B5-47DE-8EAB-A467F0F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MTA can leave useful parallelism on the table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3C2A761-DB03-4D48-905E-BEC545C3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AF02AE72-BE1D-4CCF-8295-0BCFF07D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§19.2.3; Oracle MySQL CSA introduction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0FBD15-4653-4F05-B3AB-8186DEF3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9044BBC-CF28-4F94-86B3-51085404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982783-D662-47FE-8197-CAA0F1B9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992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Bursts create backlog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6FE98CF-0A9D-4974-8922-13984535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66975"/>
            <a:ext cx="992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A replica must drain accumulated transactions after spikes, maintenance, or network interruptions.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BF1A2BC-4378-479C-98CE-94F2C84B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F38CBB-6947-45C8-A1A7-92AC2773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24225"/>
            <a:ext cx="992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Coordinator and queue pressure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D6907A-00A1-457A-BA51-FAA5054F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992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MTA reads relay-log transactions through a coordinator and distributes work to worker queues.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8455115-B23C-4277-81A7-82BF5603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2381524-4A3F-4D91-9B86-A68608F0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992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Commit-order waiting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C36FFB8-6B94-4B59-B8F3-FDE1194F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24425"/>
            <a:ext cx="992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With ordered commits, an applied transaction may still wait for an earlier transaction to finish.</a:t>
            </a:r>
          </a:p>
        </p:txBody>
      </p:sp>
    </p:spTree>
    <p:extLst>
      <p:ext uri="{BB962C8B-B14F-4D97-AF65-F5344CB8AC3E}">
        <p14:creationId xmlns:p14="http://schemas.microsoft.com/office/powerpoint/2010/main" val="312843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364C69BA-C2A4-40ED-A372-BA288756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FB0C262-FB2A-4813-A3D2-36E9AA1E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WHY CSA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5A4CA5-2AA9-4E2B-9349-CEA2EBE9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CSA schedules ready work and separates apply from commit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FCB5656-3542-4317-B3A0-E13AD2A6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1C1F28E6-3C36-4680-A7E5-ECBFFC18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§19.2.4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584EFC-0574-4FDE-94A8-6FBAF0CC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654DD09A-8502-46B5-93B9-F481175E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247650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6E1D21F1-F682-4DEC-9804-51793120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6D12A3-14C8-4363-975F-A7624D76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GTID events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749053A-C3C3-47AC-82C7-13538E4C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last_committed +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sequence_number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DF2A3D2-B8E0-48BE-9478-14EAE57B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9C30091B-6E81-438C-B425-C0148F9D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66975"/>
            <a:ext cx="2333625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37F27E46-0E75-4778-9EA0-AC7A4955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66975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370DFE2-CEA7-47E2-9FDD-CE38E5D2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199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Dependency scheduler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F2F89CF-8282-4448-8B8B-7A596362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19500"/>
            <a:ext cx="1990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Release transactions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whose dependencies hold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C903942-CED6-40F2-9F8D-DFEFA474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CC64EB21-1BD1-4BA5-A4DD-5C7A14D1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6975"/>
            <a:ext cx="2333625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BFEE84AC-739C-44A2-B975-99E8D576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6975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2E017C-1ABE-49EC-A0AF-EA87FBAE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199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Worker sessions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0E190FC-7161-4B81-A1DB-4EDF6EED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19500"/>
            <a:ext cx="1990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Apply ready changes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in parallel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C3712EA-038F-4C9F-A2E7-FCF35C47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474E0F6F-5C16-4286-AAB0-D9023F8E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66975"/>
            <a:ext cx="238125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5D50DF5D-96C4-4D2E-944E-9825E45A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66975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A2DE1FD-1E85-4165-8B83-F658DBA6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Commit-order manager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A75A232-6A22-4618-A82E-3F0ED442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1950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Preserve source order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when enabled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01A03A3-F4AA-4D02-A2BB-AAD41514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1057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A worker that finishes apply can take another ready transaction instead of parking for its commit turn.</a:t>
            </a:r>
          </a:p>
        </p:txBody>
      </p:sp>
    </p:spTree>
    <p:extLst>
      <p:ext uri="{BB962C8B-B14F-4D97-AF65-F5344CB8AC3E}">
        <p14:creationId xmlns:p14="http://schemas.microsoft.com/office/powerpoint/2010/main" val="1495354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8CD51770-E808-442C-9DA7-CAF7E22B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B77C6FB-8A71-4EC6-B343-4DC29BF7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WITH AND WITHOUT CSA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7871A7-A4F3-420F-9477-C87E7D47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Both apply transactions; their execution models differ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2F93E76-2B86-4084-A3FA-52E0E7C6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200E13DD-40AB-4016-B5F8-20AC2B2C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§19.2.4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B078CC-B9E2-4A81-82AA-872E0688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5EDE5BEA-847F-4D79-965B-D54B796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933B72-BB35-4EC7-9359-702DBDBF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DIMENSION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D4B7F0-5E4E-4A74-8FCF-745EFF96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62175"/>
            <a:ext cx="3638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WITHOUT CSA · MTA (v1)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F6E9C1-688A-4D13-8E0D-501A2BE3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162175"/>
            <a:ext cx="414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CSA · CSA (v2)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8CBA7905-326D-43BB-832E-60F908D9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60AAD0-FBF9-41AF-A8C7-600B4A3F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76525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Channel default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839EA2-4952-43F7-9977-31B847AB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76525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Default on new channels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5B1475F-7476-4F59-97FF-78423ADF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76525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Opt-in per channel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0BE4517-1DD9-4E03-995D-F6652E82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02EF35E-D812-44D8-94B3-87753913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Scheduling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6C2CD5B-5DD8-4302-BEE4-3B315CD9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1470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Coordinator assigns work to queues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06465F2-882A-452E-B8B9-AC78D5EE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31470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Dependency scheduler feeds worker pool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7012B3C5-4BDC-480C-AC6E-008B19CA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EDC8F0CA-E0FF-45C7-BA0E-13E4C621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A587396-BD25-4423-91F9-1425764A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Commit order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105568E-BD55-4A21-9D9E-887D7776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52875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Worker may wait for commit turn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B213A9A-22E6-4084-B907-0D5A77E3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952875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Apply worker can take next ready job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906110B0-C570-4051-A4A8-4130867A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7331339-3DCB-496D-A5B2-81072887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Workers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8843F35-C029-4BDC-88D2-4C3B254C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59105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replica_parallel_workers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CC65656-DD42-49FA-A610-71D22576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5910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APPLIER_WORKER_COUNT per channel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BF92F969-6E55-48D7-A38B-6D05835B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8B0ABA6E-A3B4-4E78-B65E-172B96A1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07638288-DBEE-4BE3-9E38-A8CCC6D7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Event memory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FE37E6B-40FA-48B8-8EF2-7A50F095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229225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replica_pending_jobs_size_max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5B192C2-9B14-4500-A1E5-767ED8C9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229225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APPLIER_EVENT_MEMORY_LIMIT per channel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727DEA7C-10D5-432D-9954-52865E0A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note">
            <a:extLst xmlns:a="http://schemas.openxmlformats.org/drawingml/2006/main">
              <a:ext uri="{FF2B5EF4-FFF2-40B4-BE49-F238E27FC236}">
                <a16:creationId xmlns:a16="http://schemas.microsoft.com/office/drawing/2014/main" id="{A1D46FF8-4D55-43E6-8509-7A66EDE4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CSA is an option to test, not a guaranteed speedup for every workload.</a:t>
            </a:r>
          </a:p>
        </p:txBody>
      </p:sp>
    </p:spTree>
    <p:extLst>
      <p:ext uri="{BB962C8B-B14F-4D97-AF65-F5344CB8AC3E}">
        <p14:creationId xmlns:p14="http://schemas.microsoft.com/office/powerpoint/2010/main" val="788332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1057CF97-CB7E-467D-9DA7-76037D64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D8E7C9D-0800-46F3-A235-62714E16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READINESS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EBE4E3-5DE8-4AFD-B5F6-3A0D5EA0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CSA needs a row-based GTID channel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A215319-D95F-436C-BA98-830C6972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37E7B302-CAFA-4A43-B3C7-F195CDC6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§19.2.4.1–19.2.4.2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E34E1E-4665-40F3-9735-993FAE16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7DDB85FA-4912-46C5-9B14-C1239FCF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8" name="side-label">
            <a:extLst xmlns:a="http://schemas.openxmlformats.org/drawingml/2006/main">
              <a:ext uri="{FF2B5EF4-FFF2-40B4-BE49-F238E27FC236}">
                <a16:creationId xmlns:a16="http://schemas.microsoft.com/office/drawing/2014/main" id="{B29D7F6A-2FED-45C6-919D-F06ABB0B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NOT SUPPORTED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7AB4A2-1A4C-451E-BD0D-554278D4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585534C-AE5D-4C00-AA8F-FD24F208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1935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MySQL 26.7 replica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5EFB00B-998F-4C73-A33E-C03C589F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238A304-C838-45F0-BF5B-E2D3E586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4322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Source binlog_format = ROW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7EC8A78-F22F-427E-B426-2B6300F9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4BF43F4-6B4B-480D-AA9B-95007143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6710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gtid_mode = ON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8F8FCD-125F-4D9A-9253-2023716F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F5FE88E-368E-4916-9FA2-73885669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9097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SOURCE_AUTO_POSITION = 1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C6C9AE0-D75D-4B84-86D7-420B50CE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ACD96E-1108-42A8-9C6C-90CDCA0A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51485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GTID_ONLY = 1; REQUIRE_ROW_FORMAT = 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7A30C23-799A-47E6-8A23-254E1F51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F1C6F3D-0DAF-4F00-886C-027EDBA0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3872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SOURCE_DELAY = 0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1514357-30FF-45B3-AF58-4E426CA3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5C8662F-E0BE-48D6-9419-9E78AB3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193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Statement or mixed binlogs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6A6DB23-D1B5-4C8B-8EB4-3EC44001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1CB6814-02E9-4C82-9E8B-A3B8AB1D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File/position replication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6E28A89-75A7-4140-8C94-A564B37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A0A7D7B-873E-4318-A781-7A75CAD8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671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Delayed apply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23DA908-6319-4A9C-87B5-DEEC56E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160AD76-74E1-413B-8FB5-C8ADC900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909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Assigning GTIDs to anonymous transactions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43A2C1A-E078-43C6-A200-D47B55F9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24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FC7BD23-DDC1-4448-9176-B9A5B656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148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Legacy partial transaction skipping</a:t>
            </a:r>
          </a:p>
        </p:txBody>
      </p:sp>
      <p:sp>
        <p:nvSpPr>
          <p:cNvPr id="31" name="note">
            <a:extLst xmlns:a="http://schemas.openxmlformats.org/drawingml/2006/main">
              <a:ext uri="{FF2B5EF4-FFF2-40B4-BE49-F238E27FC236}">
                <a16:creationId xmlns:a16="http://schemas.microsoft.com/office/drawing/2014/main" id="{1ECEC3A9-9433-4A4D-A6AA-F1004535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Use MTA for channels that depend on unsupported paths.</a:t>
            </a:r>
          </a:p>
        </p:txBody>
      </p:sp>
    </p:spTree>
    <p:extLst>
      <p:ext uri="{BB962C8B-B14F-4D97-AF65-F5344CB8AC3E}">
        <p14:creationId xmlns:p14="http://schemas.microsoft.com/office/powerpoint/2010/main" val="1263061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4DA0D755-B379-4A9A-9549-9FF39CD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5151269-2F28-4C58-A3D1-6B5D5984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B3D333-4486-4EEB-A134-47154D47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Make the change in one channel, then measure it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3C1FF0F-3B0F-4E0E-9DE6-03157310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C6CA7CC7-3FAA-4B8B-84A2-E313A556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§19.2.4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CF92FB8-841F-4C5D-A78B-C520C4CB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69A1009-8C37-4192-BCB4-803DD877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2C9F11-4594-4EB1-BBC2-0B890403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QUALIFY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E4335A-4340-4B33-B953-7A9CF61A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145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Check source format, GTIDs, and channel options.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E0ED6D1-F80E-4F08-8252-0B9C8469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10125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AB92E3-D657-4BD5-B22B-EFAC28EC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E5950BE-02A8-4AD0-AE58-ED12884B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194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A636BB-53B4-4C97-9372-13AE6170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38475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Capture MTA configuration, lag, and backlog drain.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562769A5-C502-4387-B8D0-250B5D79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10125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E7F6CB-4479-4C90-AC01-5DEE96BB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3FB43C-5915-42FA-8930-CCA1C79A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43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SWITCH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00F2746-2B8D-4854-A773-9C3F585D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6240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Stop the applier; set APPLIER_VERSION = 2.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6416346F-C6DB-412D-8BE3-1E292140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38675"/>
            <a:ext cx="10125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47CF7F3-AD78-4E41-9AD8-A2584AAA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E8FB01A-4494-4E17-A4E2-CEF83538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672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C3D86DC-DF38-4287-BEA7-0246FBF1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86325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Observe workers, errors, lag, and resource use.</a:t>
            </a:r>
          </a:p>
        </p:txBody>
      </p:sp>
      <p:sp>
        <p:nvSpPr>
          <p:cNvPr id="22" name="note">
            <a:extLst xmlns:a="http://schemas.openxmlformats.org/drawingml/2006/main">
              <a:ext uri="{FF2B5EF4-FFF2-40B4-BE49-F238E27FC236}">
                <a16:creationId xmlns:a16="http://schemas.microsoft.com/office/drawing/2014/main" id="{09A92543-96CD-4210-915B-5E17BE10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The applier must be stopped before changing version, worker count, or event-memory limit.</a:t>
            </a:r>
          </a:p>
        </p:txBody>
      </p:sp>
    </p:spTree>
    <p:extLst>
      <p:ext uri="{BB962C8B-B14F-4D97-AF65-F5344CB8AC3E}">
        <p14:creationId xmlns:p14="http://schemas.microsoft.com/office/powerpoint/2010/main" val="18988417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962C35A1-6AC6-49BB-B788-B4F86DD7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D163D76-E7A6-41E0-B4B7-3229F9FD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TUTORIAL · 1 OF 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7964BA-6697-423E-8AB2-2958AB9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Start with a healthy GTID replica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7E1ED44-AD0D-42DF-A313-B80DEF86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A56EB5C2-E3E9-4755-8ACE-A8374E9F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§19.2.4.1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E3D48E-D357-492D-863C-B7268B13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8B8B228-0AC4-432F-9D0E-F50E3B4A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Assumption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F27F49-D0DE-4758-8315-3A34F841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An existing channel named channel_1 replicates from a row-based GTID source to a MySQL 26.7 replica.</a:t>
            </a:r>
          </a:p>
        </p:txBody>
      </p:sp>
      <p:sp>
        <p:nvSpPr>
          <p:cNvPr id="9" name="side-label">
            <a:extLst xmlns:a="http://schemas.openxmlformats.org/drawingml/2006/main">
              <a:ext uri="{FF2B5EF4-FFF2-40B4-BE49-F238E27FC236}">
                <a16:creationId xmlns:a16="http://schemas.microsoft.com/office/drawing/2014/main" id="{FBDDA92B-4184-49A5-8215-A0AECA6C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 SOURCE</a:t>
            </a:r>
          </a:p>
        </p:txBody>
      </p:sp>
      <p:sp>
        <p:nvSpPr>
          <p:cNvPr id="10" name="side-label">
            <a:extLst xmlns:a="http://schemas.openxmlformats.org/drawingml/2006/main">
              <a:ext uri="{FF2B5EF4-FFF2-40B4-BE49-F238E27FC236}">
                <a16:creationId xmlns:a16="http://schemas.microsoft.com/office/drawing/2014/main" id="{6A5DBA20-BC54-44CC-8CA9-1036B469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 REPLICA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85388CB-96FF-4D2C-A17A-5E307F67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5143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DA5A00DA-D706-420A-ACA8-404BC60F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666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ql-code">
            <a:extLst xmlns:a="http://schemas.openxmlformats.org/drawingml/2006/main">
              <a:ext uri="{FF2B5EF4-FFF2-40B4-BE49-F238E27FC236}">
                <a16:creationId xmlns:a16="http://schemas.microsoft.com/office/drawing/2014/main" id="{BA2A6017-866D-4736-8FE7-858E3DAE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4724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SELECT @@version, @@binlog_format,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     @@gtid_mode;</a:t>
            </a:r>
          </a:p>
        </p:txBody>
      </p:sp>
      <p:sp>
        <p:nvSpPr>
          <p:cNvPr id="14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4B6DF2A-91D9-4F75-9404-9A839A50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51720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B274E369-2B03-45E1-A3B1-8AF65001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666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ql-code">
            <a:extLst xmlns:a="http://schemas.openxmlformats.org/drawingml/2006/main">
              <a:ext uri="{FF2B5EF4-FFF2-40B4-BE49-F238E27FC236}">
                <a16:creationId xmlns:a16="http://schemas.microsoft.com/office/drawing/2014/main" id="{1F862647-2536-4DEA-A6CA-11A551E3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48075"/>
            <a:ext cx="47529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SHOW REPLICA STATUS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FOR CHANNEL 'channel_1'\G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SELECT APPLIER_VERSION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FROM performance_schema.replication_applier_configuration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WHERE CHANNEL_NAME = 'channel_1';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94D4D3B-DD65-4856-A6DF-2D94EACE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Confirm ROW and ON.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05F50F8-6E23-412E-8609-E788CE2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29250"/>
            <a:ext cx="517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Confirm both threads, auto-position, and MTA version 1.</a:t>
            </a:r>
          </a:p>
        </p:txBody>
      </p:sp>
    </p:spTree>
    <p:extLst>
      <p:ext uri="{BB962C8B-B14F-4D97-AF65-F5344CB8AC3E}">
        <p14:creationId xmlns:p14="http://schemas.microsoft.com/office/powerpoint/2010/main" val="52245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4CC2015E-E225-4A29-99B0-6A7AF52F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123C19D-503B-4EC6-9BD1-0520103E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TUTORIAL · 2 OF 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621CEB-1817-4FCF-8CC5-098138C9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Prepare one repeatable write workload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FA4EBCE-D47D-402B-8D9D-6DD31885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F27924E7-9A92-4DFD-B551-AF305C42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Oracle MySQL CSA introduction; MySQL 26.7 Reference Manual §19.2.4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4ED07F-C375-4955-9E7D-DACE519F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4CD0D7-A6EC-467D-B4A7-005ADE4F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 the source</a:t>
            </a:r>
          </a:p>
        </p:txBody>
      </p:sp>
      <p:sp>
        <p:nvSpPr>
          <p:cNvPr id="8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0CCAD37-120D-4E47-991A-3057EEC2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108204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F4433A81-C82E-4324-A8A2-5DD36E2A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666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ql-code">
            <a:extLst xmlns:a="http://schemas.openxmlformats.org/drawingml/2006/main">
              <a:ext uri="{FF2B5EF4-FFF2-40B4-BE49-F238E27FC236}">
                <a16:creationId xmlns:a16="http://schemas.microsoft.com/office/drawing/2014/main" id="{80BEF221-B333-486D-8709-973C13B8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62225"/>
            <a:ext cx="10401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CREATE DATABASE IF NOT EXISTS csa_lab;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-- Use an existing lab user with rights on csa_lab.*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79C94E-3C86-4AA4-ACC3-2CED0A25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 a separate load driver with sysbench installed</a:t>
            </a:r>
          </a:p>
        </p:txBody>
      </p:sp>
      <p:sp>
        <p:nvSpPr>
          <p:cNvPr id="12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969E4AC-0D56-4E98-BA7B-6166A9D2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8204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DAAEB1EF-A500-475E-BBA3-5E6E2CF7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66675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ql-code">
            <a:extLst xmlns:a="http://schemas.openxmlformats.org/drawingml/2006/main">
              <a:ext uri="{FF2B5EF4-FFF2-40B4-BE49-F238E27FC236}">
                <a16:creationId xmlns:a16="http://schemas.microsoft.com/office/drawing/2014/main" id="{DB0D259D-3251-43E3-94B8-3825F60A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76725"/>
            <a:ext cx="10401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sysbench oltp_write_only --db-driver=mysql \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--mysql-host=SOURCE_HOST --mysql-user=BENCH_USER \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--mysql-db=csa_lab --tables=8 --table-size=10000 prepare</a:t>
            </a:r>
          </a:p>
        </p:txBody>
      </p:sp>
      <p:sp>
        <p:nvSpPr>
          <p:cNvPr id="15" name="note">
            <a:extLst xmlns:a="http://schemas.openxmlformats.org/drawingml/2006/main">
              <a:ext uri="{FF2B5EF4-FFF2-40B4-BE49-F238E27FC236}">
                <a16:creationId xmlns:a16="http://schemas.microsoft.com/office/drawing/2014/main" id="{41E86618-B86F-40EF-BE82-8D0972A6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Supply credentials securely outside the command line. Use the same table count, threads, and run time for both passes.</a:t>
            </a:r>
          </a:p>
        </p:txBody>
      </p:sp>
    </p:spTree>
    <p:extLst>
      <p:ext uri="{BB962C8B-B14F-4D97-AF65-F5344CB8AC3E}">
        <p14:creationId xmlns:p14="http://schemas.microsoft.com/office/powerpoint/2010/main" val="20604088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C4336422-5210-4EF2-93EB-B45F8E9E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0FD5581-0669-4064-967C-ABCE2271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TUTORIAL · 3 OF 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257BD6-6DEC-46F7-AF7C-029718D0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Measure MTA backlog drain first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709F650-4EED-4FE2-B96A-695F14B1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D5B967D7-C330-4D1F-BD74-AFE5969F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§19.2.4; Oracle MySQL CSA introduction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00056-9332-4E8C-BAFA-43FF2734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AF2AD372-7E8A-4AE5-BBE9-B2300C9D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 REPLICA</a:t>
            </a:r>
          </a:p>
        </p:txBody>
      </p:sp>
      <p:sp>
        <p:nvSpPr>
          <p:cNvPr id="8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EB36116-9D01-4C89-A9CA-271DA48B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07C63709-EEE0-43B0-8585-8ACB0428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ql-code">
            <a:extLst xmlns:a="http://schemas.openxmlformats.org/drawingml/2006/main">
              <a:ext uri="{FF2B5EF4-FFF2-40B4-BE49-F238E27FC236}">
                <a16:creationId xmlns:a16="http://schemas.microsoft.com/office/drawing/2014/main" id="{698F9232-9CDC-4747-A752-9974A155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0401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STOP REPLICA SQL_THREAD FOR CHANNEL 'channel_1';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-- While SQL thread is stopped, run the source load.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START REPLICA SQL_THREAD FOR CHANNEL 'channel_1';</a:t>
            </a:r>
          </a:p>
        </p:txBody>
      </p:sp>
      <p:sp>
        <p:nvSpPr>
          <p:cNvPr id="11" name="side-label">
            <a:extLst xmlns:a="http://schemas.openxmlformats.org/drawingml/2006/main">
              <a:ext uri="{FF2B5EF4-FFF2-40B4-BE49-F238E27FC236}">
                <a16:creationId xmlns:a16="http://schemas.microsoft.com/office/drawing/2014/main" id="{EA8796AE-E3FD-4F66-A09F-899C01A6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 LOAD DRIVER WHILE SQL THREAD IS STOPPED</a:t>
            </a:r>
          </a:p>
        </p:txBody>
      </p:sp>
      <p:sp>
        <p:nvSpPr>
          <p:cNvPr id="12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B14754C-0CA0-4E87-A892-ECF58B91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D1B36EE-7AF9-49A7-A7F4-5B0E0434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ql-code">
            <a:extLst xmlns:a="http://schemas.openxmlformats.org/drawingml/2006/main">
              <a:ext uri="{FF2B5EF4-FFF2-40B4-BE49-F238E27FC236}">
                <a16:creationId xmlns:a16="http://schemas.microsoft.com/office/drawing/2014/main" id="{E28E3C01-B4C1-4C4C-BEAB-E1A45D27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43425"/>
            <a:ext cx="1040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sysbench oltp_write_only --db-driver=mysql \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--mysql-host=SOURCE_HOST --mysql-user=BENCH_USER \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--mysql-db=csa_lab --tables=8 --threads=16 --time=60 run</a:t>
            </a:r>
          </a:p>
        </p:txBody>
      </p:sp>
      <p:sp>
        <p:nvSpPr>
          <p:cNvPr id="15" name="note">
            <a:extLst xmlns:a="http://schemas.openxmlformats.org/drawingml/2006/main">
              <a:ext uri="{FF2B5EF4-FFF2-40B4-BE49-F238E27FC236}">
                <a16:creationId xmlns:a16="http://schemas.microsoft.com/office/drawing/2014/main" id="{C455CBE2-5499-454C-B6A2-289C3505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Record wall-clock time from START until the replica catches up. Repeat runs to estimate normal variation.</a:t>
            </a:r>
          </a:p>
        </p:txBody>
      </p:sp>
    </p:spTree>
    <p:extLst>
      <p:ext uri="{BB962C8B-B14F-4D97-AF65-F5344CB8AC3E}">
        <p14:creationId xmlns:p14="http://schemas.microsoft.com/office/powerpoint/2010/main" val="13117453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968A9DBE-6C95-489C-AD78-B12FC745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CD0BD3F-85C0-4F27-9B68-DB076F84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TUTORIAL · 4 OF 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A57046-FA1C-4970-92B7-EAF0EA65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Enable CSA on the same channel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1749760-EEBC-4600-8699-021E9FEA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E566026E-0DF4-405A-92BB-F90E283A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§19.2.4.1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23A0DC-FB65-4190-ABA4-242C4126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074F717-B6E7-4F94-873E-CB3BBF54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71B476DB-73C1-49B2-8C74-514698EA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6667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ql-code">
            <a:extLst xmlns:a="http://schemas.openxmlformats.org/drawingml/2006/main">
              <a:ext uri="{FF2B5EF4-FFF2-40B4-BE49-F238E27FC236}">
                <a16:creationId xmlns:a16="http://schemas.microsoft.com/office/drawing/2014/main" id="{75DFB797-1E39-4805-8131-998FAD14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04013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STOP REPLICA FOR CHANNEL 'channel_1';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CHANGE REPLICATION SOURCE TO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APPLIER_VERSION = 2,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APPLIER_WORKER_COUNT = 8,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APPLIER_EVENT_MEMORY_LIMIT = 2147483648,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SOURCE_AUTO_POSITION = 1,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GTID_ONLY = 1, REQUIRE_ROW_FORMAT = 1, SOURCE_DELAY = 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FOR CHANNEL 'channel_1';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START REPLICA FOR CHANNEL 'channel_1';</a:t>
            </a:r>
          </a:p>
        </p:txBody>
      </p:sp>
      <p:sp>
        <p:nvSpPr>
          <p:cNvPr id="10" name="note">
            <a:extLst xmlns:a="http://schemas.openxmlformats.org/drawingml/2006/main">
              <a:ext uri="{FF2B5EF4-FFF2-40B4-BE49-F238E27FC236}">
                <a16:creationId xmlns:a16="http://schemas.microsoft.com/office/drawing/2014/main" id="{FBEAAFD6-1808-48F5-82A5-23913219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The 2 GiB event limit is an example, not a universal tuning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6944850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E9EED859-BE41-4EBC-B5C2-00F9F879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D7828EE-A3A6-4822-A44D-C47433B5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TUTORIAL · 5 OF 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21BAC7-CC88-470E-A0B3-D07F8BDB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Repeat the run and inspect actual worker state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41EA66B-D0F5-47A7-A826-AE4FA090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4D6B269C-79BE-40BB-A9B4-BA0FD3A1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§19.2.4.3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A4CABE5-8370-45CA-ABE9-7ED3A04B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93463C1-9BC2-496F-B700-0E530FB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Repeat the same 60-second, 16-thread load after stopping only the CSA SQL thread. Then start it and time the drain.</a:t>
            </a:r>
          </a:p>
        </p:txBody>
      </p:sp>
      <p:sp>
        <p:nvSpPr>
          <p:cNvPr id="8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39C1E57-1DCE-4040-AD9A-55BD1F98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23AD68A2-9C27-4435-A8B4-249C80B7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667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ql-code">
            <a:extLst xmlns:a="http://schemas.openxmlformats.org/drawingml/2006/main">
              <a:ext uri="{FF2B5EF4-FFF2-40B4-BE49-F238E27FC236}">
                <a16:creationId xmlns:a16="http://schemas.microsoft.com/office/drawing/2014/main" id="{B397C218-970E-4C88-A43F-15C6E737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10401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SELECT CHANNEL_NAME, APPLIER_VERSION,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     APPLIER_WORKER_COUNT, APPLIER_EVENT_MEMORY_LIMIT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FROM performance_schema.replication_applier_configuration;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E3698FB-5F19-4E7D-8B91-602B8FC9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8204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1320DAD9-99AD-4B82-BFFE-E53C7D9B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ql-code">
            <a:extLst xmlns:a="http://schemas.openxmlformats.org/drawingml/2006/main">
              <a:ext uri="{FF2B5EF4-FFF2-40B4-BE49-F238E27FC236}">
                <a16:creationId xmlns:a16="http://schemas.microsoft.com/office/drawing/2014/main" id="{1D757EF4-A73A-4AB8-BFCD-8ED75BC9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10401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SELECT CHANNEL_NAME, WORKER_ID, SERVICE_STATE,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     APPLYING_TRANSACTION, LAST_ERROR_NUMBER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FROM performance_schema.replication_applier_status_by_worker;</a:t>
            </a:r>
          </a:p>
        </p:txBody>
      </p:sp>
      <p:sp>
        <p:nvSpPr>
          <p:cNvPr id="14" name="note">
            <a:extLst xmlns:a="http://schemas.openxmlformats.org/drawingml/2006/main">
              <a:ext uri="{FF2B5EF4-FFF2-40B4-BE49-F238E27FC236}">
                <a16:creationId xmlns:a16="http://schemas.microsoft.com/office/drawing/2014/main" id="{3516E737-8C0D-43BF-9F35-C3DBF8A3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Also check SHOW REPLICA STATUS and the error log; compare lag, drain time, CPU, and memory.</a:t>
            </a:r>
          </a:p>
        </p:txBody>
      </p:sp>
    </p:spTree>
    <p:extLst>
      <p:ext uri="{BB962C8B-B14F-4D97-AF65-F5344CB8AC3E}">
        <p14:creationId xmlns:p14="http://schemas.microsoft.com/office/powerpoint/2010/main" val="7942143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3FEF9AEC-DAC7-493C-8152-8152037F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72563B8-8BA1-4DF2-AD3B-0EF9678A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9D5904-14B0-4129-9FCE-A5D3A6CE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Keep CSA only if your workload benefits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A274515-602E-4453-B0ED-A8089BB1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4A3B9118-BC76-4593-B7F7-F34BEC15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§19.2.4.1–19.2.4.3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9FBB0D-91E3-4529-A43E-6F32ED45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630005B2-6BB6-46DC-B41A-A36A5F54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8C9730B-B015-4B99-8AFE-AA87BB37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MTA vs CSA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712A616-009B-45DA-9962-3D89F39A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4476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Backlog drain time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Steady-state lag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CPU and event-cache use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Worker errors or retries</a:t>
            </a:r>
          </a:p>
        </p:txBody>
      </p:sp>
      <p:sp>
        <p:nvSpPr>
          <p:cNvPr id="10" name="side-label">
            <a:extLst xmlns:a="http://schemas.openxmlformats.org/drawingml/2006/main">
              <a:ext uri="{FF2B5EF4-FFF2-40B4-BE49-F238E27FC236}">
                <a16:creationId xmlns:a16="http://schemas.microsoft.com/office/drawing/2014/main" id="{3F9A6193-1BFC-4048-A0EA-D6328E7B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62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REVERT PER CHANNEL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0FC911A-95E3-4573-A30E-D3D63E61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24100"/>
            <a:ext cx="5476875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C95B59A0-1C87-4C3F-9A3C-09DF5CB7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24100"/>
            <a:ext cx="66675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ql-code">
            <a:extLst xmlns:a="http://schemas.openxmlformats.org/drawingml/2006/main">
              <a:ext uri="{FF2B5EF4-FFF2-40B4-BE49-F238E27FC236}">
                <a16:creationId xmlns:a16="http://schemas.microsoft.com/office/drawing/2014/main" id="{EC955A17-43AB-427D-972F-4308B8B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14600"/>
            <a:ext cx="5057775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STOP REPLICA FOR CHANNEL 'channel_1';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CHANGE REPLICATION SOURCE TO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APPLIER_VERSION = 1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FOR CHANNEL 'channel_1';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START REPLICA FOR CHANNEL 'channel_1';</a:t>
            </a:r>
          </a:p>
        </p:txBody>
      </p:sp>
      <p:sp>
        <p:nvSpPr>
          <p:cNvPr id="14" name="note">
            <a:extLst xmlns:a="http://schemas.openxmlformats.org/drawingml/2006/main">
              <a:ext uri="{FF2B5EF4-FFF2-40B4-BE49-F238E27FC236}">
                <a16:creationId xmlns:a16="http://schemas.microsoft.com/office/drawing/2014/main" id="{28D0B75C-A51A-41DA-91BC-B632C6D7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Use representative production-like writes; a small lab run demonstrates the method, not expected gains.</a:t>
            </a:r>
          </a:p>
        </p:txBody>
      </p:sp>
    </p:spTree>
    <p:extLst>
      <p:ext uri="{BB962C8B-B14F-4D97-AF65-F5344CB8AC3E}">
        <p14:creationId xmlns:p14="http://schemas.microsoft.com/office/powerpoint/2010/main" val="19378951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7CF3A73E-ECAD-429A-AFE8-00FF9526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BC6BF28-9D92-431C-96F6-7C7F5384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E398F2-4DCE-48A8-8186-9AB0B72F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CSA is a measured option for faster replica catch-up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80D0E2E-E724-4F82-900B-6162359A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33B94D27-D968-4927-9A0F-0F1402F7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Source links below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F72F7B-6184-495F-8B1A-6EBF527E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E0318F0-96A5-4CA1-B21F-6583B339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5251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Use it when a row-based GTID replica is apply-bound, then validate the result on a non-critical channel.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81C650B9-9C80-497F-8EA7-259D542D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ide-label">
            <a:extLst xmlns:a="http://schemas.openxmlformats.org/drawingml/2006/main">
              <a:ext uri="{FF2B5EF4-FFF2-40B4-BE49-F238E27FC236}">
                <a16:creationId xmlns:a16="http://schemas.microsoft.com/office/drawing/2014/main" id="{E0FEC560-9C11-41B8-93C5-C80071F8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PRIMARY REFERENCES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98CF5F-D915-4699-95D7-1C155BFD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rPr>
              <a:t>dev.mysql.com/doc/refman/26.7/en/change-stream-applier.html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43B4C15-D5DD-45B8-9F14-D7C8DFAC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rPr>
              <a:t>dev.mysql.com/doc/refman/26.7/en/change-stream-applier-configuration.html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8475EF8-A13F-4E3B-9145-39F15EDF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rPr>
              <a:t>dev.mysql.com/doc/refman/26.7/en/change-stream-applier-limitations.html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CF6B29F-340B-43A1-A788-3BABB1A5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rPr>
              <a:t>dev.mysql.com/doc/refman/26.7/en/change-stream-applier-monitoring.html</a:t>
            </a:r>
          </a:p>
        </p:txBody>
      </p:sp>
    </p:spTree>
    <p:extLst>
      <p:ext uri="{BB962C8B-B14F-4D97-AF65-F5344CB8AC3E}">
        <p14:creationId xmlns:p14="http://schemas.microsoft.com/office/powerpoint/2010/main" val="726016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2026-09-26T08:32:33.3430000Z</dcterms:created>
  <dcterms:modified xsi:type="dcterms:W3CDTF">2026-09-26T08:32:33.3430000Z</dcterms:modified>
</coreProperties>
</file>