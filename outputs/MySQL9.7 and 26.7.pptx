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08e91dcc14f4b" /><Relationship Type="http://schemas.openxmlformats.org/officeDocument/2006/relationships/extended-properties" Target="/docProps/app.xml" Id="R36365b1773f94afa" /><Relationship Type="http://schemas.openxmlformats.org/officeDocument/2006/relationships/officeDocument" Target="/ppt/presentation.xml" Id="R21be1bd19a0f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d94cf3df164d84"/>
  </p:sldMasterIdLst>
  <p:notesMasterIdLst>
    <p:notesMasterId xmlns:r="http://schemas.openxmlformats.org/officeDocument/2006/relationships" r:id="Rfe631e5d6a574c02"/>
  </p:notesMasterIdLst>
  <p:sldIdLst>
    <p:sldId xmlns:r="http://schemas.openxmlformats.org/officeDocument/2006/relationships" id="256" r:id="R5fcf6b0c97fe4b30"/>
    <p:sldId xmlns:r="http://schemas.openxmlformats.org/officeDocument/2006/relationships" id="257" r:id="R7d206669ea49448a"/>
    <p:sldId xmlns:r="http://schemas.openxmlformats.org/officeDocument/2006/relationships" id="258" r:id="R0aa142324b0b4ffb"/>
    <p:sldId xmlns:r="http://schemas.openxmlformats.org/officeDocument/2006/relationships" id="259" r:id="R9570eb875e324177"/>
    <p:sldId xmlns:r="http://schemas.openxmlformats.org/officeDocument/2006/relationships" id="260" r:id="R019fe010eab44cf4"/>
    <p:sldId xmlns:r="http://schemas.openxmlformats.org/officeDocument/2006/relationships" id="261" r:id="R7ff8a2e03ce145ca"/>
    <p:sldId xmlns:r="http://schemas.openxmlformats.org/officeDocument/2006/relationships" id="262" r:id="R21a556a6139d454b"/>
    <p:sldId xmlns:r="http://schemas.openxmlformats.org/officeDocument/2006/relationships" id="263" r:id="R7903c122ce904d52"/>
    <p:sldId xmlns:r="http://schemas.openxmlformats.org/officeDocument/2006/relationships" id="264" r:id="R655fa63a81874733"/>
    <p:sldId xmlns:r="http://schemas.openxmlformats.org/officeDocument/2006/relationships" id="265" r:id="R188cf5debc7c4196"/>
    <p:sldId xmlns:r="http://schemas.openxmlformats.org/officeDocument/2006/relationships" id="266" r:id="R0cf8989397dc405b"/>
    <p:sldId xmlns:r="http://schemas.openxmlformats.org/officeDocument/2006/relationships" id="267" r:id="R7af04066a9634b87"/>
    <p:sldId xmlns:r="http://schemas.openxmlformats.org/officeDocument/2006/relationships" id="268" r:id="Rfeb6d9a3d07f4e76"/>
    <p:sldId xmlns:r="http://schemas.openxmlformats.org/officeDocument/2006/relationships" id="269" r:id="R8f7b2dc270604a93"/>
    <p:sldId xmlns:r="http://schemas.openxmlformats.org/officeDocument/2006/relationships" id="270" r:id="Rce9b9f28a4274be5"/>
    <p:sldId xmlns:r="http://schemas.openxmlformats.org/officeDocument/2006/relationships" id="271" r:id="Rff95d0c47df840d3"/>
    <p:sldId xmlns:r="http://schemas.openxmlformats.org/officeDocument/2006/relationships" id="272" r:id="R235070bf38674d2d"/>
    <p:sldId xmlns:r="http://schemas.openxmlformats.org/officeDocument/2006/relationships" id="273" r:id="R42f347deb3d34210"/>
    <p:sldId xmlns:r="http://schemas.openxmlformats.org/officeDocument/2006/relationships" id="274" r:id="R6e1b3a9094af4712"/>
    <p:sldId xmlns:r="http://schemas.openxmlformats.org/officeDocument/2006/relationships" id="275" r:id="R0da06360eaa44b72"/>
  </p:sldIdLst>
  <p:sldSz cx="1219197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3fc0772a847c2" /><Relationship Type="http://schemas.openxmlformats.org/officeDocument/2006/relationships/slideMaster" Target="/ppt/slideMasters/slideMaster1.xml" Id="Rf9d94cf3df164d84" /><Relationship Type="http://schemas.openxmlformats.org/officeDocument/2006/relationships/notesMaster" Target="/ppt/notesMasters/notesMaster1.xml" Id="Rfe631e5d6a574c02" /><Relationship Type="http://schemas.openxmlformats.org/officeDocument/2006/relationships/presProps" Target="/ppt/presProps.xml" Id="Rd9decbc6e0974423" /><Relationship Type="http://schemas.openxmlformats.org/officeDocument/2006/relationships/viewProps" Target="/ppt/viewProps.xml" Id="Race526f2e8564eb2" /><Relationship Type="http://schemas.openxmlformats.org/officeDocument/2006/relationships/tableStyles" Target="/ppt/tableStyles.xml" Id="R82cbb27e857b4bb8" /><Relationship Type="http://schemas.openxmlformats.org/officeDocument/2006/relationships/slide" Target="/ppt/slides/slide1.xml" Id="R5fcf6b0c97fe4b30" /><Relationship Type="http://schemas.openxmlformats.org/officeDocument/2006/relationships/slide" Target="/ppt/slides/slide2.xml" Id="R7d206669ea49448a" /><Relationship Type="http://schemas.openxmlformats.org/officeDocument/2006/relationships/slide" Target="/ppt/slides/slide3.xml" Id="R0aa142324b0b4ffb" /><Relationship Type="http://schemas.openxmlformats.org/officeDocument/2006/relationships/slide" Target="/ppt/slides/slide4.xml" Id="R9570eb875e324177" /><Relationship Type="http://schemas.openxmlformats.org/officeDocument/2006/relationships/slide" Target="/ppt/slides/slide5.xml" Id="R019fe010eab44cf4" /><Relationship Type="http://schemas.openxmlformats.org/officeDocument/2006/relationships/slide" Target="/ppt/slides/slide6.xml" Id="R7ff8a2e03ce145ca" /><Relationship Type="http://schemas.openxmlformats.org/officeDocument/2006/relationships/slide" Target="/ppt/slides/slide7.xml" Id="R21a556a6139d454b" /><Relationship Type="http://schemas.openxmlformats.org/officeDocument/2006/relationships/slide" Target="/ppt/slides/slide8.xml" Id="R7903c122ce904d52" /><Relationship Type="http://schemas.openxmlformats.org/officeDocument/2006/relationships/slide" Target="/ppt/slides/slide9.xml" Id="R655fa63a81874733" /><Relationship Type="http://schemas.openxmlformats.org/officeDocument/2006/relationships/slide" Target="/ppt/slides/slide10.xml" Id="R188cf5debc7c4196" /><Relationship Type="http://schemas.openxmlformats.org/officeDocument/2006/relationships/slide" Target="/ppt/slides/slide11.xml" Id="R0cf8989397dc405b" /><Relationship Type="http://schemas.openxmlformats.org/officeDocument/2006/relationships/slide" Target="/ppt/slides/slide12.xml" Id="R7af04066a9634b87" /><Relationship Type="http://schemas.openxmlformats.org/officeDocument/2006/relationships/slide" Target="/ppt/slides/slide13.xml" Id="Rfeb6d9a3d07f4e76" /><Relationship Type="http://schemas.openxmlformats.org/officeDocument/2006/relationships/slide" Target="/ppt/slides/slide14.xml" Id="R8f7b2dc270604a93" /><Relationship Type="http://schemas.openxmlformats.org/officeDocument/2006/relationships/slide" Target="/ppt/slides/slide15.xml" Id="Rce9b9f28a4274be5" /><Relationship Type="http://schemas.openxmlformats.org/officeDocument/2006/relationships/slide" Target="/ppt/slides/slide16.xml" Id="Rff95d0c47df840d3" /><Relationship Type="http://schemas.openxmlformats.org/officeDocument/2006/relationships/slide" Target="/ppt/slides/slide17.xml" Id="R235070bf38674d2d" /><Relationship Type="http://schemas.openxmlformats.org/officeDocument/2006/relationships/slide" Target="/ppt/slides/slide18.xml" Id="R42f347deb3d34210" /><Relationship Type="http://schemas.openxmlformats.org/officeDocument/2006/relationships/slide" Target="/ppt/slides/slide19.xml" Id="R6e1b3a9094af4712" /><Relationship Type="http://schemas.openxmlformats.org/officeDocument/2006/relationships/slide" Target="/ppt/slides/slide20.xml" Id="R0da06360eaa44b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c57976c7f4c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368bec552c46a7" /><Relationship Type="http://schemas.openxmlformats.org/officeDocument/2006/relationships/notesMaster" Target="/ppt/notesMasters/notesMaster1.xml" Id="R21f287a3f08e44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3823ceee294c66" /><Relationship Type="http://schemas.openxmlformats.org/officeDocument/2006/relationships/notesMaster" Target="/ppt/notesMasters/notesMaster1.xml" Id="Rd9c3c9ff94fc40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186952e7ae4422" /><Relationship Type="http://schemas.openxmlformats.org/officeDocument/2006/relationships/notesMaster" Target="/ppt/notesMasters/notesMaster1.xml" Id="R927d302e2b834c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0574fae0d44987" /><Relationship Type="http://schemas.openxmlformats.org/officeDocument/2006/relationships/notesMaster" Target="/ppt/notesMasters/notesMaster1.xml" Id="R794bb9a883d342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d60a4fe6084de7" /><Relationship Type="http://schemas.openxmlformats.org/officeDocument/2006/relationships/notesMaster" Target="/ppt/notesMasters/notesMaster1.xml" Id="R7e64e1647e594f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56de517c7439b" /><Relationship Type="http://schemas.openxmlformats.org/officeDocument/2006/relationships/notesMaster" Target="/ppt/notesMasters/notesMaster1.xml" Id="Ra0c0982e31e94d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cc223a80724884" /><Relationship Type="http://schemas.openxmlformats.org/officeDocument/2006/relationships/notesMaster" Target="/ppt/notesMasters/notesMaster1.xml" Id="R6563a0f8227944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7dab01e2847ac" /><Relationship Type="http://schemas.openxmlformats.org/officeDocument/2006/relationships/notesMaster" Target="/ppt/notesMasters/notesMaster1.xml" Id="R0fc12c1b46744f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2c61604b754666" /><Relationship Type="http://schemas.openxmlformats.org/officeDocument/2006/relationships/notesMaster" Target="/ppt/notesMasters/notesMaster1.xml" Id="R95104d741c3b4c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36c53fdb2a42f8" /><Relationship Type="http://schemas.openxmlformats.org/officeDocument/2006/relationships/notesMaster" Target="/ppt/notesMasters/notesMaster1.xml" Id="R377d6684ef7c42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a00fdf653b4e63" /><Relationship Type="http://schemas.openxmlformats.org/officeDocument/2006/relationships/notesMaster" Target="/ppt/notesMasters/notesMaster1.xml" Id="R9ea259d9ec5c4c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44cc1e223d4975" /><Relationship Type="http://schemas.openxmlformats.org/officeDocument/2006/relationships/notesMaster" Target="/ppt/notesMasters/notesMaster1.xml" Id="R6773b5ebb0b347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311ae801f74e2b" /><Relationship Type="http://schemas.openxmlformats.org/officeDocument/2006/relationships/notesMaster" Target="/ppt/notesMasters/notesMaster1.xml" Id="Ree7f2b08571246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129aa0d0ed4ee4" /><Relationship Type="http://schemas.openxmlformats.org/officeDocument/2006/relationships/notesMaster" Target="/ppt/notesMasters/notesMaster1.xml" Id="R1c6ff7dab63148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aee7dc648724698" /><Relationship Type="http://schemas.openxmlformats.org/officeDocument/2006/relationships/notesMaster" Target="/ppt/notesMasters/notesMaster1.xml" Id="R4e6c49a16ee642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84493c929a43ec" /><Relationship Type="http://schemas.openxmlformats.org/officeDocument/2006/relationships/notesMaster" Target="/ppt/notesMasters/notesMaster1.xml" Id="Raf775e4d6bbc4a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e294097af247a0" /><Relationship Type="http://schemas.openxmlformats.org/officeDocument/2006/relationships/notesMaster" Target="/ppt/notesMasters/notesMaster1.xml" Id="R8d63abc06cbe41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9b57f0758ac42b2" /><Relationship Type="http://schemas.openxmlformats.org/officeDocument/2006/relationships/notesMaster" Target="/ppt/notesMasters/notesMaster1.xml" Id="R0881b136069247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234479ba7c448c" /><Relationship Type="http://schemas.openxmlformats.org/officeDocument/2006/relationships/notesMaster" Target="/ppt/notesMasters/notesMaster1.xml" Id="R0b7f7bafd6c44f7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17e42a6ec8543f8" /><Relationship Type="http://schemas.openxmlformats.org/officeDocument/2006/relationships/notesMaster" Target="/ppt/notesMasters/notesMaster1.xml" Id="R39d703ee51e6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2ca2235c34f3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7df515f29842c0" /><Relationship Type="http://schemas.openxmlformats.org/officeDocument/2006/relationships/slideLayout" Target="/ppt/slideLayouts/slideLayout1.xml" Id="R5680e07429b6497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80e07429b6497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c5e7e0585413b" /><Relationship Type="http://schemas.openxmlformats.org/officeDocument/2006/relationships/notesSlide" Target="/ppt/notesSlides/notesSlide1.xml" Id="R81c34468963c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deef75ee24a1e" /><Relationship Type="http://schemas.openxmlformats.org/officeDocument/2006/relationships/notesSlide" Target="/ppt/notesSlides/notesSlide2.xml" Id="R9a1a7e33cf1d40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b71abe9494b58" /><Relationship Type="http://schemas.openxmlformats.org/officeDocument/2006/relationships/notesSlide" Target="/ppt/notesSlides/notesSlide3.xml" Id="R5bec46ed21f0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e383f35454e67" /><Relationship Type="http://schemas.openxmlformats.org/officeDocument/2006/relationships/notesSlide" Target="/ppt/notesSlides/notesSlide4.xml" Id="R9460878060ea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9163fa6c24c17" /><Relationship Type="http://schemas.openxmlformats.org/officeDocument/2006/relationships/notesSlide" Target="/ppt/notesSlides/notesSlide5.xml" Id="R8732bcc62d1e45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63680bd5e41d1" /><Relationship Type="http://schemas.openxmlformats.org/officeDocument/2006/relationships/notesSlide" Target="/ppt/notesSlides/notesSlide6.xml" Id="R06d21b3b4d9b45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d1afc2af24f44" /><Relationship Type="http://schemas.openxmlformats.org/officeDocument/2006/relationships/notesSlide" Target="/ppt/notesSlides/notesSlide7.xml" Id="Re7067d231e4149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a0f8a7f1f40af" /><Relationship Type="http://schemas.openxmlformats.org/officeDocument/2006/relationships/notesSlide" Target="/ppt/notesSlides/notesSlide8.xml" Id="R6b980a81f32249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67ce2666f497e" /><Relationship Type="http://schemas.openxmlformats.org/officeDocument/2006/relationships/notesSlide" Target="/ppt/notesSlides/notesSlide9.xml" Id="R152e9f32247748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7d4eeef0a471d" /><Relationship Type="http://schemas.openxmlformats.org/officeDocument/2006/relationships/notesSlide" Target="/ppt/notesSlides/notesSlide10.xml" Id="R6338289233ec4f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10548c5b94de2" /><Relationship Type="http://schemas.openxmlformats.org/officeDocument/2006/relationships/notesSlide" Target="/ppt/notesSlides/notesSlide11.xml" Id="R8eaf9547b22e4d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c76c288fc472e" /><Relationship Type="http://schemas.openxmlformats.org/officeDocument/2006/relationships/notesSlide" Target="/ppt/notesSlides/notesSlide12.xml" Id="Rb99c3899f1df4a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a5596f0824129" /><Relationship Type="http://schemas.openxmlformats.org/officeDocument/2006/relationships/notesSlide" Target="/ppt/notesSlides/notesSlide13.xml" Id="R218e05d3a8204f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dab9ae93049cb" /><Relationship Type="http://schemas.openxmlformats.org/officeDocument/2006/relationships/notesSlide" Target="/ppt/notesSlides/notesSlide14.xml" Id="R6e887b625f0f4a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72b584b214088" /><Relationship Type="http://schemas.openxmlformats.org/officeDocument/2006/relationships/notesSlide" Target="/ppt/notesSlides/notesSlide15.xml" Id="R40ce0865a9b24f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8d5f8e5fb4bae" /><Relationship Type="http://schemas.openxmlformats.org/officeDocument/2006/relationships/notesSlide" Target="/ppt/notesSlides/notesSlide16.xml" Id="R4c364bb277524b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ea7ab9e224efe" /><Relationship Type="http://schemas.openxmlformats.org/officeDocument/2006/relationships/notesSlide" Target="/ppt/notesSlides/notesSlide17.xml" Id="Rc18df94f885d4f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c62f0af284c4c" /><Relationship Type="http://schemas.openxmlformats.org/officeDocument/2006/relationships/notesSlide" Target="/ppt/notesSlides/notesSlide18.xml" Id="R58ffc606a79c47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fc4a299eb4880" /><Relationship Type="http://schemas.openxmlformats.org/officeDocument/2006/relationships/notesSlide" Target="/ppt/notesSlides/notesSlide19.xml" Id="R59ed230d19794a8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97c7fd1c64c85" /><Relationship Type="http://schemas.openxmlformats.org/officeDocument/2006/relationships/notesSlide" Target="/ppt/notesSlides/notesSlide20.xml" Id="Rc9cd13b4298c46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12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B7899D6-B70E-4E46-9D57-AFB3225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0972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300" b="1" spc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SESSION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35B1B7-7A88-44F7-AA96-195B777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The Next Chapter of MySQL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C80737-021F-439E-A753-C3B5335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87168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600" i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9.7 LTS  &amp;  Community Server YY.MM (26.7)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7DD9D82-16FE-4FB6-B478-7C746CDF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585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D67822-1FB2-4B81-95B1-955314E2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Explore the new and updated releases of 9.7 and 26.7 — and what is coming next in MySQL.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85FF0D7-6971-4627-9A4A-7246A25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72200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2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AUGUST 2026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0D6D442-07CB-41F1-BC62-7D6652C8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6172200"/>
            <a:ext cx="5943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FFFFFF"/>
                </a:solidFill>
              </a:defRPr>
            </a:pPr>
            <a:r>
              <a:rPr sz="1100" b="1" spc="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BASED ON OFFICIAL RELEASE NOTES  |  COMMUNITY + ENTERPRISE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674BAE7-52DB-44F9-91B9-B78B68FB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51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79D0260-3057-414A-829C-6A0F732F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F7DFE80-3F98-4E4D-A88A-8A9CCD51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12" name="oracle-red-accent">
            <a:extLst xmlns:a="http://schemas.openxmlformats.org/drawingml/2006/main">
              <a:ext uri="{FF2B5EF4-FFF2-40B4-BE49-F238E27FC236}">
                <a16:creationId xmlns:a16="http://schemas.microsoft.com/office/drawing/2014/main" id="{20C2506B-F3A5-4CDA-9BFB-F32A79C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308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5918B8-16E5-4AA2-BF7D-CB78DE9D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AGENDA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D4E9E4-B4F5-422C-8366-687C5733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8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What we will cover today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6B11C99-91EB-495E-9D1C-5ABBF0FF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10642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68FDBB-E904-4ADA-8BC8-40565BF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8229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01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300ACC3-77D6-4C51-86CC-859F74DE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353312"/>
            <a:ext cx="9509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The two-track model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EED0BC-12A4-4726-AE9C-BAC347F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682496"/>
            <a:ext cx="9509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LTS vs Innovation, calendar versioning, and why 9.7 + 26.7 both matter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94C09E2-69D1-4BA5-BF85-1DFA7B68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110642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4CEA187-BBAD-4B73-87AF-2558331C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59152"/>
            <a:ext cx="8229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02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C9B086-763D-4E13-B175-A2F29017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267712"/>
            <a:ext cx="9509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MySQL 9.7 LTS highlights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EF9754-8B54-44A8-9D4E-3224514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596896"/>
            <a:ext cx="9509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Community expansion, JSON Duality Views, Hypergraph Optimizer, GR, telemetry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5F85E6A-CD64-4624-8CDD-DC560C2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110642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8AFB2E-CC14-4A5F-8B06-B92A307C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73552"/>
            <a:ext cx="8229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03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395E105-7812-4228-A0A6-53B27294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182112"/>
            <a:ext cx="9509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JSON Duality Views in depth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BBF915-6841-4866-9988-C759DEE4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511296"/>
            <a:ext cx="9509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Why they matter, how writes work, and where to apply them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006714E-AB17-4395-8381-593306C5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110642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3987538-9825-43B9-BD21-898A5FD0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7952"/>
            <a:ext cx="8229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04</a:t>
            </a:r>
            <a:endParaRPr sz="2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AD9F967-F0D8-47A8-AA3D-B768E798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096512"/>
            <a:ext cx="9509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MySQL 26.7 Innovation highlights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D901FFE-E102-46E3-A664-AE345D7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425696"/>
            <a:ext cx="9509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Change Stream Applier, Thread Pool, MYSQL GR stack, InnoDB, PQC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966DA32-3002-440E-B469-FC940440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110642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8AA0FEB-2CD1-40AE-96A9-9CC4BF9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02352"/>
            <a:ext cx="82296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05</a:t>
            </a:r>
            <a:endParaRPr sz="2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02A35A0-97D7-4002-8A12-8B7D4875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010912"/>
            <a:ext cx="9509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What to explore next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499D57-6300-4773-8FF8-72E99A3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340096"/>
            <a:ext cx="9509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Track choice, test plan, Enterprise extras, and the road to 26.10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1025971-69FE-4872-85C0-D98EFAC0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AFEC832-B988-4EDA-8340-B57E91B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BAF5CC4-782C-4EA7-A3FA-2B733FC0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Agenda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EB16A28-F639-4844-AFF0-047A2C47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02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970985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CE3233-001D-41B0-9FEF-4CB15D9B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CONTEXT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78B9FC-FE69-4205-8396-54CA8F8E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8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A new baseline, a new versioning model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488473-3EFF-4EE7-8761-A2636049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44068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6F7E65C-EB8F-44D8-80D8-30B2455F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54406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806E1D-0755-4B38-A643-0A66F6A1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8.0 is EOL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69A09E-C04E-4808-891C-902ED1A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892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8.0 reached end of life in April 2026. Teams still on 8.0 need a current, supported LTS target.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82F7D4E-7ABC-46F5-ACED-3846795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25880"/>
            <a:ext cx="544068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833EA6-5B0D-4618-9D23-F53DB0A5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25880"/>
            <a:ext cx="54406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E36D0B3-FC0D-4C49-B6D6-64ED79DA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600200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9.7 is the LTS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DB4A110-EFD2-4BBB-8E8A-AEF07B9E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48840"/>
            <a:ext cx="4892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GA 21 April 2026. Stable feature set, quarterly maintenance (9.7.2 in July, 9.7.3 security in August).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15064D4-6E48-4A60-B473-A2D781F7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44068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1170373-BA42-4DCC-95E0-17D2C7BA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54406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0EA5254-0407-434F-8B5C-CBF08192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26.7 is Innovation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DF30ABE-7EBA-4E04-975D-89496F29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4892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First CalVer Innovation GA (28 July 2026). YY.M.P — 26 = 2026, 7 = July. Next window: 26.10.0.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8C4D419-C6B7-4530-8475-000D5AB2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4068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133BD2E-4D97-447F-856A-78ED1E53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406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B8FEC90-C807-43E4-9D86-D742AD6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31920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Community stronger</a:t>
            </a:r>
            <a:endParaRPr sz="2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43CBF2B-864A-4174-BD7F-6AD52482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480560"/>
            <a:ext cx="4892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Multiple former Enterprise capabilities now ship in Community: optimizer, duality DML, GR, telemetry, thread pool.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937F2FD-AC0F-4760-B0EA-CD5BB33E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0191D58-9605-45F7-B4D6-71317C1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67711A6-523B-4E7B-99D2-43523EB2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Context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F34EDE-96EB-4E44-985D-E6A3B4FE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03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46003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B8250-3485-4B71-8D90-60BC7BEB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RELEASE MODEL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423616-3EC3-4AB4-9D43-57893C96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Choose the track that matches how you operate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9F10EE4-0BE1-4B8A-9DC5-DB93538D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44068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8B69C3-3DD2-489B-ADAD-7BBB75C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LONG-TERM SUPPORT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64A059-EDE8-489A-8DF0-5A280157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MySQL 9.7.x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1D87CB3-7F4D-4F12-8E14-71CCBE8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489204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Stable feature set for the life of the series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Quarterly bug + security maintenance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In-place upgrades within the LTS line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Best for production standardization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Current patch: 9.7.2 / 9.7.3 (CSPU)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6352863-04F9-4D8B-BD69-C1C15D86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80160"/>
            <a:ext cx="544068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1E37F1-34F5-4025-977A-A6B775BF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200" b="1" spc="2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INNOVATION  ·  CALVER YY.MM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B64D312-6982-4A1B-A137-583B5501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83080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MySQL 26.7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454AC9A-8619-4720-A5F7-089D67CC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77440"/>
            <a:ext cx="489204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Newest features every quarter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Deprecations and removals land here first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Production-grade, but expect more change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Best for teams that can test and upgrade often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Next scheduled: 26.10.0 (October 2026)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2B8FD8-8646-4340-8DA6-72468CD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0AEA12B-42F6-4AB3-88A7-A13A92E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000" b="1" spc="14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F6DE044-7DCF-4FBB-8C55-C2B74DDB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Release model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770C86-6C19-47F3-932D-1BFD60F5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04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8504748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E30CA9-55D5-4149-AE10-736242F8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MYSQL 9.7 LTS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29D535-FAA4-4B5B-9B53-337498D5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Four pillars of Community expansion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5443DE3-B3FE-426F-8B08-D510F189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2743200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1653153-DCF8-47FB-BDF8-E7F94A27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2743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469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CF1EC02-0450-4849-A1CE-6251459B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544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01</a:t>
            </a:r>
            <a:endParaRPr sz="2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4D5DD9-6A72-42DF-9BD4-D677723A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0312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Replication &amp; HA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C518E0-601B-4C74-9F08-0C636449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54680"/>
            <a:ext cx="2377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Applier metrics, GR flow-control stats, resource manager (evict/rejoin), up-to-date primary election.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45A200-81F2-4837-B659-0397BBAC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25880"/>
            <a:ext cx="2743200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1559E02-C12E-47ED-AA1F-206009FF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25880"/>
            <a:ext cx="2743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4694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0C965B-D8B2-429D-AD7F-7C4CF697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5544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02</a:t>
            </a:r>
            <a:endParaRPr sz="2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B7BE5B4-1E73-4BA5-8E23-39AB1EB7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10312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Telemetry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A177A2D-E668-4F53-AA93-DC76354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154680"/>
            <a:ext cx="2377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OpenTelemetry / OTLP export of logs, metrics, and traces. Component-based, pipeline-ready.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7FB4F73-6683-4B7C-AFEB-960F63C4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2743200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746F330-641E-4B7E-80C1-41C63BF6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25880"/>
            <a:ext cx="2743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2E10CCF-8B19-467A-8092-79B562C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544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03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8A8963-19A8-4FCA-AEE4-1B917559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0312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Application model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2223338-948D-4550-A84B-EF1B890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54680"/>
            <a:ext cx="2377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JSON Duality Views with full DML in Community — insert, update, delete documents over relational rows.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7420B9E-CA1E-484B-81E8-84B6AAEB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325880"/>
            <a:ext cx="2743200" cy="4709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501A767-8468-4394-BD2A-BB7AF697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325880"/>
            <a:ext cx="2743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4694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18E4087-FB14-485C-9620-ACA4C47C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554480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04</a:t>
            </a:r>
            <a:endParaRPr sz="2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9EC4BC-E6A1-4C82-9BA0-CEE18BB9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3120"/>
            <a:ext cx="2377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Query performance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ECB4DFB-D301-4A4A-BEB3-CC97CF3E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54680"/>
            <a:ext cx="237744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Hypergraph Optimizer in Community. Profile-Guided Optimization builds on selected platforms.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844274A-202B-4BE2-9799-9C20FAAA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4401FCC-1222-4A9B-A6AA-92716DB1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A2E449C-44C2-415C-9CA3-8E4A19B5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9.7 Community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2322A94-23B8-4D2C-B04E-3AE08B8B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05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8772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BEFD27-0557-4872-9EF9-423462AF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JSON DUALITY VIEWS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6321F1-D207-4F94-BC31-FFF58A4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Same data. Two interfaces. One stored copy.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A24FFE-E734-4335-9240-B3F73C7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110642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1FAFF2-3B5A-487A-9B5D-1C4AE8F5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53312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 duality view projects related tables as a hierarchical JSON document. Apps read and write that document. MySQL keeps the rows normalized — keys, FKs, types, and indexes stay on the tables. No second copy to sync.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00479A2-D23C-4DD9-8F53-8D479A14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544068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6235899-08B9-44A5-B7D0-FDDF169B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Tables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FF6804-4C77-43DB-960E-4CC8379F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26080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Reporting, ETL, HeatWave, constraints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591736-3B4F-461C-A3D3-9F75E44A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383280"/>
            <a:ext cx="4892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customers  ·  orders  ·  order_items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D61AE1B-B5FF-4FA7-B521-CE1DA944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377440"/>
            <a:ext cx="544068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93CFF4-2AD0-469B-84E4-0377A1CB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14600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Duality view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08FC28-09B0-48C6-B899-A2816529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4892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APIs, SPAs, mobile, microservices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EA21764-0C5A-4294-84F7-83270D67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383280"/>
            <a:ext cx="4892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{ customer, orders: [ … ] }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5E6B67-78D5-4396-8781-1CC9C04D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26280"/>
            <a:ext cx="110642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9.7 Community change: views were readable before; INSERT, UPDATE, DELETE and auto-increment propagation now ship in Community, not only Enterprise.</a:t>
            </a:r>
            <a:endParaRPr sz="15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EC55E43-7F46-4308-A3C7-7574E996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361DDC7-1276-4C34-8A84-4353E556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C3A7762-16B0-4175-93BD-D25CFA1E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Duality — what it is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D5833B1-3B70-4714-B612-B31D7C75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1112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C03087-0000-4A9E-B7E0-C29560FB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JSON DUALITY VIEWS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D60667-07EC-4230-860C-7D0D79DD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4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Why it matters: stop writing JSON plumbing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28A097-0B26-405C-9F82-F16768D7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486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EF0A3D9-C4CF-4A0E-A677-D5F71C3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OLD PATH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03755C-D72B-48DD-B344-7EF67E1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493776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 parent, then children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Assemble JSON in the application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 write: split the payload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a transaction; DML N tables in order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Hope FKs and concurrency stay consistent</a:t>
            </a:r>
            <a:endParaRPr sz="16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8240BBC-8C8F-4FDC-BFDA-C3366E4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34440"/>
            <a:ext cx="539496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0C86DB6-341B-4CEE-8F1D-3E48B2C5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200" b="1" spc="2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WHAT THE SERVER NOW OWNS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1FF9BE-869D-4F42-BFBD-20991C9D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74520"/>
            <a:ext cx="493776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One atomic document write across tables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Schema still wins — types, PKs, FKs, CHECKs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No denormalized JSON copy to keep in sync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Lockless etag concurrency for REST-style calls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WITH(INSERT, UPDATE, DELETE) per nested object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50A449-5C29-4B27-B9EC-B337E22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67AEC69-6801-4D6B-997F-41B04C6C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000" b="1" spc="14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66DDDAC-4E5F-4FC4-8883-97B916E5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Duality — why it matters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7050802-9EEE-4C5E-801C-7ECD8296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460224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B02DB1-B0AA-4C18-96DA-D34B005B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JSON DUALITY VIEWS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E65343-6359-49B4-B745-A054B29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How a document write actually runs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FB0935-586E-4F07-996F-B9B78997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214884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44D8A4-71C2-45FE-8885-5106B63B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DA27CA-858D-4780-B914-EF70D0D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Validate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E66B4E7-6EA7-4423-BD6F-17B62DA3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0280"/>
            <a:ext cx="1874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Incoming JSON must match the view shape.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518B741-36DA-4739-B423-00DCC24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280160"/>
            <a:ext cx="214884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D37E66-E0C1-4ECC-9B2B-C2D809C1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37160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2</a:t>
            </a:r>
            <a:endParaRPr sz="2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94913A2-A6BB-413B-89AF-48EA7440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8308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Map types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D919A3A-8450-446B-9DFB-3A978348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0280"/>
            <a:ext cx="1874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JSON values map onto column types.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A1FA65E-8A8F-4B18-82C6-CBB2D93B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280160"/>
            <a:ext cx="214884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9B06ED7-457E-4BB0-926D-6F246A01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37160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3</a:t>
            </a:r>
            <a:endParaRPr sz="2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B7A5C5-84A1-4E05-A05E-68F1451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8308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Generate DML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19AD7A6-9ABB-4A44-BC65-65DC2C5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0280"/>
            <a:ext cx="1874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Parent then children — or reverse on delete.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9B6C5DC-02A3-40EB-88F3-1B1E4FB1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280160"/>
            <a:ext cx="214884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8CA4AA2-F76A-4A33-A8D7-6E2126B8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37160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4</a:t>
            </a:r>
            <a:endParaRPr sz="2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E4A838-5F45-4396-B301-A36E914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8308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Execute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D2F9B13-56D7-46D6-8AEA-87895832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40280"/>
            <a:ext cx="1874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Sub-statements run as one atomic operation.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4D492AF-069E-4BAD-BB7A-50C30415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280160"/>
            <a:ext cx="214884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5869D96-D2B7-48E4-8AE9-5185289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37160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5</a:t>
            </a:r>
            <a:endParaRPr sz="2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CD8AD46-960E-4840-86A1-8D3E7145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83080"/>
            <a:ext cx="1874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Check etag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6816A3E-77C6-4F1A-B47B-ED26BACF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0280"/>
            <a:ext cx="1874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Updates fail if the document changed since read.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FF50610-38BC-4201-93B5-B5AB517F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64240" cy="2423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81686CA-00A1-4B1D-BF4C-C701F0A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10607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200" b="1" spc="2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SHAPE OF A TYPICAL VIEW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3745810-F2BD-41F1-9C32-4209E801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69080"/>
            <a:ext cx="10607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CREATE JSON DUALITY VIEW customer_orders_dv AS  SELECT JSON_DUALITY_OBJECT(WITH(INSERT,UPDATE,DELETE)  '_id': customer_id, 'name': name,  'orders': (SELECT JSON_ARRAYAGG(JSON_DUALITY_OBJECT(WITH(INSERT,UPDATE,DELETE) …)) FROM orders WHERE …) ) FROM customers;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076A804-7DFB-4FDA-B3EE-6235B50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29200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Then INSERT a JSON document into the view. MySQL writes customers and orders. You never issue those two INSERTs yourself.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5947E02-F68A-4DE6-A1F7-F2549E0D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2E5EA21-AA4B-49C9-8DE2-009BBEAE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D6ACC96-82B2-4803-903D-4BB6D4A0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Duality — how writes work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076949B-D488-403F-A73A-7DF82772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08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50562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0F25F6-A275-4FA4-88D7-B35DD34B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JSON DUALITY VIEWS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D23849-6910-48B9-96B6-CAEFF04D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Where it can be applied</a:t>
            </a:r>
            <a:endParaRPr sz="2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DA16BE0-9620-47B7-BF8A-4AA85C6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11064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Best fit: a clear aggregate root — one document the API already treats as a unit of work — over tables that already have keys.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848755F-3A16-44FF-87CB-BA553B85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365760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8158EDB-C49B-4249-A3DA-AB26C3F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2C2BC05-120B-4B46-8831-6E5C6E57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5564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Commerce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C87B86-9711-46D1-9FAB-2AFAC10E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Order + line items + shipping. Checkout and admin send one payload; finance still joins tables.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4B35D76-E262-4F5D-AF92-B015FDCE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54480"/>
            <a:ext cx="365760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0AFD30C-D843-4A84-AECC-BD543A6A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5448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2E05F18-E33F-4387-BA2B-3CE3823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75564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CRM / 360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2458F09-3584-4E4F-9B3A-E202F2F1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9456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Customer + addresses + contacts. Profile UI is a document; warehouse and compliance stay relational.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5287889-27B5-4B3E-81B7-49D3B83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54480"/>
            <a:ext cx="365760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CDCC175-B73B-4122-A06A-C6F02389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55448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B23E1E-ED80-47EE-A534-1460A54C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75564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Catalog / PIM</a:t>
            </a:r>
            <a:endParaRPr sz="1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27DB4D1-EF56-468E-A583-3198F857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9456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Product + variants + attributes + media. Storefront JSON; merchandising and stock stay in tables.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7635B64-CF97-4D23-AAD0-E4CCDE55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365760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BD64933-7914-4BD6-A258-7FA356AB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947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55DDB5-EEEF-4C6C-8B25-11D9EF2E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9592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SaaS entitlements</a:t>
            </a:r>
            <a:endParaRPr sz="16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D584AE8-E27C-482C-85BB-9C40C4F1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3484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Account + plans + seats + flags. Portal PUTs one account; billing engines query tables.</a:t>
            </a:r>
            <a:endParaRPr sz="13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8DD0B7B-C261-442C-8421-A72932F0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4760"/>
            <a:ext cx="365760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E72A5D8-8D15-4E70-8021-3B75A9A3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47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BE71088-93F4-4A4C-B786-F81CA87F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99592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Content backends</a:t>
            </a:r>
            <a:endParaRPr sz="1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921F9DE-5BA7-42C3-8BE5-0BC77278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43484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Article + authors + tags + revisions. Editors send a document; search uses tables.</a:t>
            </a:r>
            <a:endParaRPr sz="13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A3FA934-F7E2-446F-B233-C7D55A24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657600" cy="20848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EEDA884-C8FC-46A0-B9E4-52A9F2B7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451DCA8-68B8-400F-9616-88AC36C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995928"/>
            <a:ext cx="3291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REST / PWA / mobile</a:t>
            </a:r>
            <a:endParaRPr sz="1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FF89F15-13DC-42BC-908F-1B63FC63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434840"/>
            <a:ext cx="3291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REST Service can expose the view as one collection. Natural fit for HTTP JSON clients.</a:t>
            </a:r>
            <a:endParaRPr sz="13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D63599A-DFDC-4F4F-B929-AF9ABBB0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2C174F1-F95C-4EA3-B987-991714B4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4DFF294-392D-423F-AE7E-21785B4E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Duality — applications</a:t>
            </a:r>
            <a:endParaRPr sz="10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8103A03-DD5E-4200-98CA-2315F4BE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09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23751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426DAC-05BA-4187-8D63-B39B66C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JSON DUALITY VIEWS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411B1C-856C-4686-9864-901885E2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Limits, and how to design the view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3550A8-7CB2-4134-9FF0-8F08E3CB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48640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E43C057-6125-4D3B-B328-A26BE22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486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4694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81F3DB-739A-422A-AD5E-5B8F49F7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Poor fit / not supported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E52C2AB-8D23-49E4-961A-57A8D9DC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493776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High-volume append-only facts (clicks, metrics)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Unbounded nesting or no stable document identity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LOAD DATA, INSERT … SELECT, REPLACE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Multi-document UPDATE in one statement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ON DUPLICATE KEY UPDATE on the view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B0F5A48-6F30-474A-B42B-ADDCEA89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34440"/>
            <a:ext cx="539496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180F307-812D-4DB7-8177-6C0CD65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6304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Design rules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E1C7C4-A345-4C1D-BD0D-953E2992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65960"/>
            <a:ext cx="493776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One view per API aggregate, not a mega-document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Annotate write rights only where the API may mutate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Keep AUTO_INCREMENT on tables; 9.7 can propagate keys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Round-trip _metadata.etag on REST updates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Keep analytics on base tables, not the view</a:t>
            </a:r>
            <a:endParaRPr sz="15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AD6F58E-D14D-48C0-9057-350795D0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1C57391-17B0-4AB5-9AF1-CE590256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188B35-3C07-43E5-A530-BE73B8D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Duality — limits &amp; design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90EAB54-A825-42F7-917A-70A9B4C0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02168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F5D82F-44E3-4241-82E5-66D3C09C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FEATURE DEEP DIVE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CA3341-7CD1-4984-8389-E8086D82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Hypergraph Optimizer in Community Edition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4A3A30-9025-4CC4-AF2C-D8538091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55BDE9A-6294-49B2-A199-C711317A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CLASSICAL PLANNER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01D2C4A-21CC-49A9-B92C-F22ABD2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65960"/>
            <a:ext cx="49377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Left-deep, greedy join enumeration. Fast and reliable for OLTP. Can miss better plans on wide, multi-table analytics-style joins.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CC18A5-2960-4459-BDD2-A18AFC7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6616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HYPERGRAPH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0349893-9713-42C9-A524-37345E7F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Broader join-plan search. Enable per session or per statement. Previewed in 8.0 / 9.x Enterprise; now free in 9.7 Community.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01D8CF7-14DE-4684-9CFF-0D95C418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80160"/>
            <a:ext cx="53492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B426A0F-41D6-4220-BB78-80788FA4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50876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200" b="1" spc="2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HOW TO EXPLORE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9FD0D1E-4395-4BCA-89A1-FD892A8E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6596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SET optimizer_switch = 'hypergraph_optimizer=on';</a:t>
            </a:r>
            <a:endParaRPr sz="1500"/>
          </a:p>
          <a:p xmlns:a="http://schemas.openxmlformats.org/drawingml/2006/main">
            <a:pPr marL="0" indent="0">
              <a:buNone/>
            </a:pPr>
            <a:endParaRPr sz="1500"/>
          </a:p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Or use SET_VAR() on a single statement.</a:t>
            </a:r>
            <a:endParaRPr sz="1500"/>
          </a:p>
          <a:p xmlns:a="http://schemas.openxmlformats.org/drawingml/2006/main">
            <a:pPr marL="0" indent="0">
              <a:buNone/>
            </a:pPr>
            <a:endParaRPr sz="1500"/>
          </a:p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Compare EXPLAIN / EXPLAIN ANALYZE on your worst multi-join queries before and after.</a:t>
            </a:r>
            <a:endParaRPr sz="1500"/>
          </a:p>
          <a:p xmlns:a="http://schemas.openxmlformats.org/drawingml/2006/main">
            <a:pPr marL="0" indent="0">
              <a:buNone/>
            </a:pPr>
            <a:endParaRPr sz="1500"/>
          </a:p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Keep SET_VAR ready both ways — a few queries may still prefer the classical plan.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73B2CA6-728B-41BE-9AA8-379E1E8C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467B67C-784D-40FE-959A-0E4E96E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000" b="1" spc="14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C67816B-7B03-40EA-A525-188113A2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Hypergraph Optimizer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15BE88-F0E7-409E-96A1-59D89A2A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11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70165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3E232F1-7087-4389-8D0A-3A10B3C7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MYSQL 9.7 LTS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0B4406-96E6-4A74-AA83-D1C80794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Group Replication you can actually see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946BC0-7C48-4AFE-9BB0-3FAF21DC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110642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0CD3ECE-4553-4A6E-A7B4-6515A670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53312"/>
            <a:ext cx="10607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Replication Applier Metrics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1C873FC-92D7-4F5B-BA95-E6DFE3A0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82496"/>
            <a:ext cx="10607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Lag, throughput, and worker behavior for async and Group Replication appliers.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CB8D3C-BFD2-433B-905A-1E1DB85D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12848"/>
            <a:ext cx="110642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3DF29E-A6CC-4DA4-A902-C80AA37F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86000"/>
            <a:ext cx="10607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Flow-control statistics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DD6C82-D313-4EE6-A76A-9D36331F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15184"/>
            <a:ext cx="10607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When the group is throttling, and how hard — not just a binary “on/off”.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42F3B19-1FC5-43C9-86F7-0CA87F4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45536"/>
            <a:ext cx="110642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F296971-8D78-4646-BF07-401F9EA0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18688"/>
            <a:ext cx="10607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Resource Manager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AB548D0-FC36-4551-B726-9062D848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47872"/>
            <a:ext cx="10607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Detect unhealthy members, evict them, and rejoin automatically when they recover.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AE70639-93BB-48B0-B60E-26DD7A4F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78224"/>
            <a:ext cx="110642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FE06140-4CF1-4D7C-9BCC-63854F1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51376"/>
            <a:ext cx="10607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Primary election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E396D30-868F-454A-BD1B-445D1E96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10607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Prefer the most current eligible secondary (least backlog) on failover.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8905ACC-51AB-4B84-881F-0DC44F73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10912"/>
            <a:ext cx="1106424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08BD6BD-2218-4DD3-AB94-89116A6E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84064"/>
            <a:ext cx="10607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Telemetry</a:t>
            </a:r>
            <a:endParaRPr sz="1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B54D6AA-93BC-4D0F-8B26-747C82A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13248"/>
            <a:ext cx="10607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Ship logs, metrics, and traces into the same OTel stack as the rest of the platform.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DDAFF8D-419D-4924-BBCB-03C8FF27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728F098-D975-43F3-9364-B3B05AF4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23944E9-3E31-4DCD-83DA-8C1E5A87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HA &amp; observability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13715E1-0137-4635-AE95-47FFE59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12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467513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318C76-2F05-48ED-AD74-DCF2277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MYSQL 26.7 INNOVATION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3B111A-35C6-435E-8478-F941C9F2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First CalVer Innovation GA after 9.7 LTS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86A087-A20B-4F67-9AA4-F23DA8AF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36576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CAF8BE3-3EE7-40AB-A474-62AB3766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1C29976-80CB-4F1E-89C7-94637F77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36192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Change Stream Applier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D74682-C268-42FD-9BB1-946EF533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40280"/>
            <a:ext cx="3291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New multithreaded replica SQL applier. Opt-in per channel via APPLIER_VERSION=2.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FA61650-1913-4F4E-B2EC-F0DFD6D2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80160"/>
            <a:ext cx="36576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7213794-E859-426E-92D0-538A16BD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2801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4648497-805A-478D-84E6-DEE9246E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36192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Thread Pool (Community)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9033D5B-4CD9-4B1E-8456-32D645A6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240280"/>
            <a:ext cx="3291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Shared statement-execution threads for high-connection workloads. No longer Enterprise-only.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DC886E2-FA8E-4BC5-9A58-DA92AFCF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280160"/>
            <a:ext cx="36576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36E4A23-D502-4280-BD1E-44C4E333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28016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F35DB7-CCE4-4D03-BFD6-B6B6948D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536192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GR MYSQL stack default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30756B-97E3-4441-B0F7-91905826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40280"/>
            <a:ext cx="3291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Group Replication defaults to MYSQL communication. XCom options deprecated.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160DE86-D9EF-4C3A-BD59-F35418C5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36576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2ED66DF-D1E8-4016-8CE2-7AD5479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9436AB-1CC1-4895-B1CF-08D5C736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13632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InnoDB undo truncation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0AC5A2-B4ED-4D89-8A3A-06B6694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17720"/>
            <a:ext cx="3291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Progress stored in the undo header, not local truncation logs. More robust recovery.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20F8D16-3584-49FA-96F4-312D9A94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36576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7986451-EB3E-490F-AA72-9CA146CF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D8575F6-BA13-4B5F-A7E5-FEED2C4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913632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Post-quantum TLS</a:t>
            </a:r>
            <a:endParaRPr sz="16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413DEAF-A741-42AB-AD9E-17C5AF9B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617720"/>
            <a:ext cx="3291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ML-KEM hybrid and pure groups when built with OpenSSL 3.5+.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DD29E92-5432-4398-8B3A-62EA1044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57600"/>
            <a:ext cx="36576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4B20A06-F15E-4E8B-96F2-7BD1693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657600"/>
            <a:ext cx="36576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0AA397B-C00B-4A65-837B-E5C2A285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913632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Upgrade-check progress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08FC510-1EA4-4ABE-B27B-FD40B8C2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17720"/>
            <a:ext cx="32918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Long compatibility checks report phase progress so they do not look stalled.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A60BE11-1588-49F1-AB5E-431508F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992A98-D8F8-4D1B-A3DA-2ACF2E4F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4241DF4-73B2-4029-AE6A-62AD254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26.7 overview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DF9ED60-78B8-4B13-BEAD-2650B7A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13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023977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77574D-0154-439C-A26A-42A90E8E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FEATURE DEEP DIVE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094A01-46FA-4D93-90FA-F3DE2013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Change Stream Applier (CSA)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718101-630D-4450-8DF3-4F42701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110642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FC2AE9-A272-419D-949B-8FE68F84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53312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Opt-in alternative to the Multi-Threaded Applier. Same relay log and channel commands. Modular schedule/execute design — foundation for later replication work.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7253E5F-C640-4676-A7FE-250B64F6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27432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323C74-B323-4E99-ACC0-55F4DE78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1–1,024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A5A0345-3E6D-4C54-A155-151C143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Worker threads per channel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EFC9854-6BE1-4FD1-981F-FC19074E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77440"/>
            <a:ext cx="27432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35B43D0-08FB-4A56-942C-777A25DA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51460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Per channel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9753C40-44F0-4D44-B418-364D4FB3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0896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Independent applier config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26400AE-92A5-481E-9F5F-F20E938B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77440"/>
            <a:ext cx="27432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00C44E2-D4EE-4D02-8EAB-01CB90E6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460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Split path</a:t>
            </a:r>
            <a:endParaRPr sz="2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6CEDD58-0C53-4F65-9D0E-CA7938EF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10896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Apply vs commit ordering</a:t>
            </a:r>
            <a:endParaRPr sz="14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940A4D-6F96-44C3-933B-F835C030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2377440"/>
            <a:ext cx="27432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EAB6B8A-C27B-47C9-998B-F1CCEFD4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51460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P_S</a:t>
            </a:r>
            <a:endParaRPr sz="2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BA63C8C-49D3-49E7-8F5C-EAD661D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10896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Config + worker visibility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2432FB1-3888-415C-9D9C-B9999395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Enable with APPLIER_VERSION=2 on a supported channel. Keep APPLIER_VERSION=1 (classic MTA) as the fallback. Also watch STOP REPLICA responsiveness and per-channel event-memory controls.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458B975-0591-4714-8F1F-ADB78FAB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Worklog context: WL#10500 — MTA: Optimized and generic change stream applier.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9D02D56-9AC0-4EB9-8E80-9D0EC95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1C18F5-C2AD-411C-9B69-79B585C7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2BE56C0-62B0-4719-97CA-FB685C5A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Change Stream Applier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AB839E-156A-41F8-AAC2-002F68D9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14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04071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AC9BC0-0F1A-46E2-A124-263C761A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MYSQL 26.7 INNOVATION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0B7B9C-CCC3-49F1-AC4E-AC954AD6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Connections and Group Replication stack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4F95752-D5C6-4F6E-9E13-638BBC5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D1BD747-1F4C-4425-89CF-109DCFBF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4864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459D92-6E86-457E-86AC-B9BF5A5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Thread Pool Plugin</a:t>
            </a:r>
            <a:endParaRPr sz="2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9E723A6-CFDD-46E2-B75F-8440985C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4937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Now in Community Edition. Replaces one-thread-per-connection with a managed pool of statement-execution threads.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4A90C70-6004-4FFF-9B1B-AF68153A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93776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Fewer context switches under thousands of clients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Lower OS scheduler pressure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Evaluate on connection-heavy OLTP before production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055AED6-4529-496C-866E-BE4C783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80160"/>
            <a:ext cx="53492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B013EAA-3A42-4D3E-AEFF-7E9C239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80160"/>
            <a:ext cx="53492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4694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2BACF1E-FA6C-4BC8-ABA3-EF81E103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554480"/>
            <a:ext cx="48920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GR communication stack</a:t>
            </a:r>
            <a:endParaRPr sz="2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F6FD5D-9ED3-4F39-9910-0859D01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103120"/>
            <a:ext cx="4892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Default changes from XCOM to MYSQL. Uses server connection security and authentication.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AE7507D-1D35-45B5-B4DA-70FAEAC2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91840"/>
            <a:ext cx="48920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All members must use the same stack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XCom-related options emit deprecation warnings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InnoDB Cluster already uses MYSQL — less impact</a:t>
            </a:r>
            <a:endParaRPr sz="15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Plan a coordinated cutover for classic GR groups</a:t>
            </a:r>
            <a:endParaRPr sz="15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3698804-D448-45CA-AA85-8D86619F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6C23644-A3D3-41CC-AE36-72813990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B748C2B-A93A-4A46-B573-36E82FE2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Runtime &amp; GR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0B278FA-740C-448B-BBE0-DEB8006D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15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80376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9BDA45-E2E5-4FB9-92F9-ED35922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ENTERPRISE EDITION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FF244A0-5491-4485-AB7A-A32C52E9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Dynamic Data Masking and audit operations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5C9862-48CA-42E3-96AE-6C0CD149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69494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BBD5C37-01CF-4927-BF20-B252974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6492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DYNAMIC DATA MASKING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8C700F-E84F-4A46-B9FA-458BC095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64922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Policy on the column. Mask or reveal at query time by user or role. No app rewrite. No second copy of production.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BBE4DA-BC1A-41A1-8DB7-F06D78C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08960"/>
            <a:ext cx="64922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SSNs, emails, phones, and other identifiers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Consistent across reporting, analytics, and AI queries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FFFFFF"/>
                </a:solidFill>
              </a:defRPr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Shipped in 9.7 LTS and available in 26.7 Innovation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4604A6-FF3B-412A-81CC-467A146B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280160"/>
            <a:ext cx="39319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440020-C1B5-4891-9A8A-5893A62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46304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Audit log files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31C9FD-0F60-4B64-ACB9-25DBE95E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35661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audit_log_file_count / audit_log.file_count for JSON audit logs — detect stalled offload.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763DFDA-3A44-4922-BEF9-90430281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703320"/>
            <a:ext cx="3931920" cy="2331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972F572-1522-4601-A5E4-051B4F20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8620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6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9.7 audit extras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9CE2471-57B3-449C-9344-64430D6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343400"/>
            <a:ext cx="35661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Time-based log rotation and safer filter recovery at startup if a filter config is invalid.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DAF4FFA-1D7B-427E-B3A5-DA0499FC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01525E7-14EE-45F9-BBE1-13895C7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000" b="1" spc="14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68C849-0950-4346-8F4C-1F1F909A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Enterprise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F8AF72C-C106-48D8-85DF-6F5E67FE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5330202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E3297DA-31D2-4B96-AC81-23A9AD99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ALSO IN THESE RELEASES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4BEAD7-32F9-410F-8DED-EE1E107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Smaller changes that still affect operations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D498A4C-9633-45CA-A494-33C9EB4F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0DF2B02-6F17-4AAE-87BC-DCA08F4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 b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Security</a:t>
            </a:r>
            <a:endParaRPr sz="13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F886B72-56F2-4B4F-B9DD-53188EA2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234440"/>
            <a:ext cx="88696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369A4A-633C-45D2-8544-243716A4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234440"/>
            <a:ext cx="8549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PBKDF2 storage for caching_sha2_password (9.7). SCRAM-SHA-1 deprecated — use SCRAM-SHA-256.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C5BCEA-7B0C-419E-A44C-6C529E82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71F8686-924A-458E-8A7C-426677FD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 b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Replication knobs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3A0FFAC-C50A-4C9F-A385-DC7ECA9A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11680"/>
            <a:ext cx="88696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F729D3-2716-4F4C-BA42-E98493DA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11680"/>
            <a:ext cx="8549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replica_allow_higher_version_source. replica_parallel_type removed. Several replication variables deprecated in 9.7.2.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E74B663-D246-40FB-9850-00066A97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4F9E46A-07F3-4B2F-95F6-CFF545B3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892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 b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Clone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45C7D75-F2CC-499B-B3EA-88D980B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8920"/>
            <a:ext cx="88696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01BBA8-35A1-4200-80B4-8BA1203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788920"/>
            <a:ext cx="8549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Clone plugin can clone between consecutive LTS versions higher than 9.7.0.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185CCF-8790-416A-9C99-4B2AF3F1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4D3F6E2-B078-4525-9918-8E4529BB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616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 b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InnoDB defaults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90B740D-FF90-4B59-B984-3540E07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66160"/>
            <a:ext cx="88696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E937A7-F15A-4A52-87D2-6C0DDDC8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566160"/>
            <a:ext cx="8549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innodb_log_writer_threads default now depends on binary logging and CPU count.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451BA6F-12E7-492D-9173-15BEA985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9BBCC1D-9D69-4EB8-8474-082478EA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 b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Binlog history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D45E345-5430-4652-816A-393D0255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43400"/>
            <a:ext cx="88696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CA3A110-8CF6-471F-8AFC-832638E6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343400"/>
            <a:ext cx="8549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binlog_transaction_dependency_history_size default raised (from 9.5) to 1,000,000; max 10,000,000.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B9D4D9F-6A70-47B4-B66A-7A3A7051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2194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B9C2A82-B568-44E3-B6DA-714CC58F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0640"/>
            <a:ext cx="1920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300" b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Clients &amp; tools</a:t>
            </a:r>
            <a:endParaRPr sz="13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ABF78F-D89D-4982-84F9-5DE8B1B6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20640"/>
            <a:ext cx="886968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FAB8B2A-015E-49A4-92EB-62DB3D58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120640"/>
            <a:ext cx="85496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4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Shell, Router, Operator, connectors move to a single 26.7 line; remain compatible with 8.4 and 9.7 servers.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0D13852-C00C-415A-8F61-5CBDDD12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177D2F0-64EC-4E73-9189-0862FCAC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9B1C91-CE6F-4A8C-8929-7EB99109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Also shipped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F2B122B-1450-43CF-B7D1-5437573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17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295130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9C4F48-BBAC-4A6B-AD73-38B41EDC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LOOKING FORWARD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04B2E3-11FA-4226-9635-D632B90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What is coming, and how to stay aligned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62337C-7869-4E7C-82C9-27855FB1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365760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ED1EAEE-08EE-4191-91BB-6F2F7DDF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8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October 2026 window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3FF2B78-260E-43C8-A7CB-D50B08A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468880"/>
            <a:ext cx="320040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Expect 26.10.0 Innovation plus quarterly 9.7 and 8.4 maintenance, aligned with Oracle CPU cadence.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89C486A-579E-490B-B030-9A2CE347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25880"/>
            <a:ext cx="365760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1E679D-9073-479F-8096-E5E33C41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Innovation pace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DC1BFD-F51F-489B-9372-698DA90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8880"/>
            <a:ext cx="320040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CSA is explicitly a foundation. Watch follow-on replication, GR stack cleanup, and further Community promotions.</a:t>
            </a:r>
            <a:endParaRPr sz="15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57BF29C-0B56-461E-8CFB-70F4B4D7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325880"/>
            <a:ext cx="365760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2D2A"/>
          </a:solidFill>
          <a:ln xmlns:a="http://schemas.openxmlformats.org/drawingml/2006/main" w="0">
            <a:solidFill>
              <a:srgbClr val="312D2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BDB91B6-CEDD-4EA6-B947-7B676050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554480"/>
            <a:ext cx="3200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Stay current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B0A205D-98DA-4012-8A87-183F9FE7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468880"/>
            <a:ext cx="320040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latest Shell / Router / connectors even on 9.7 or 8.4 servers. Read each quarter’s notes before patching.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ACAAEC5-88FC-4120-BCB3-6C4208E0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00600"/>
            <a:ext cx="11064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5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Principle: LTS for the fleet you must keep still. Innovation for the environments that can absorb quarterly change — and for learning what the next LTS will inherit.</a:t>
            </a:r>
            <a:endParaRPr sz="15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B3E5044-282C-49E0-BD41-C249FBBE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0042490-6053-4114-BF45-A7D4414F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7983B0D-694F-432E-9BDD-FDA95309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FFFFFF"/>
                </a:solidFill>
              </a:defRPr>
            </a:pPr>
            <a:r>
              <a:rPr sz="10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Looking forward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92724C-91D7-40D0-8B0B-858A6A6F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18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879751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BE2EC7-D4A6-4925-B1BF-9D3004E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7472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1100" b="1" spc="400">
                <a:solidFill>
                  <a:srgbClr val="C74634"/>
                </a:solidFill>
                <a:latin typeface="Calibri"/>
                <a:ea typeface="Calibri"/>
                <a:cs typeface="Calibri"/>
              </a:rPr>
              <a:t>SESSION TAKEAWAYS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EDBC2E-F2E8-427D-92E4-50273DFE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11155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C74634"/>
                </a:solidFill>
              </a:defRPr>
            </a:pPr>
            <a:r>
              <a:rPr sz="2600" b="1">
                <a:solidFill>
                  <a:srgbClr val="C74634"/>
                </a:solidFill>
                <a:latin typeface="Century Gothic"/>
                <a:ea typeface="Century Gothic"/>
                <a:cs typeface="Century Gothic"/>
              </a:rPr>
              <a:t>Best features to explore after this session</a:t>
            </a:r>
            <a:endParaRPr sz="26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557153-02A5-44FF-9C9F-67D8A2DF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4406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48DA3B6-5D95-4BAC-9649-0BA3C957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80160"/>
            <a:ext cx="54406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BB9271-1A18-4F42-92BE-AD30C982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On 9.7 LTS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F10987-33ED-466F-BEA4-48146C7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489204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Writable JSON Duality View on one real schema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Hypergraph vs classical EXPLAIN ANALYZE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Enable GR metrics + flow-control stats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Wire OTel to your existing collector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17AE835-7835-45AC-B185-9C4E101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80160"/>
            <a:ext cx="54406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6668">
            <a:solidFill>
              <a:srgbClr val="D6D6D6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DB7EBA6-CF02-40D8-9092-6AC896AB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280160"/>
            <a:ext cx="54406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1A20C61-EA97-44F1-B727-2AE6B954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508760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20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On 26.7 lab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087E343-38FD-43AE-ABD5-E3AF1AF2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489204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CSA on one replica channel (APPLIER_VERSION=2)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Thread Pool under a connection storm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Inventory XCom options before GR default change</a:t>
            </a:r>
            <a:endParaRPr sz="1600"/>
          </a:p>
          <a:p xmlns:a="http://schemas.openxmlformats.org/drawingml/2006/main">
            <a:pPr marL="342900" indent="-342900">
              <a:buSzPct val="100000"/>
              <a:buChar char="•"/>
              <a:defRPr>
                <a:solidFill>
                  <a:srgbClr val="312D2A"/>
                </a:solidFill>
              </a:defRPr>
            </a:pPr>
            <a:r>
              <a:rPr sz="160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Run upgrade checker and watch progress output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409DB66-32DC-4169-83AE-8C9B838B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32004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A11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DB1272E-9FE7-4C68-8835-9494099D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638251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312D2A"/>
                </a:solidFill>
              </a:defRPr>
            </a:pPr>
            <a:r>
              <a:rPr sz="1000" b="1" spc="140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MYSQL 9.7 LTS  |  COMMUNITY SERVER 26.7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BFDA03-BC22-4DE6-8DD8-79C6AE1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3825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000" i="1">
                <a:solidFill>
                  <a:srgbClr val="312D2A"/>
                </a:solidFill>
                <a:latin typeface="Calibri"/>
                <a:ea typeface="Calibri"/>
                <a:cs typeface="Calibri"/>
              </a:rPr>
              <a:t>Explore next</a:t>
            </a:r>
            <a:endParaRPr sz="1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E8C827D-8653-47BB-9CAD-CC063B89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82512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312D2A"/>
                </a:solidFill>
              </a:defRPr>
            </a:pPr>
            <a:r>
              <a:rPr sz="1200" b="1">
                <a:solidFill>
                  <a:srgbClr val="312D2A"/>
                </a:solidFill>
                <a:latin typeface="Century Gothic"/>
                <a:ea typeface="Century Gothic"/>
                <a:cs typeface="Century Gothic"/>
              </a:rPr>
              <a:t>19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181521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312D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22D8A6-491F-4ABE-8876-3F0A12D4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10515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6A712C-D372-4376-BD99-73F43986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DEEC75-9605-4EA6-8390-B31D4176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300" b="1" spc="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CLOSE</a:t>
            </a:r>
            <a:endParaRPr sz="13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771D64-2389-47BF-B7F5-C5F6E3BE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9.7 is the floor. 26.7 is the horizon.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FA48FE-8962-4141-B374-35BC84BE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17520"/>
            <a:ext cx="110642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Standardize production on 9.7 LTS. Lab the Innovation line every quarter. Promote only what your tests prove.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8867A3A-C3DD-4A7D-AFEE-8428F5CF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5852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F93DDDC-D93A-411E-9CE6-08240CC3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60520"/>
            <a:ext cx="10972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dev.mysql.com/doc/relnotes  ·  blogs.oracle.com/mysql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22E6C23-862E-45D4-BA76-930D66E4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4634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71EEAD8-FA85-4CD4-9FFC-DA5F3B6B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72200"/>
            <a:ext cx="11064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solidFill>
                  <a:srgbClr val="FFFFFF"/>
                </a:solidFill>
              </a:defRPr>
            </a:pPr>
            <a:r>
              <a:rPr sz="1200" b="1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QUESTIONS</a:t>
            </a:r>
            <a:endParaRPr sz="1200"/>
          </a:p>
        </p:txBody>
      </p:sp>
      <p:sp>
        <p:nvSpPr>
          <p:cNvPr id="11" name="oracle-red-accent">
            <a:extLst xmlns:a="http://schemas.openxmlformats.org/drawingml/2006/main">
              <a:ext uri="{FF2B5EF4-FFF2-40B4-BE49-F238E27FC236}">
                <a16:creationId xmlns:a16="http://schemas.microsoft.com/office/drawing/2014/main" id="{678FEB5D-84DA-4041-AB1A-E0F22588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solidFill>
              <a:srgbClr val="C7463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2839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2026-08-28T23:49:26.3610000Z</dcterms:created>
  <dcterms:modified xsi:type="dcterms:W3CDTF">2026-08-28T23:49:26.3610000Z</dcterms:modified>
</coreProperties>
</file>