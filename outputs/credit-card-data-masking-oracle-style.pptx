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9b500434c4565" /><Relationship Type="http://schemas.openxmlformats.org/officeDocument/2006/relationships/extended-properties" Target="/docProps/app.xml" Id="Rc8c2d875cab44823" /><Relationship Type="http://schemas.openxmlformats.org/officeDocument/2006/relationships/officeDocument" Target="/ppt/presentation.xml" Id="R3e0225eb141d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39442a7dc8463b"/>
  </p:sldMasterIdLst>
  <p:notesMasterIdLst>
    <p:notesMasterId xmlns:r="http://schemas.openxmlformats.org/officeDocument/2006/relationships" r:id="Re6d3c072c792480c"/>
  </p:notesMasterIdLst>
  <p:sldIdLst>
    <p:sldId xmlns:r="http://schemas.openxmlformats.org/officeDocument/2006/relationships" id="256" r:id="R12b16ec54f424e54"/>
    <p:sldId xmlns:r="http://schemas.openxmlformats.org/officeDocument/2006/relationships" id="257" r:id="Rc352871148e94e17"/>
    <p:sldId xmlns:r="http://schemas.openxmlformats.org/officeDocument/2006/relationships" id="258" r:id="R23bfcc3220e8476e"/>
    <p:sldId xmlns:r="http://schemas.openxmlformats.org/officeDocument/2006/relationships" id="259" r:id="R3ede87dd913342eb"/>
    <p:sldId xmlns:r="http://schemas.openxmlformats.org/officeDocument/2006/relationships" id="260" r:id="R1b307b68b8964e3e"/>
    <p:sldId xmlns:r="http://schemas.openxmlformats.org/officeDocument/2006/relationships" id="261" r:id="Rcc0016269ec24b56"/>
    <p:sldId xmlns:r="http://schemas.openxmlformats.org/officeDocument/2006/relationships" id="262" r:id="Rf000f8f591274d70"/>
    <p:sldId xmlns:r="http://schemas.openxmlformats.org/officeDocument/2006/relationships" id="263" r:id="Re66f95c1c6fa42b0"/>
    <p:sldId xmlns:r="http://schemas.openxmlformats.org/officeDocument/2006/relationships" id="264" r:id="R1a4eecdab4484da3"/>
    <p:sldId xmlns:r="http://schemas.openxmlformats.org/officeDocument/2006/relationships" id="265" r:id="Rc77ef9e07b154413"/>
    <p:sldId xmlns:r="http://schemas.openxmlformats.org/officeDocument/2006/relationships" id="266" r:id="Rb43c981fb06d4a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6313989be487a" /><Relationship Type="http://schemas.openxmlformats.org/officeDocument/2006/relationships/slideMaster" Target="/ppt/slideMasters/slideMaster1.xml" Id="Ref39442a7dc8463b" /><Relationship Type="http://schemas.openxmlformats.org/officeDocument/2006/relationships/notesMaster" Target="/ppt/notesMasters/notesMaster1.xml" Id="Re6d3c072c792480c" /><Relationship Type="http://schemas.openxmlformats.org/officeDocument/2006/relationships/presProps" Target="/ppt/presProps.xml" Id="Ref5fdc35eb404208" /><Relationship Type="http://schemas.openxmlformats.org/officeDocument/2006/relationships/tableStyles" Target="/ppt/tableStyles.xml" Id="R1d70113ec7234859" /><Relationship Type="http://schemas.openxmlformats.org/officeDocument/2006/relationships/slide" Target="/ppt/slides/slide1.xml" Id="R12b16ec54f424e54" /><Relationship Type="http://schemas.openxmlformats.org/officeDocument/2006/relationships/slide" Target="/ppt/slides/slide2.xml" Id="Rc352871148e94e17" /><Relationship Type="http://schemas.openxmlformats.org/officeDocument/2006/relationships/slide" Target="/ppt/slides/slide3.xml" Id="R23bfcc3220e8476e" /><Relationship Type="http://schemas.openxmlformats.org/officeDocument/2006/relationships/slide" Target="/ppt/slides/slide4.xml" Id="R3ede87dd913342eb" /><Relationship Type="http://schemas.openxmlformats.org/officeDocument/2006/relationships/slide" Target="/ppt/slides/slide5.xml" Id="R1b307b68b8964e3e" /><Relationship Type="http://schemas.openxmlformats.org/officeDocument/2006/relationships/slide" Target="/ppt/slides/slide6.xml" Id="Rcc0016269ec24b56" /><Relationship Type="http://schemas.openxmlformats.org/officeDocument/2006/relationships/slide" Target="/ppt/slides/slide7.xml" Id="Rf000f8f591274d70" /><Relationship Type="http://schemas.openxmlformats.org/officeDocument/2006/relationships/slide" Target="/ppt/slides/slide8.xml" Id="Re66f95c1c6fa42b0" /><Relationship Type="http://schemas.openxmlformats.org/officeDocument/2006/relationships/slide" Target="/ppt/slides/slide9.xml" Id="R1a4eecdab4484da3" /><Relationship Type="http://schemas.openxmlformats.org/officeDocument/2006/relationships/slide" Target="/ppt/slides/slide10.xml" Id="Rc77ef9e07b154413" /><Relationship Type="http://schemas.openxmlformats.org/officeDocument/2006/relationships/slide" Target="/ppt/slides/slide11.xml" Id="Rb43c981fb06d4a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1690e0cb1645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0bb9ade7e4d38" /><Relationship Type="http://schemas.openxmlformats.org/officeDocument/2006/relationships/notesMaster" Target="/ppt/notesMasters/notesMaster1.xml" Id="Ra961e65cc95f46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4c000604848ee" /><Relationship Type="http://schemas.openxmlformats.org/officeDocument/2006/relationships/notesMaster" Target="/ppt/notesMasters/notesMaster1.xml" Id="Rdb6b906339cc42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a25873df564203" /><Relationship Type="http://schemas.openxmlformats.org/officeDocument/2006/relationships/notesMaster" Target="/ppt/notesMasters/notesMaster1.xml" Id="Rb64e718692c44c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64959c8564458a" /><Relationship Type="http://schemas.openxmlformats.org/officeDocument/2006/relationships/notesMaster" Target="/ppt/notesMasters/notesMaster1.xml" Id="Ra05777a0430d4f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9be6446ce24dce" /><Relationship Type="http://schemas.openxmlformats.org/officeDocument/2006/relationships/notesMaster" Target="/ppt/notesMasters/notesMaster1.xml" Id="R1b3016b4e8db4d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daa67e5084576" /><Relationship Type="http://schemas.openxmlformats.org/officeDocument/2006/relationships/notesMaster" Target="/ppt/notesMasters/notesMaster1.xml" Id="Rc8606e17668d4c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65459def0a48b2" /><Relationship Type="http://schemas.openxmlformats.org/officeDocument/2006/relationships/notesMaster" Target="/ppt/notesMasters/notesMaster1.xml" Id="R89ab128a9ff94f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40a525e0054162" /><Relationship Type="http://schemas.openxmlformats.org/officeDocument/2006/relationships/notesMaster" Target="/ppt/notesMasters/notesMaster1.xml" Id="R0c301a660f2e42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a3bae7b2e847a8" /><Relationship Type="http://schemas.openxmlformats.org/officeDocument/2006/relationships/notesMaster" Target="/ppt/notesMasters/notesMaster1.xml" Id="Rd33acbf972f146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1263c712f54f3b" /><Relationship Type="http://schemas.openxmlformats.org/officeDocument/2006/relationships/notesMaster" Target="/ppt/notesMasters/notesMaster1.xml" Id="Rfc5aa1bea85a40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fd70b8180b4bc1" /><Relationship Type="http://schemas.openxmlformats.org/officeDocument/2006/relationships/notesMaster" Target="/ppt/notesMasters/notesMaster1.xml" Id="Re6c43d428ba748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reference: https://dev.mysql.com/doc/refman/9.7/en/data-masking-dynamic-policies.html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https://dev.mysql.com/doc/refman/9.7/en/data-masking-dynamic-policies.html ; https://dev.mysql.com/doc/refman/9.7/en/data-masking-dynamic-policies-component-install.html ; https://dev.mysql.com/doc/refman/9.7/en/create-masking-policy.html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 table adapted from scripts/creditcard/01-create.sh. The deck uses the minimal columns required to demonstrate policies and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behavior source: https://dev.mysql.com/doc/refman/9.7/en/roles.html . Example passwords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https://dev.mysql.com/doc/refman/9.7/en/roles.html . In the example, payment_analyst has payments_read; card_admin has pii_read.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https://dev.mysql.com/doc/refman/9.7/en/create-masking-policy.html . The example policy expressions follow the existing credit-card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Documented policy application syntax: https://dev.mysql.com/doc/refman/9.7/en/data-masking-policy-usage.html . The local demo script uses ALTER COLUMN ... SET MASKING POLICY; this deck follows the current manual using MODIFY COLUMN.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requested single-slide association. Full SQL for table, policies, roles and both ALTER statements appears on slides 3–7. MySQL manual: https://dev.mysql.com/doc/refman/9.7/en/data-masking-policy-usage.html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test row uses a dummy card number from the existing demo. The outcome follows the policy CASE expressions and the payments_read default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clear result follows CURRENT_ROLE_IN('pii_read'). The clear role is default for card_admin in this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references: https://dev.mysql.com/doc/refman/9.7/en/data-masking-dynamic-policies-component-install.html ; https://dev.mysql.com/doc/refman/9.7/en/create-masking-policy.html ; https://dev.mysql.com/doc/refman/9.7/en/data-masking-policy-usage.html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7c7ccf15a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9869f05d1e427a" /><Relationship Type="http://schemas.openxmlformats.org/officeDocument/2006/relationships/slideLayout" Target="/ppt/slideLayouts/slideLayout1.xml" Id="R50120b96b9fa4b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120b96b9fa4b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963832d8441a5" /><Relationship Type="http://schemas.openxmlformats.org/officeDocument/2006/relationships/image" Target="/ppt/media/image.png" Id="Rae7d2a21a2c249d8" /><Relationship Type="http://schemas.openxmlformats.org/officeDocument/2006/relationships/notesSlide" Target="/ppt/notesSlides/notesSlide1.xml" Id="Rc35ca867420943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116e0d5af41b4" /><Relationship Type="http://schemas.openxmlformats.org/officeDocument/2006/relationships/image" Target="/ppt/media/image2.png" Id="Re8229a5912ac4c25" /><Relationship Type="http://schemas.openxmlformats.org/officeDocument/2006/relationships/notesSlide" Target="/ppt/notesSlides/notesSlide2.xml" Id="R674a45cef53b48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ae302b3474713" /><Relationship Type="http://schemas.openxmlformats.org/officeDocument/2006/relationships/image" Target="/ppt/media/image3.png" Id="Rf1dfc03272b04c30" /><Relationship Type="http://schemas.openxmlformats.org/officeDocument/2006/relationships/notesSlide" Target="/ppt/notesSlides/notesSlide3.xml" Id="Rb5a7f93b3a2f42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88bd91405492d" /><Relationship Type="http://schemas.openxmlformats.org/officeDocument/2006/relationships/image" Target="/ppt/media/image4.png" Id="R486602e04dd14427" /><Relationship Type="http://schemas.openxmlformats.org/officeDocument/2006/relationships/notesSlide" Target="/ppt/notesSlides/notesSlide4.xml" Id="R686464d63b1144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fae740c58492b" /><Relationship Type="http://schemas.openxmlformats.org/officeDocument/2006/relationships/image" Target="/ppt/media/image5.png" Id="Rf2726e5239c646b1" /><Relationship Type="http://schemas.openxmlformats.org/officeDocument/2006/relationships/notesSlide" Target="/ppt/notesSlides/notesSlide5.xml" Id="R3f00f0a3272946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b3bfae5bd4e45" /><Relationship Type="http://schemas.openxmlformats.org/officeDocument/2006/relationships/image" Target="/ppt/media/image6.png" Id="Rd77733e0ea3c4b05" /><Relationship Type="http://schemas.openxmlformats.org/officeDocument/2006/relationships/notesSlide" Target="/ppt/notesSlides/notesSlide6.xml" Id="R48097c2bb5e1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d5e687fd04049" /><Relationship Type="http://schemas.openxmlformats.org/officeDocument/2006/relationships/image" Target="/ppt/media/image7.png" Id="R12aae9a0fec14a2d" /><Relationship Type="http://schemas.openxmlformats.org/officeDocument/2006/relationships/notesSlide" Target="/ppt/notesSlides/notesSlide7.xml" Id="R51a7018f89cc44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727baf73545a0" /><Relationship Type="http://schemas.openxmlformats.org/officeDocument/2006/relationships/image" Target="/ppt/media/image8.png" Id="Rd733b976eb7b44f0" /><Relationship Type="http://schemas.openxmlformats.org/officeDocument/2006/relationships/notesSlide" Target="/ppt/notesSlides/notesSlide8.xml" Id="Ra000164aa2854b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613b053534e59" /><Relationship Type="http://schemas.openxmlformats.org/officeDocument/2006/relationships/image" Target="/ppt/media/image9.png" Id="R23be46e5dc2d476d" /><Relationship Type="http://schemas.openxmlformats.org/officeDocument/2006/relationships/notesSlide" Target="/ppt/notesSlides/notesSlide9.xml" Id="R3dd5ed323e454d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34212f4014307" /><Relationship Type="http://schemas.openxmlformats.org/officeDocument/2006/relationships/image" Target="/ppt/media/image10.png" Id="R5d1886858e044103" /><Relationship Type="http://schemas.openxmlformats.org/officeDocument/2006/relationships/notesSlide" Target="/ppt/notesSlides/notesSlide10.xml" Id="R3729bfbf9e0044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8f74bd5eb45db" /><Relationship Type="http://schemas.openxmlformats.org/officeDocument/2006/relationships/image" Target="/ppt/media/image11.png" Id="Rae879dec3f7044a8" /><Relationship Type="http://schemas.openxmlformats.org/officeDocument/2006/relationships/notesSlide" Target="/ppt/notesSlides/notesSlide11.xml" Id="Rbe901e3917c544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A6B10-3C01-46A9-9FC7-E111FD4E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76470-760D-4954-9008-1DBFB27F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857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360A5-C3D2-40A9-8C52-6B45BDCA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001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</a:defRPr>
            </a:pPr>
            <a:r>
              <a:rPr sz="1350" b="1">
                <a:solidFill>
                  <a:srgbClr val="C74634"/>
                </a:solidFill>
              </a:rPr>
              <a:t>MYSQL ENTERPRISE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17384-3D48-4B59-B27F-E88A9C12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7715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312D2A"/>
                </a:solidFill>
              </a:defRPr>
            </a:pPr>
            <a:r>
              <a:rPr sz="4275" b="1">
                <a:solidFill>
                  <a:srgbClr val="312D2A"/>
                </a:solidFill>
              </a:rPr>
              <a:t>Dynamic data masking</a:t>
            </a:r>
          </a:p>
          <a:p xmlns:a="http://schemas.openxmlformats.org/drawingml/2006/main">
            <a:pPr>
              <a:defRPr sz="4275" b="1">
                <a:solidFill>
                  <a:srgbClr val="312D2A"/>
                </a:solidFill>
              </a:defRPr>
            </a:pPr>
            <a:r>
              <a:rPr sz="4275" b="1">
                <a:solidFill>
                  <a:srgbClr val="312D2A"/>
                </a:solidFill>
              </a:rPr>
              <a:t>by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4CE50-01A9-43C3-9A8A-FEE2F83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76650"/>
            <a:ext cx="771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5550"/>
                </a:solidFill>
              </a:defRPr>
            </a:pPr>
            <a:r>
              <a:rPr sz="1875" b="0">
                <a:solidFill>
                  <a:srgbClr val="5B5550"/>
                </a:solidFill>
              </a:rPr>
              <a:t>A complete SQL walkthrough: prerequisites, table, roles, policies, column association, and user outcomes.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d2a21a2c249d8"/>
          <a:stretch xmlns:a="http://schemas.openxmlformats.org/drawingml/2006/main"/>
        </p:blipFill>
        <p:spPr>
          <a:xfrm xmlns:a="http://schemas.openxmlformats.org/drawingml/2006/main">
            <a:off x="9029700" y="1529953"/>
            <a:ext cx="2095500" cy="14168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5999F-3F1C-4FD3-9546-F331727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007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BD63C-06C4-435B-A744-B33314D8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19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12D2A"/>
                </a:solidFill>
              </a:defRPr>
            </a:pPr>
            <a:r>
              <a:rPr sz="1275" b="0">
                <a:solidFill>
                  <a:srgbClr val="312D2A"/>
                </a:solidFill>
              </a:rPr>
              <a:t>Payment card example  •  MySQL Enterprise Dynamic Data Masking Policies</a:t>
            </a:r>
          </a:p>
        </p:txBody>
      </p:sp>
    </p:spTree>
    <p:extLst>
      <p:ext uri="{BB962C8B-B14F-4D97-AF65-F5344CB8AC3E}">
        <p14:creationId xmlns:p14="http://schemas.microsoft.com/office/powerpoint/2010/main" val="766884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66EB0-7772-4E6F-BA66-88779B12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1CEFE-6A93-44FE-8FDE-35C9AFCC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01 / PREREQUISITES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4C53E-A1EA-4F4E-86A0-79DD464E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Enterprise Edition and the policy component come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A3BC9-C39D-4392-BD99-0AEEFDD2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Run the installation script with an account that can install components and manage masking policies.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29a5912ac4c25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71235-D850-456D-8BFD-931EEF5E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6E04E-4F62-4327-B38F-CB6251F4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D8A02-5D53-4D86-BA5B-D5BFBA3B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1CD7A-AA76-4F0F-99E1-8733BF5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8D51F-453E-4377-99F2-BFB9E161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429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12D2A"/>
                </a:solidFill>
              </a:defRPr>
            </a:pPr>
            <a:r>
              <a:rPr sz="1575" b="0">
                <a:solidFill>
                  <a:srgbClr val="312D2A"/>
                </a:solidFill>
              </a:rPr>
              <a:t>MySQL Enterprise Edition</a:t>
            </a:r>
          </a:p>
          <a:p xmlns:a="http://schemas.openxmlformats.org/drawingml/2006/main">
            <a:pPr>
              <a:defRPr sz="1575" b="0">
                <a:solidFill>
                  <a:srgbClr val="312D2A"/>
                </a:solidFill>
              </a:defRPr>
            </a:pPr>
            <a:r>
              <a:rPr sz="1575" b="0">
                <a:solidFill>
                  <a:srgbClr val="312D2A"/>
                </a:solidFill>
              </a:rPr>
              <a:t>Dynamic Data Masking Policy component</a:t>
            </a:r>
          </a:p>
          <a:p xmlns:a="http://schemas.openxmlformats.org/drawingml/2006/main">
            <a:pPr>
              <a:defRPr sz="1575" b="0">
                <a:solidFill>
                  <a:srgbClr val="312D2A"/>
                </a:solidFill>
              </a:defRPr>
            </a:pPr>
            <a:r>
              <a:rPr sz="1575" b="0">
                <a:solidFill>
                  <a:srgbClr val="312D2A"/>
                </a:solidFill>
              </a:rPr>
              <a:t>MANAGE_DATA_MASKING_POLICY privilege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E47BB-027E-4B04-965C-7E748B9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145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Install from the mysql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00596-09E9-441C-8551-4E061CFA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43200"/>
            <a:ext cx="557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8D226-1BF7-4758-95EB-20D6EEDC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432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9F340-CF6B-49F0-9A5E-35A17F81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14650"/>
            <a:ext cx="515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SOURCE install_component_object_policy.sql;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CCBDD-CFDD-4EFD-81F7-7302514D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7665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5550"/>
                </a:solidFill>
              </a:defRPr>
            </a:pPr>
            <a:r>
              <a:rPr sz="1275" b="0">
                <a:solidFill>
                  <a:srgbClr val="5B5550"/>
                </a:solidFill>
              </a:rPr>
              <a:t>Run from the Enterprise installation script directory.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680A9-24C3-43FA-B239-2B5E4D5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BCEFB-3317-4E09-9AFF-9A9FF97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Verify installation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B4F17-8DDB-4E79-A8F7-471375D0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1057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90FCB-ED4F-4F48-9E4B-AC31B784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70473-20ED-417F-A0E3-1521C48F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015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SELECT component_urn FROM mysql.component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WHERE component_urn LIKE '%object_policy%';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SHOW TABLES FROM mysql LIKE 'column_masking_policies';</a:t>
            </a:r>
          </a:p>
        </p:txBody>
      </p:sp>
    </p:spTree>
    <p:extLst>
      <p:ext uri="{BB962C8B-B14F-4D97-AF65-F5344CB8AC3E}">
        <p14:creationId xmlns:p14="http://schemas.microsoft.com/office/powerpoint/2010/main" val="1763205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D433B-75D8-4132-853F-AE95B168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97293-2CEC-4750-9306-65273BDA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02 /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9DFDA-DF09-4667-814A-2D395105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Create the table that owns the sensitive columns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7DB66-E608-48CA-8A85-561BB8A8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The policy is attached to base table columns, so define their data types and nullability first.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fc03272b04c30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20994-027F-40CE-8C2A-59127851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1A0A7-66EF-43B3-85B8-15E5D73D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DC679-C60A-43B2-8623-7BBE0EC3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7B84E-CFFA-4569-8CA8-FC154546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23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1C96B-B764-41C3-9367-7B603BFE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7661D-3E6A-40E4-B652-5801FF65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68199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CREATE DATABASE IF NOT EXISTS card_masking_demo;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USE card_masking_demo;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CREATE TABLE payment_tx (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payment_id  BIGINT UNSIGNED NOT NULL PRIMARY KEY,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amount      DECIMAL(10,2) NOT NULL,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card_number CHAR(16) NOT NULL,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card_expiry CHAR(5) NOT NULL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A1A4C-1E33-4F1D-8897-9B14D2F4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Insert a test 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4EDE1-F28B-4CCE-8EFC-866B94AF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2C744-6B5B-46F1-90EE-81538A61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D409F-D86C-4485-BAB6-A2BA22FA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5336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INSERT INTO payment_tx</a:t>
            </a:r>
          </a:p>
          <a:p xmlns:a="http://schemas.openxmlformats.org/drawingml/2006/main">
            <a:pPr>
              <a:def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(payment_id, amount,</a:t>
            </a:r>
          </a:p>
          <a:p xmlns:a="http://schemas.openxmlformats.org/drawingml/2006/main">
            <a:pPr>
              <a:def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card_number, card_expiry)</a:t>
            </a:r>
          </a:p>
          <a:p xmlns:a="http://schemas.openxmlformats.org/drawingml/2006/main">
            <a:pPr>
              <a:def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VALUES</a:t>
            </a:r>
          </a:p>
          <a:p xmlns:a="http://schemas.openxmlformats.org/drawingml/2006/main">
            <a:pPr>
              <a:def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(101, 129.99,</a:t>
            </a:r>
          </a:p>
          <a:p xmlns:a="http://schemas.openxmlformats.org/drawingml/2006/main">
            <a:pPr>
              <a:def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'4111111111111111', '12/28');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79586-B908-481F-9FBD-2E42A6B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00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5550"/>
                </a:solidFill>
              </a:defRPr>
            </a:pPr>
            <a:r>
              <a:rPr sz="1350" b="0">
                <a:solidFill>
                  <a:srgbClr val="5B5550"/>
                </a:solidFill>
              </a:rPr>
              <a:t>Use test card data only.</a:t>
            </a:r>
          </a:p>
        </p:txBody>
      </p:sp>
    </p:spTree>
    <p:extLst>
      <p:ext uri="{BB962C8B-B14F-4D97-AF65-F5344CB8AC3E}">
        <p14:creationId xmlns:p14="http://schemas.microsoft.com/office/powerpoint/2010/main" val="1609061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57DB95-F8DE-4526-8A41-E9412379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150AF-F0D5-40F7-84D8-01F8CA51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03 /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A4FAB-F69E-484E-AA2A-3F9349DC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Create users and roles, then grant table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1E702-8E0A-4ADA-820B-584EB077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The policy checks active roles; table SELECT privileges still determine whether a user can read rows.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602e04dd14427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1502F-E241-4DD2-ABD1-FEF168F4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B2338-1DC2-48BF-A66E-EAA64058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FB6DB-8656-486A-BCC9-23F9254A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83FB6-7F5F-4520-BAB9-CF639E78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0572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F8937-F4AB-4C92-92F7-B2A545E1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76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AEBB4-377B-4F64-8FB5-C7C5AA1E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01536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CREATE ROLE 'payments_read';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CREATE ROLE 'pii_read';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CREATE USER 'payment_analyst'@'localhost'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IDENTIFIED BY 'Example_ChangeMe_1!';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CREATE USER 'card_admin'@'localhost'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IDENTIFIED BY 'Example_ChangeMe_2!';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GRANT SELECT ON card_masking_demo.payment_tx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TO 'payments_read';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GRANT SELECT ON card_masking_demo.payment_tx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TO 'pii_read';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26B78-BAEB-4A04-9172-F180D450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550"/>
                </a:solidFill>
              </a:defRPr>
            </a:pPr>
            <a:r>
              <a:rPr sz="1200" b="0">
                <a:solidFill>
                  <a:srgbClr val="5B5550"/>
                </a:solidFill>
              </a:rPr>
              <a:t>Replace the example passwords before use.</a:t>
            </a:r>
          </a:p>
        </p:txBody>
      </p:sp>
    </p:spTree>
    <p:extLst>
      <p:ext uri="{BB962C8B-B14F-4D97-AF65-F5344CB8AC3E}">
        <p14:creationId xmlns:p14="http://schemas.microsoft.com/office/powerpoint/2010/main" val="785959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ECCBC-5F79-4711-97AA-71C9C6B9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73132-FC4F-433C-AE34-9FEB67E5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04 / USER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8DE51-6990-4C5E-AF7F-A074B04A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Grant each user the intended role and set the default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289BB-6E7A-4CF8-9ED7-E369246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The default role is active at login; a granted role can also be activated with SET ROLE.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26e5239c646b1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59627-115A-4169-B020-B3A1A8F4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1D3D6-6508-4887-8EE5-6155249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B2B52-6A93-4901-AE41-7EF4B06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1B6A2-F839-41E2-8828-2EB5D1D7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Reporting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8C4EC-5178-47DA-83F6-C04EEB2C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095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DDBB2-7333-4B5C-A306-1513C0B4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67ADF-2ED6-4050-896A-96270DDC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6767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GRANT 'payments_read'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TO 'payment_analyst'@'localhost';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SET DEFAULT ROLE 'payments_read'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TO 'payment_analyst'@'localhost';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AC56E-9BF8-4CE9-BEB3-8DB5E3AC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Payment processor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9F68D-BEA2-43C9-BC53-39568126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048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3D8F2-62DA-4DC1-B211-8F9F5F19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A9F3A-3C20-48D1-B992-F584D007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4629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GRANT 'pii_read'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TO 'card_admin'@'localhost';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SET DEFAULT ROLE 'pii_read'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TO 'card_admin'@'localhost';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9B534-B15C-440C-8BC0-F21E954B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875A6-7BD9-4802-8CCE-00FA24DB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Verify the active role in each session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FD010-9B26-429C-A9DD-4EEF1065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A9205-3ECA-4C2C-953C-BD76C5D1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F2924-2A31-4B02-B9C9-A1815FD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15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SELECT CURRENT_USER(), CURRENT_ROLE();</a:t>
            </a:r>
          </a:p>
        </p:txBody>
      </p:sp>
    </p:spTree>
    <p:extLst>
      <p:ext uri="{BB962C8B-B14F-4D97-AF65-F5344CB8AC3E}">
        <p14:creationId xmlns:p14="http://schemas.microsoft.com/office/powerpoint/2010/main" val="1898094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B9A81-A9F0-488C-9810-919ABC31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FEF40-495D-4AAE-9B76-00518510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05 /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C7D67-5750-4FCC-8F20-C0DDB3E9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Define the clear and masked value for each column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EEACB-3EEF-4237-BF76-1B33954A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CURRENT_ROLE_IN checks the active pii_read role when the column is queried.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733e0ea3c4b05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F812A-A4A4-48E7-ADEA-13CF3874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B345E-9953-4CBF-B1C0-FA94C738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966FE-1BCD-4BF5-9DE4-E6C3B5B4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44CC0-7574-4759-86D1-A955B45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Card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42F1D-AFA4-4CC7-B98D-A9DF52F2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A59C8-3D96-4EC9-AB5F-7BDA711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B4D2F-7D8C-4E8D-8864-FC11CB66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0153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CREATE MASKING POLICY card_pan_by_pii_role(pan_col)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CASE WHEN CURRENT_ROLE_IN('pii_read')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   THEN pan_col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   ELSE CONCAT('************', RIGHT(pan_col, 4))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END;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30B05-DBDF-45CA-AF40-C1F399E3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2D2A"/>
                </a:solidFill>
              </a:defRPr>
            </a:pPr>
            <a:r>
              <a:rPr sz="1875" b="1">
                <a:solidFill>
                  <a:srgbClr val="312D2A"/>
                </a:solidFill>
              </a:rPr>
              <a:t>Expiry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67B68-EFB1-408A-B613-1CAD0FB1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57275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D1F9B-15DB-49D3-A8D6-817FD42E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476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15EA1-42F1-43E1-9078-F0B2F51F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101536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CREATE MASKING POLICY card_expiry_by_pii_role(expiry_col)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CASE WHEN CURRENT_ROLE_IN('pii_read')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   THEN expiry_col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   ELSE '**/**'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1408837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4DF78B-EF2F-4FF7-B648-B85AC3C4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82957-59EE-40AA-9CE9-0098B35B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06 / APPLY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0B202-19F7-4F90-B1FD-26D7DFFC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Use ALTER TABLE to attach both policies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E25B7-988F-4481-B22E-490620CF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Repeat each column’s complete type and NOT NULL definition when adding its policy.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ae9a0fec14a2d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689E4-5293-4C2A-8712-E2B19F88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0BAC3-2D64-4435-B432-5F04E4B1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7A5C7-F1F9-456F-87FD-7124E086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DD3F9-27BA-46F6-A336-17714F68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57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7B745-C098-4A31-BFCC-CEBD54B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7C350-35BB-43D9-9B90-8EA591AA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01536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ALTER TABLE card_masking_demo.payment_tx</a:t>
            </a:r>
          </a:p>
          <a:p xmlns:a="http://schemas.openxmlformats.org/drawingml/2006/main">
            <a:pPr>
              <a:def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MODIFY COLUMN card_number CHAR(16) NOT NULL</a:t>
            </a:r>
          </a:p>
          <a:p xmlns:a="http://schemas.openxmlformats.org/drawingml/2006/main">
            <a:pPr>
              <a:def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MASKING POLICY card_pan_by_pii_role;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ALTER TABLE card_masking_demo.payment_tx</a:t>
            </a:r>
          </a:p>
          <a:p xmlns:a="http://schemas.openxmlformats.org/drawingml/2006/main">
            <a:pPr>
              <a:def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MODIFY COLUMN card_expiry CHAR(5) NOT NULL</a:t>
            </a:r>
          </a:p>
          <a:p xmlns:a="http://schemas.openxmlformats.org/drawingml/2006/main">
            <a:pPr>
              <a:def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MASKING POLICY card_expiry_by_pii_role;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F709B-7F21-4310-B551-644B2DA0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2D2A"/>
                </a:solidFill>
              </a:defRPr>
            </a:pPr>
            <a:r>
              <a:rPr sz="1650" b="1">
                <a:solidFill>
                  <a:srgbClr val="312D2A"/>
                </a:solidFill>
              </a:rPr>
              <a:t>Confirm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DE0C7-FDEE-4CCB-9CDA-8A252BF2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2D2A"/>
                </a:solidFill>
              </a:defRPr>
            </a:pPr>
            <a:r>
              <a:rPr sz="1500" b="0">
                <a:solidFill>
                  <a:srgbClr val="312D2A"/>
                </a:solidFill>
              </a:rPr>
              <a:t>SHOW CREATE TABLE card_masking_demo.payment_tx;</a:t>
            </a:r>
          </a:p>
        </p:txBody>
      </p:sp>
    </p:spTree>
    <p:extLst>
      <p:ext uri="{BB962C8B-B14F-4D97-AF65-F5344CB8AC3E}">
        <p14:creationId xmlns:p14="http://schemas.microsoft.com/office/powerpoint/2010/main" val="18474918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3BED82-D4F5-4B31-A124-5999EF4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5E728-6291-45A3-9C79-7DBDDF73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07 / COMPONENT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2E6D7-42E1-4D47-9F3A-C32ED161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One table, two policies, two role-dependent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9F1F-9826-4131-9E8F-C6BDB1F7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The column association selects a policy; the active role selects the value returned by that policy.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3b976eb7b44f0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23D6F-C5C9-46EC-B73A-C598A906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208C9-51A6-4BFC-8AF3-9B0AE4A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EAF3D-80F0-46F7-8C45-23EF714E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53682-599A-4572-A277-6AA673D6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A4034-8C07-40F7-9C31-AADB5D5D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36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2ED4E-57AE-4308-9AF3-4583BCE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2D2A"/>
                </a:solidFill>
              </a:defRPr>
            </a:pPr>
            <a:r>
              <a:rPr sz="1500" b="0">
                <a:solidFill>
                  <a:srgbClr val="312D2A"/>
                </a:solidFill>
              </a:rPr>
              <a:t>payment_tx</a:t>
            </a:r>
          </a:p>
          <a:p xmlns:a="http://schemas.openxmlformats.org/drawingml/2006/main">
            <a:pPr>
              <a:defRPr sz="1500" b="0">
                <a:solidFill>
                  <a:srgbClr val="312D2A"/>
                </a:solidFill>
              </a:defRPr>
            </a:pPr>
            <a:r>
              <a:rPr sz="1500" b="0">
                <a:solidFill>
                  <a:srgbClr val="312D2A"/>
                </a:solidFill>
              </a:rPr>
              <a:t>card_number / card_expiry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7D4CB-28D1-4914-8141-5E9CF778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57525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4634"/>
                </a:solidFill>
              </a:defRPr>
            </a:pPr>
            <a:r>
              <a:rPr sz="1875" b="1">
                <a:solidFill>
                  <a:srgbClr val="C7463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4C6B1-8E3A-4A38-A8A5-9706AC69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ALTER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9EBC5-BAD1-4C94-906E-887C029B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36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FAF06-3D8A-40ED-8A43-2038E65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2D2A"/>
                </a:solidFill>
              </a:defRPr>
            </a:pPr>
            <a:r>
              <a:rPr sz="1500" b="0">
                <a:solidFill>
                  <a:srgbClr val="312D2A"/>
                </a:solidFill>
              </a:rPr>
              <a:t>MODIFY COLUMN</a:t>
            </a:r>
          </a:p>
          <a:p xmlns:a="http://schemas.openxmlformats.org/drawingml/2006/main">
            <a:pPr>
              <a:defRPr sz="1500" b="0">
                <a:solidFill>
                  <a:srgbClr val="312D2A"/>
                </a:solidFill>
              </a:defRPr>
            </a:pPr>
            <a:r>
              <a:rPr sz="1500" b="0">
                <a:solidFill>
                  <a:srgbClr val="312D2A"/>
                </a:solidFill>
              </a:rPr>
              <a:t>MASKING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F354D-1A2E-4BF7-8EA0-1EDC05A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57525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4634"/>
                </a:solidFill>
              </a:defRPr>
            </a:pPr>
            <a:r>
              <a:rPr sz="1875" b="1">
                <a:solidFill>
                  <a:srgbClr val="C7463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CAEA2-D399-43FB-969F-016D8FF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361FA-81C1-43E9-9307-21582DE2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236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29458-324A-4A30-BF84-B5415FE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2D2A"/>
                </a:solidFill>
              </a:defRPr>
            </a:pPr>
            <a:r>
              <a:rPr sz="1500" b="0">
                <a:solidFill>
                  <a:srgbClr val="312D2A"/>
                </a:solidFill>
              </a:rPr>
              <a:t>card_pan_by_pii_role</a:t>
            </a:r>
          </a:p>
          <a:p xmlns:a="http://schemas.openxmlformats.org/drawingml/2006/main">
            <a:pPr>
              <a:defRPr sz="1500" b="0">
                <a:solidFill>
                  <a:srgbClr val="312D2A"/>
                </a:solidFill>
              </a:defRPr>
            </a:pPr>
            <a:r>
              <a:rPr sz="1500" b="0">
                <a:solidFill>
                  <a:srgbClr val="312D2A"/>
                </a:solidFill>
              </a:rPr>
              <a:t>card_expiry_by_pii_role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B4F80-6718-4718-947F-3517F503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57525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4634"/>
                </a:solidFill>
              </a:defRPr>
            </a:pPr>
            <a:r>
              <a:rPr sz="1875" b="1">
                <a:solidFill>
                  <a:srgbClr val="C7463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1CC73-130E-413B-9867-A40F157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ROLE →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AE7F2-F9BC-4148-8549-97A29AE2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36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1F1C6-0F23-4D2E-92B0-8F7D752A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2D2A"/>
                </a:solidFill>
              </a:defRPr>
            </a:pPr>
            <a:r>
              <a:rPr sz="1500" b="1">
                <a:solidFill>
                  <a:srgbClr val="312D2A"/>
                </a:solidFill>
              </a:rPr>
              <a:t>pii_read: clear</a:t>
            </a:r>
          </a:p>
          <a:p xmlns:a="http://schemas.openxmlformats.org/drawingml/2006/main">
            <a:pPr>
              <a:defRPr sz="1500" b="1">
                <a:solidFill>
                  <a:srgbClr val="312D2A"/>
                </a:solidFill>
              </a:defRPr>
            </a:pPr>
            <a:r>
              <a:rPr sz="1500" b="1">
                <a:solidFill>
                  <a:srgbClr val="312D2A"/>
                </a:solidFill>
              </a:rPr>
              <a:t>payments_read: masked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2461C-B47A-45BC-A714-B3D4FF0D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DC8B1-D963-45B2-A6E7-D8B1D812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</a:rPr>
              <a:t>Exact column association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6EE38-0ACB-4032-BCDD-930A182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57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6FFD0-CFF4-4195-98FA-3EEE1232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0753D6-74F3-43E0-A4C4-A34B274F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10153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ALTER TABLE card_masking_demo.payment_tx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MODIFY COLUMN card_number CHAR(16) NOT NULL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  MASKING POLICY card_pan_by_pii_role;</a:t>
            </a:r>
          </a:p>
        </p:txBody>
      </p:sp>
    </p:spTree>
    <p:extLst>
      <p:ext uri="{BB962C8B-B14F-4D97-AF65-F5344CB8AC3E}">
        <p14:creationId xmlns:p14="http://schemas.microsoft.com/office/powerpoint/2010/main" val="14220908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6E524-36E5-4FEC-A0D9-3EEFC8E4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CE6BA-B8D0-4795-9C00-44F45508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08 / USAGE CASE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ED56D-E57D-4BFC-9FF9-B8B6BB29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payment_analyst sees a masked card number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2761F-977D-4B7F-B9F5-6C272C50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Active role: payments_read. The same SELECT is used for the clear-value case.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e46e5dc2d476d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15134-5C2A-433A-82B0-DC7021A3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11A60-4D23-4851-9F04-603E02F1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A93E8-373B-481E-88CB-FCF7AFCC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AE345-1B19-4D6B-A842-B74230D2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3395E-995C-493D-A1C5-41CFCBA3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241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EC8E7-986A-4E04-B325-D5942FC0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3837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1C280-BB9E-418F-A97D-A6C670F7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5550"/>
                </a:solidFill>
              </a:defRPr>
            </a:pPr>
            <a:r>
              <a:rPr sz="1425" b="0">
                <a:solidFill>
                  <a:srgbClr val="5B5550"/>
                </a:solidFill>
              </a:rPr>
              <a:t>Log in as payment_analyst.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9BEAD-DDE1-4AA9-9F64-25F33247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84182-0B08-4334-8266-77412382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766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568E4-A5C1-4C9B-85CF-24A2EF0B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Check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92234-41A6-47AB-886E-9E2AE60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5550"/>
                </a:solidFill>
              </a:defRPr>
            </a:pPr>
            <a:r>
              <a:rPr sz="1425" b="0">
                <a:solidFill>
                  <a:srgbClr val="5B5550"/>
                </a:solidFill>
              </a:rPr>
              <a:t>CURRENT_ROLE() contains payments_read.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0668F-81C6-4D92-BB61-8D25A44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5CCB4-B415-4946-BADA-F44267CD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291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69F64-1D50-4EB7-AD2B-8853EC0B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4337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Read 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78AE3-5EE4-4B85-80E4-1EC614F1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5550"/>
                </a:solidFill>
              </a:defRPr>
            </a:pPr>
            <a:r>
              <a:rPr sz="1425" b="0">
                <a:solidFill>
                  <a:srgbClr val="5B5550"/>
                </a:solidFill>
              </a:rPr>
              <a:t>Run the SELECT shown at right.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846FE-2937-4016-ACB5-A50CBA7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</a:rPr>
              <a:t>Query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5C053-63E9-4635-95DB-A672EAD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57475"/>
            <a:ext cx="552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1655E-B1A1-4DE9-84DA-46B3D02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5747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19977-E84D-482E-A54A-E1B95A13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28925"/>
            <a:ext cx="510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SELECT CURRENT_USER(), CURRENT_ROLE();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SELECT payment_id, card_number, card_expiry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FROM card_masking_demo.payment_tx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WHERE payment_id = 101;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1BC1D-F757-4041-9A30-90B445CD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</a:rPr>
              <a:t>Expected row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8DD43-B3B2-4444-B624-7B5BE329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62525"/>
            <a:ext cx="552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9525">
            <a:solidFill>
              <a:srgbClr val="D7D1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AB0D4C-4EC7-4B04-8739-2019079E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101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2D2A"/>
                </a:solidFill>
              </a:defRPr>
            </a:pPr>
            <a:r>
              <a:rPr sz="1650" b="1">
                <a:solidFill>
                  <a:srgbClr val="312D2A"/>
                </a:solidFill>
              </a:rPr>
              <a:t>101   ************1111   **/**</a:t>
            </a:r>
          </a:p>
        </p:txBody>
      </p:sp>
    </p:spTree>
    <p:extLst>
      <p:ext uri="{BB962C8B-B14F-4D97-AF65-F5344CB8AC3E}">
        <p14:creationId xmlns:p14="http://schemas.microsoft.com/office/powerpoint/2010/main" val="1476294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D5928F-F87E-49E6-9B81-C7442A64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E4458-C2E9-48F7-AFDE-F21815D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09 / USAGE CASE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3ED4C-DF41-4598-AF5F-531ACD9E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card_admin sees the clear values with pii_read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B1AE0-E4EA-48F1-9E68-7AC48F1F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Active role: pii_read. The user must hold that role and have SELECT on the table.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886858e044103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A331C-A96A-4107-9D2C-FCC29433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BB894-998A-4AD6-AFB9-01A7D17C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5A9E6-A0E9-40AC-A0F0-E2181419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D3DF1-F72E-4F26-B1BF-6FCD3FFC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595BA-1B8E-449E-AA80-CFCFD971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241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26720-7A23-40E6-8A64-B019171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3837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6AEE1-D259-415A-A700-384EC71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5550"/>
                </a:solidFill>
              </a:defRPr>
            </a:pPr>
            <a:r>
              <a:rPr sz="1425" b="0">
                <a:solidFill>
                  <a:srgbClr val="5B5550"/>
                </a:solidFill>
              </a:rPr>
              <a:t>Log in as card_admin.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8586A-EF76-4E3E-8087-DAD2B395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16DD-BEB2-482C-93CE-2EE6ACED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766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55667-63B7-418A-95AE-DC68BF1F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Check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8B822-6BFE-4E5B-ABD8-98F36E92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5550"/>
                </a:solidFill>
              </a:defRPr>
            </a:pPr>
            <a:r>
              <a:rPr sz="1425" b="0">
                <a:solidFill>
                  <a:srgbClr val="5B5550"/>
                </a:solidFill>
              </a:rPr>
              <a:t>CURRENT_ROLE() contains pii_read.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D9301-223F-4BF2-B928-9072A7C2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D4B28-A811-46E8-94AA-6CAC9315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291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474FE-AA78-4A8D-89BF-DD0ED8F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4337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Read 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BF06F-571E-4DD8-9954-AA851774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5550"/>
                </a:solidFill>
              </a:defRPr>
            </a:pPr>
            <a:r>
              <a:rPr sz="1425" b="0">
                <a:solidFill>
                  <a:srgbClr val="5B5550"/>
                </a:solidFill>
              </a:rPr>
              <a:t>Run the same SELECT.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52413-448D-4DB1-8775-365B5360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</a:rPr>
              <a:t>Query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84102-F0AF-4AA6-A825-E758C74A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57475"/>
            <a:ext cx="552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C16B9-2CF7-4172-B224-0CDD86B1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5747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9BDD5-8023-4BE0-BE2E-F9D7A909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28925"/>
            <a:ext cx="510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SELECT CURRENT_USER(), CURRENT_ROLE();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SELECT payment_id, card_number, card_expiry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FROM card_masking_demo.payment_tx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WHERE payment_id = 101;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3F8A2-3FC5-4718-A518-8694FCBF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</a:rPr>
              <a:t>Expected row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0D76E-868B-45C6-B1D6-1776F0D5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62525"/>
            <a:ext cx="552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9525">
            <a:solidFill>
              <a:srgbClr val="D7D1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A2947-BCF2-49C2-AEAA-F67C9B9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101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2D2A"/>
                </a:solidFill>
              </a:defRPr>
            </a:pPr>
            <a:r>
              <a:rPr sz="1650" b="1">
                <a:solidFill>
                  <a:srgbClr val="312D2A"/>
                </a:solidFill>
              </a:rPr>
              <a:t>101   4111111111111111   12/28</a:t>
            </a:r>
          </a:p>
        </p:txBody>
      </p:sp>
    </p:spTree>
    <p:extLst>
      <p:ext uri="{BB962C8B-B14F-4D97-AF65-F5344CB8AC3E}">
        <p14:creationId xmlns:p14="http://schemas.microsoft.com/office/powerpoint/2010/main" val="1941425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EA2689-7BD5-4184-B205-7CD89258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27292-0CBD-4938-ADEC-88C3E3F0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10 / FINAL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353C9-FD8A-47AD-AA09-40A44A7C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2D2A"/>
                </a:solidFill>
              </a:defRPr>
            </a:pPr>
            <a:r>
              <a:rPr sz="2925" b="1">
                <a:solidFill>
                  <a:srgbClr val="312D2A"/>
                </a:solidFill>
              </a:rPr>
              <a:t>Verify both results before releasing the 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8E84C-6993-49B6-A08E-7150DC04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50"/>
                </a:solidFill>
              </a:defRPr>
            </a:pPr>
            <a:r>
              <a:rPr sz="1500" b="0">
                <a:solidFill>
                  <a:srgbClr val="5B5550"/>
                </a:solidFill>
              </a:rPr>
              <a:t>Show the stored definitions, then run the same read as each user.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79dec3f7044a8"/>
          <a:stretch xmlns:a="http://schemas.openxmlformats.org/drawingml/2006/main"/>
        </p:blipFill>
        <p:spPr>
          <a:xfrm xmlns:a="http://schemas.openxmlformats.org/drawingml/2006/main">
            <a:off x="10287000" y="210037"/>
            <a:ext cx="1238250" cy="8372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C335F-6F72-41BD-9B50-7BCBDC3E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ECD53-7327-4D7A-B904-917B057F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MYSQL ENTERPRISE  /  DYNAMIC DATA MASKING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6A9EF-9B3F-4E0E-AA3B-7B0B540A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550"/>
                </a:solidFill>
              </a:defRPr>
            </a:pPr>
            <a:r>
              <a:rPr sz="900" b="1">
                <a:solidFill>
                  <a:srgbClr val="5B5550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E9DCE-4F54-4810-84C8-7D888A06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10572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EC529-E7A6-4330-843A-C3F4A206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9116E-1998-44B6-A847-81D9C8B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0153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SHOW CREATE MASKING POLICY card_pan_by_pii_role;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SHOW CREATE MASKING POLICY card_expiry_by_pii_role;</a:t>
            </a:r>
          </a:p>
          <a:p xmlns:a="http://schemas.openxmlformats.org/drawingml/2006/main">
            <a:pPr>
              <a:def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312D2A"/>
                </a:solidFill>
                <a:latin typeface="Courier New"/>
                <a:ea typeface="Courier New"/>
                <a:cs typeface="Courier New"/>
              </a:rPr>
              <a:t>SHOW CREATE TABLE card_masking_demo.payment_tx;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48C76-E0CE-45C3-8153-F0037754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payment_analyst  +  payments_read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82F27-B47E-426E-B7E0-4BBE3543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</a:defRPr>
            </a:pPr>
            <a:r>
              <a:rPr sz="1650" b="1">
                <a:solidFill>
                  <a:srgbClr val="C74634"/>
                </a:solidFill>
              </a:rPr>
              <a:t>************1111   |   **/**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BF2A1-A666-427E-8567-633BDC86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00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card_admin  +  pii_read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A5528-6546-4091-98D0-9E41DB96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D58"/>
                </a:solidFill>
              </a:defRPr>
            </a:pPr>
            <a:r>
              <a:rPr sz="1650" b="1">
                <a:solidFill>
                  <a:srgbClr val="176D58"/>
                </a:solidFill>
              </a:rPr>
              <a:t>4111111111111111   |   12/28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5A622-422C-4085-A83D-E5B421B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151C6-A6A3-42DD-A5F8-4BAC9633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5550"/>
                </a:solidFill>
              </a:defRPr>
            </a:pPr>
            <a:r>
              <a:rPr sz="1275" b="0">
                <a:solidFill>
                  <a:srgbClr val="5B5550"/>
                </a:solidFill>
              </a:rPr>
              <a:t>Reference: MySQL 9.7 Reference Manual — Dynamic Data Masking Policy Component and policy usage.</a:t>
            </a:r>
          </a:p>
        </p:txBody>
      </p:sp>
    </p:spTree>
    <p:extLst>
      <p:ext uri="{BB962C8B-B14F-4D97-AF65-F5344CB8AC3E}">
        <p14:creationId xmlns:p14="http://schemas.microsoft.com/office/powerpoint/2010/main" val="1584269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2026-09-26T07:31:16.2670000Z</dcterms:created>
  <dcterms:modified xsi:type="dcterms:W3CDTF">2026-09-26T07:31:16.2670000Z</dcterms:modified>
</coreProperties>
</file>