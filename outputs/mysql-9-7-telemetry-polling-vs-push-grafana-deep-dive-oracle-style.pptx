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0569b4b44042a7" /><Relationship Type="http://schemas.openxmlformats.org/officeDocument/2006/relationships/extended-properties" Target="/docProps/app.xml" Id="R0841fccb33e040e6" /><Relationship Type="http://schemas.openxmlformats.org/officeDocument/2006/relationships/officeDocument" Target="/ppt/presentation.xml" Id="R89704a258d9d4e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dd6be2ace74253"/>
  </p:sldMasterIdLst>
  <p:notesMasterIdLst>
    <p:notesMasterId xmlns:r="http://schemas.openxmlformats.org/officeDocument/2006/relationships" r:id="R2ecaba32bef94679"/>
  </p:notesMasterIdLst>
  <p:sldIdLst>
    <p:sldId xmlns:r="http://schemas.openxmlformats.org/officeDocument/2006/relationships" id="256" r:id="Rae0f897be439437d"/>
    <p:sldId xmlns:r="http://schemas.openxmlformats.org/officeDocument/2006/relationships" id="257" r:id="Rffbaaeb90abb4938"/>
    <p:sldId xmlns:r="http://schemas.openxmlformats.org/officeDocument/2006/relationships" id="258" r:id="Rd73bbdbfbd564a9e"/>
    <p:sldId xmlns:r="http://schemas.openxmlformats.org/officeDocument/2006/relationships" id="259" r:id="Rfca65620b62a4b3f"/>
    <p:sldId xmlns:r="http://schemas.openxmlformats.org/officeDocument/2006/relationships" id="260" r:id="R22ea7a5d1e084a49"/>
    <p:sldId xmlns:r="http://schemas.openxmlformats.org/officeDocument/2006/relationships" id="261" r:id="Re4c76c71df7348ca"/>
    <p:sldId xmlns:r="http://schemas.openxmlformats.org/officeDocument/2006/relationships" id="262" r:id="R373d9f2e1a5743f5"/>
    <p:sldId xmlns:r="http://schemas.openxmlformats.org/officeDocument/2006/relationships" id="263" r:id="R0e9f1601c390427e"/>
    <p:sldId xmlns:r="http://schemas.openxmlformats.org/officeDocument/2006/relationships" id="264" r:id="R51c2b7f9410541e8"/>
    <p:sldId xmlns:r="http://schemas.openxmlformats.org/officeDocument/2006/relationships" id="265" r:id="Radaef29074534ec4"/>
    <p:sldId xmlns:r="http://schemas.openxmlformats.org/officeDocument/2006/relationships" id="266" r:id="R88371cf0426845e3"/>
    <p:sldId xmlns:r="http://schemas.openxmlformats.org/officeDocument/2006/relationships" id="267" r:id="Rcdf7177f65494314"/>
    <p:sldId xmlns:r="http://schemas.openxmlformats.org/officeDocument/2006/relationships" id="268" r:id="Rdfeb850d1e7448a9"/>
    <p:sldId xmlns:r="http://schemas.openxmlformats.org/officeDocument/2006/relationships" id="269" r:id="Rdac4acdb41074676"/>
    <p:sldId xmlns:r="http://schemas.openxmlformats.org/officeDocument/2006/relationships" id="270" r:id="Rf1c17447cd354399"/>
    <p:sldId xmlns:r="http://schemas.openxmlformats.org/officeDocument/2006/relationships" id="271" r:id="R36e484d2a1ae425e"/>
    <p:sldId xmlns:r="http://schemas.openxmlformats.org/officeDocument/2006/relationships" id="272" r:id="Rc2f12153c8974f45"/>
    <p:sldId xmlns:r="http://schemas.openxmlformats.org/officeDocument/2006/relationships" id="273" r:id="R27b9a91c1b0b41f6"/>
    <p:sldId xmlns:r="http://schemas.openxmlformats.org/officeDocument/2006/relationships" id="274" r:id="R859d49ecf5a54d8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663741dc184e78" /><Relationship Type="http://schemas.openxmlformats.org/officeDocument/2006/relationships/slideMaster" Target="/ppt/slideMasters/slideMaster1.xml" Id="Rd0dd6be2ace74253" /><Relationship Type="http://schemas.openxmlformats.org/officeDocument/2006/relationships/notesMaster" Target="/ppt/notesMasters/notesMaster1.xml" Id="R2ecaba32bef94679" /><Relationship Type="http://schemas.openxmlformats.org/officeDocument/2006/relationships/presProps" Target="/ppt/presProps.xml" Id="R33a4cf862de54b35" /><Relationship Type="http://schemas.openxmlformats.org/officeDocument/2006/relationships/tableStyles" Target="/ppt/tableStyles.xml" Id="Rd1f39328a61f4988" /><Relationship Type="http://schemas.openxmlformats.org/officeDocument/2006/relationships/slide" Target="/ppt/slides/slide1.xml" Id="Rae0f897be439437d" /><Relationship Type="http://schemas.openxmlformats.org/officeDocument/2006/relationships/slide" Target="/ppt/slides/slide2.xml" Id="Rffbaaeb90abb4938" /><Relationship Type="http://schemas.openxmlformats.org/officeDocument/2006/relationships/slide" Target="/ppt/slides/slide3.xml" Id="Rd73bbdbfbd564a9e" /><Relationship Type="http://schemas.openxmlformats.org/officeDocument/2006/relationships/slide" Target="/ppt/slides/slide4.xml" Id="Rfca65620b62a4b3f" /><Relationship Type="http://schemas.openxmlformats.org/officeDocument/2006/relationships/slide" Target="/ppt/slides/slide5.xml" Id="R22ea7a5d1e084a49" /><Relationship Type="http://schemas.openxmlformats.org/officeDocument/2006/relationships/slide" Target="/ppt/slides/slide6.xml" Id="Re4c76c71df7348ca" /><Relationship Type="http://schemas.openxmlformats.org/officeDocument/2006/relationships/slide" Target="/ppt/slides/slide7.xml" Id="R373d9f2e1a5743f5" /><Relationship Type="http://schemas.openxmlformats.org/officeDocument/2006/relationships/slide" Target="/ppt/slides/slide8.xml" Id="R0e9f1601c390427e" /><Relationship Type="http://schemas.openxmlformats.org/officeDocument/2006/relationships/slide" Target="/ppt/slides/slide9.xml" Id="R51c2b7f9410541e8" /><Relationship Type="http://schemas.openxmlformats.org/officeDocument/2006/relationships/slide" Target="/ppt/slides/slide10.xml" Id="Radaef29074534ec4" /><Relationship Type="http://schemas.openxmlformats.org/officeDocument/2006/relationships/slide" Target="/ppt/slides/slide11.xml" Id="R88371cf0426845e3" /><Relationship Type="http://schemas.openxmlformats.org/officeDocument/2006/relationships/slide" Target="/ppt/slides/slide12.xml" Id="Rcdf7177f65494314" /><Relationship Type="http://schemas.openxmlformats.org/officeDocument/2006/relationships/slide" Target="/ppt/slides/slide13.xml" Id="Rdfeb850d1e7448a9" /><Relationship Type="http://schemas.openxmlformats.org/officeDocument/2006/relationships/slide" Target="/ppt/slides/slide14.xml" Id="Rdac4acdb41074676" /><Relationship Type="http://schemas.openxmlformats.org/officeDocument/2006/relationships/slide" Target="/ppt/slides/slide15.xml" Id="Rf1c17447cd354399" /><Relationship Type="http://schemas.openxmlformats.org/officeDocument/2006/relationships/slide" Target="/ppt/slides/slide16.xml" Id="R36e484d2a1ae425e" /><Relationship Type="http://schemas.openxmlformats.org/officeDocument/2006/relationships/slide" Target="/ppt/slides/slide17.xml" Id="Rc2f12153c8974f45" /><Relationship Type="http://schemas.openxmlformats.org/officeDocument/2006/relationships/slide" Target="/ppt/slides/slide18.xml" Id="R27b9a91c1b0b41f6" /><Relationship Type="http://schemas.openxmlformats.org/officeDocument/2006/relationships/slide" Target="/ppt/slides/slide19.xml" Id="R859d49ecf5a54d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b0118554344c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f67e504ea04af9" /><Relationship Type="http://schemas.openxmlformats.org/officeDocument/2006/relationships/notesMaster" Target="/ppt/notesMasters/notesMaster1.xml" Id="R8380ab5e0f6f4b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469c86229d4130" /><Relationship Type="http://schemas.openxmlformats.org/officeDocument/2006/relationships/notesMaster" Target="/ppt/notesMasters/notesMaster1.xml" Id="Raa53f27941154a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c607de3e03497e" /><Relationship Type="http://schemas.openxmlformats.org/officeDocument/2006/relationships/notesMaster" Target="/ppt/notesMasters/notesMaster1.xml" Id="R15c64d04b6c94c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d99801696d475d" /><Relationship Type="http://schemas.openxmlformats.org/officeDocument/2006/relationships/notesMaster" Target="/ppt/notesMasters/notesMaster1.xml" Id="Rd5ce841d2b9344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9cdbf6b1e5b4111" /><Relationship Type="http://schemas.openxmlformats.org/officeDocument/2006/relationships/notesMaster" Target="/ppt/notesMasters/notesMaster1.xml" Id="R34228c389aff4fa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904d3305814763" /><Relationship Type="http://schemas.openxmlformats.org/officeDocument/2006/relationships/notesMaster" Target="/ppt/notesMasters/notesMaster1.xml" Id="Rc17b46bab82a4e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193adb601244b59" /><Relationship Type="http://schemas.openxmlformats.org/officeDocument/2006/relationships/notesMaster" Target="/ppt/notesMasters/notesMaster1.xml" Id="Reeb13b2c5d4c4ac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203983b7cf14f68" /><Relationship Type="http://schemas.openxmlformats.org/officeDocument/2006/relationships/notesMaster" Target="/ppt/notesMasters/notesMaster1.xml" Id="Ra041965accf24f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0fec00743cf4744" /><Relationship Type="http://schemas.openxmlformats.org/officeDocument/2006/relationships/notesMaster" Target="/ppt/notesMasters/notesMaster1.xml" Id="R2516cb531fae4ba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53e5cdd06b440d7" /><Relationship Type="http://schemas.openxmlformats.org/officeDocument/2006/relationships/notesMaster" Target="/ppt/notesMasters/notesMaster1.xml" Id="R599c0352fadf4bb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586f49bbf44428f" /><Relationship Type="http://schemas.openxmlformats.org/officeDocument/2006/relationships/notesMaster" Target="/ppt/notesMasters/notesMaster1.xml" Id="R7d90b350781244e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93e376390494b17" /><Relationship Type="http://schemas.openxmlformats.org/officeDocument/2006/relationships/notesMaster" Target="/ppt/notesMasters/notesMaster1.xml" Id="R55ba04adff214c5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de87ea993f64350" /><Relationship Type="http://schemas.openxmlformats.org/officeDocument/2006/relationships/notesMaster" Target="/ppt/notesMasters/notesMaster1.xml" Id="Ra70efc69bbd4438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5c4cf8d3fda45d2" /><Relationship Type="http://schemas.openxmlformats.org/officeDocument/2006/relationships/notesMaster" Target="/ppt/notesMasters/notesMaster1.xml" Id="R452a86b6ea144be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634b870933e47c7" /><Relationship Type="http://schemas.openxmlformats.org/officeDocument/2006/relationships/notesMaster" Target="/ppt/notesMasters/notesMaster1.xml" Id="R388b65b6929545c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11e03fbde7640b6" /><Relationship Type="http://schemas.openxmlformats.org/officeDocument/2006/relationships/notesMaster" Target="/ppt/notesMasters/notesMaster1.xml" Id="Rce0660cc2aaa4da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52aba1c58664f5e" /><Relationship Type="http://schemas.openxmlformats.org/officeDocument/2006/relationships/notesMaster" Target="/ppt/notesMasters/notesMaster1.xml" Id="R6b9349960c14409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3a088d84a8043f7" /><Relationship Type="http://schemas.openxmlformats.org/officeDocument/2006/relationships/notesMaster" Target="/ppt/notesMasters/notesMaster1.xml" Id="R0edfc42f8826426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7b5173d45e6441d" /><Relationship Type="http://schemas.openxmlformats.org/officeDocument/2006/relationships/notesMaster" Target="/ppt/notesMasters/notesMaster1.xml" Id="R67fcb9dfc03945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88c92c8eb7485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84d1e688fe4934" /><Relationship Type="http://schemas.openxmlformats.org/officeDocument/2006/relationships/slideLayout" Target="/ppt/slideLayouts/slideLayout1.xml" Id="Rf2cfffa02ddc4e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cfffa02ddc4e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4cc004f0054970" /><Relationship Type="http://schemas.openxmlformats.org/officeDocument/2006/relationships/image" Target="/ppt/media/image.png" Id="Rb59e7c5a54514ea1" /><Relationship Type="http://schemas.openxmlformats.org/officeDocument/2006/relationships/notesSlide" Target="/ppt/notesSlides/notesSlide1.xml" Id="R47c2b88ad44e4b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63b1f7d8f4f37" /><Relationship Type="http://schemas.openxmlformats.org/officeDocument/2006/relationships/notesSlide" Target="/ppt/notesSlides/notesSlide2.xml" Id="Raefd8f06e0874d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079399074d48c0" /><Relationship Type="http://schemas.openxmlformats.org/officeDocument/2006/relationships/notesSlide" Target="/ppt/notesSlides/notesSlide3.xml" Id="Rdceb8ad42c2446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ab3c0184d74f71" /><Relationship Type="http://schemas.openxmlformats.org/officeDocument/2006/relationships/notesSlide" Target="/ppt/notesSlides/notesSlide4.xml" Id="R84a497d4c7064f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733084b51f4557" /><Relationship Type="http://schemas.openxmlformats.org/officeDocument/2006/relationships/notesSlide" Target="/ppt/notesSlides/notesSlide5.xml" Id="Rfe94907df6a640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7504df39714343" /><Relationship Type="http://schemas.openxmlformats.org/officeDocument/2006/relationships/notesSlide" Target="/ppt/notesSlides/notesSlide6.xml" Id="Rb399f6c2453a4ec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f9d0b318d04e76" /><Relationship Type="http://schemas.openxmlformats.org/officeDocument/2006/relationships/notesSlide" Target="/ppt/notesSlides/notesSlide7.xml" Id="Rdf0c9083e6284c7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086e74992746c7" /><Relationship Type="http://schemas.openxmlformats.org/officeDocument/2006/relationships/notesSlide" Target="/ppt/notesSlides/notesSlide8.xml" Id="R7e467c551a12463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7ce5ddc5ca4276" /><Relationship Type="http://schemas.openxmlformats.org/officeDocument/2006/relationships/notesSlide" Target="/ppt/notesSlides/notesSlide9.xml" Id="Ree47772ace7541c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140d8f7b6e4d84" /><Relationship Type="http://schemas.openxmlformats.org/officeDocument/2006/relationships/notesSlide" Target="/ppt/notesSlides/notesSlide10.xml" Id="R66bf199b3ed64ef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5231eb65744152" /><Relationship Type="http://schemas.openxmlformats.org/officeDocument/2006/relationships/notesSlide" Target="/ppt/notesSlides/notesSlide11.xml" Id="R06200ab130b64b3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a6a55ef673414d" /><Relationship Type="http://schemas.openxmlformats.org/officeDocument/2006/relationships/notesSlide" Target="/ppt/notesSlides/notesSlide12.xml" Id="R6bead8f30fc5459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3c06683ce947cb" /><Relationship Type="http://schemas.openxmlformats.org/officeDocument/2006/relationships/notesSlide" Target="/ppt/notesSlides/notesSlide13.xml" Id="Rbd8cb75abbff467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bd3f36a760468e" /><Relationship Type="http://schemas.openxmlformats.org/officeDocument/2006/relationships/notesSlide" Target="/ppt/notesSlides/notesSlide14.xml" Id="R7fc7c39cc59748f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c3ba68f56b44e2" /><Relationship Type="http://schemas.openxmlformats.org/officeDocument/2006/relationships/notesSlide" Target="/ppt/notesSlides/notesSlide15.xml" Id="R6a57cb30926d4d3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1f804e7e7846ea" /><Relationship Type="http://schemas.openxmlformats.org/officeDocument/2006/relationships/notesSlide" Target="/ppt/notesSlides/notesSlide16.xml" Id="R620bd86ec5ee4f4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081bb5d6de4cba" /><Relationship Type="http://schemas.openxmlformats.org/officeDocument/2006/relationships/notesSlide" Target="/ppt/notesSlides/notesSlide17.xml" Id="R49a0bf5ff4db4e4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590d9c18d74256" /><Relationship Type="http://schemas.openxmlformats.org/officeDocument/2006/relationships/notesSlide" Target="/ppt/notesSlides/notesSlide18.xml" Id="R6395143ab7984b9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e0a42d867f4be5" /><Relationship Type="http://schemas.openxmlformats.org/officeDocument/2006/relationships/notesSlide" Target="/ppt/notesSlides/notesSlide19.xml" Id="Rc14eae1e6a0f479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D91364-650E-4F8D-BD22-9C62973E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RACLE  /  MYSQL INNOVATI">
            <a:extLst xmlns:a="http://schemas.openxmlformats.org/drawingml/2006/main">
              <a:ext uri="{FF2B5EF4-FFF2-40B4-BE49-F238E27FC236}">
                <a16:creationId xmlns:a16="http://schemas.microsoft.com/office/drawing/2014/main" id="{5A541360-31E6-43B0-A652-99C1FB44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ORACLE  /  MYSQL INNOVATION LAB</a:t>
            </a:r>
          </a:p>
        </p:txBody>
      </p:sp>
      <p:sp>
        <p:nvSpPr>
          <p:cNvPr id="3" name="MySQL 9.7 telemetry">
            <a:extLst xmlns:a="http://schemas.openxmlformats.org/drawingml/2006/main">
              <a:ext uri="{FF2B5EF4-FFF2-40B4-BE49-F238E27FC236}">
                <a16:creationId xmlns:a16="http://schemas.microsoft.com/office/drawing/2014/main" id="{E8D9DD11-AD4E-4FF8-B8D3-7603E688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100488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200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MySQL 9.7 telemetry</a:t>
            </a:r>
          </a:p>
        </p:txBody>
      </p:sp>
      <p:sp>
        <p:nvSpPr>
          <p:cNvPr id="4" name="Collector polling versus ">
            <a:extLst xmlns:a="http://schemas.openxmlformats.org/drawingml/2006/main">
              <a:ext uri="{FF2B5EF4-FFF2-40B4-BE49-F238E27FC236}">
                <a16:creationId xmlns:a16="http://schemas.microsoft.com/office/drawing/2014/main" id="{84B21299-2953-41FF-BB23-324BE5AB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19375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Collector polling versus component push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B25758-1B42-4D29-A6F4-DCD1781D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86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 practical deep dive wit">
            <a:extLst xmlns:a="http://schemas.openxmlformats.org/drawingml/2006/main">
              <a:ext uri="{FF2B5EF4-FFF2-40B4-BE49-F238E27FC236}">
                <a16:creationId xmlns:a16="http://schemas.microsoft.com/office/drawing/2014/main" id="{F1F915CC-6059-4099-AE39-5CBB1CB0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86225"/>
            <a:ext cx="7858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211F"/>
                </a:solidFill>
                <a:latin typeface="Arial"/>
                <a:ea typeface="Arial"/>
                <a:cs typeface="Arial"/>
              </a:rPr>
              <a:t>A practical deep dive with an architecture comparison, setup SQL, and a live import demo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9e7c5a54514ea1"/>
          <a:stretch xmlns:a="http://schemas.openxmlformats.org/drawingml/2006/main"/>
        </p:blipFill>
        <p:spPr>
          <a:xfrm xmlns:a="http://schemas.openxmlformats.org/drawingml/2006/main">
            <a:off x="9886950" y="5098635"/>
            <a:ext cx="1428750" cy="966030"/>
          </a:xfrm>
          <a:prstGeom xmlns:a="http://schemas.openxmlformats.org/drawingml/2006/main" prst="rect">
            <a:avLst/>
          </a:prstGeom>
        </p:spPr>
      </p:pic>
      <p:sp>
        <p:nvSpPr>
          <p:cNvPr id="8" name="COMMUNITY EDITION  ·  TRA">
            <a:extLst xmlns:a="http://schemas.openxmlformats.org/drawingml/2006/main">
              <a:ext uri="{FF2B5EF4-FFF2-40B4-BE49-F238E27FC236}">
                <a16:creationId xmlns:a16="http://schemas.microsoft.com/office/drawing/2014/main" id="{AAA7B79A-CEA6-4760-BC5F-51DDCE57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15025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0758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58F"/>
                </a:solidFill>
                <a:latin typeface="Arial"/>
                <a:ea typeface="Arial"/>
                <a:cs typeface="Arial"/>
              </a:rPr>
              <a:t>COMMUNITY EDITION  ·  TRACES + METRICS</a:t>
            </a:r>
          </a:p>
        </p:txBody>
      </p:sp>
    </p:spTree>
    <p:extLst>
      <p:ext uri="{BB962C8B-B14F-4D97-AF65-F5344CB8AC3E}">
        <p14:creationId xmlns:p14="http://schemas.microsoft.com/office/powerpoint/2010/main" val="12876150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A456C3-1F9B-4202-BB2B-2F6F8F2AC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RACLE  /  MySQL 9.7">
            <a:extLst xmlns:a="http://schemas.openxmlformats.org/drawingml/2006/main">
              <a:ext uri="{FF2B5EF4-FFF2-40B4-BE49-F238E27FC236}">
                <a16:creationId xmlns:a16="http://schemas.microsoft.com/office/drawing/2014/main" id="{24CB9BBD-E1C1-4E21-9B5F-13BD94A2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ORACLE  /  MySQL 9.7</a:t>
            </a:r>
          </a:p>
        </p:txBody>
      </p:sp>
      <p:sp>
        <p:nvSpPr>
          <p:cNvPr id="3" name="BACKGROUND">
            <a:extLst xmlns:a="http://schemas.openxmlformats.org/drawingml/2006/main">
              <a:ext uri="{FF2B5EF4-FFF2-40B4-BE49-F238E27FC236}">
                <a16:creationId xmlns:a16="http://schemas.microsoft.com/office/drawing/2014/main" id="{9016326F-45AE-4CA0-ACBB-58289E0F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BACKGROUND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50C6C6-09B0-441C-B792-74A1E97F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lemetry links SQL activ">
            <a:extLst xmlns:a="http://schemas.openxmlformats.org/drawingml/2006/main">
              <a:ext uri="{FF2B5EF4-FFF2-40B4-BE49-F238E27FC236}">
                <a16:creationId xmlns:a16="http://schemas.microsoft.com/office/drawing/2014/main" id="{961186CE-BC80-49F8-A773-3C045DF9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Telemetry links SQL activity to server behavior</a:t>
            </a:r>
          </a:p>
        </p:txBody>
      </p:sp>
      <p:sp>
        <p:nvSpPr>
          <p:cNvPr id="6" name="OpenTelemetry supports bo">
            <a:extLst xmlns:a="http://schemas.openxmlformats.org/drawingml/2006/main">
              <a:ext uri="{FF2B5EF4-FFF2-40B4-BE49-F238E27FC236}">
                <a16:creationId xmlns:a16="http://schemas.microsoft.com/office/drawing/2014/main" id="{E30993FF-7686-44BE-9A64-907D9639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OpenTelemetry supports both external polling and MySQL-originated export.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BD281C-46BB-4B72-983D-977C7CAD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YSQL TELEMETRY  ·  DEEP ">
            <a:extLst xmlns:a="http://schemas.openxmlformats.org/drawingml/2006/main">
              <a:ext uri="{FF2B5EF4-FFF2-40B4-BE49-F238E27FC236}">
                <a16:creationId xmlns:a16="http://schemas.microsoft.com/office/drawing/2014/main" id="{A8131B93-08EF-4651-ADA6-6C35C799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MYSQL TELEMETRY  ·  DEEP DIVE</a:t>
            </a:r>
          </a:p>
        </p:txBody>
      </p:sp>
      <p:sp>
        <p:nvSpPr>
          <p:cNvPr id="9" name="02">
            <a:extLst xmlns:a="http://schemas.openxmlformats.org/drawingml/2006/main">
              <a:ext uri="{FF2B5EF4-FFF2-40B4-BE49-F238E27FC236}">
                <a16:creationId xmlns:a16="http://schemas.microsoft.com/office/drawing/2014/main" id="{58709E92-EB75-4DE6-B99F-A8A5C9D2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Without a pipeline">
            <a:extLst xmlns:a="http://schemas.openxmlformats.org/drawingml/2006/main">
              <a:ext uri="{FF2B5EF4-FFF2-40B4-BE49-F238E27FC236}">
                <a16:creationId xmlns:a16="http://schemas.microsoft.com/office/drawing/2014/main" id="{FD09117D-28B8-4A06-9B04-5A36BECA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Without a pipeline</a:t>
            </a:r>
          </a:p>
        </p:txBody>
      </p:sp>
      <p:sp>
        <p:nvSpPr>
          <p:cNvPr id="11" name="Slow queries and connecti">
            <a:extLst xmlns:a="http://schemas.openxmlformats.org/drawingml/2006/main">
              <a:ext uri="{FF2B5EF4-FFF2-40B4-BE49-F238E27FC236}">
                <a16:creationId xmlns:a16="http://schemas.microsoft.com/office/drawing/2014/main" id="{31B08671-4F2C-4794-A52C-E3136B7D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50292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50" b="0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11F"/>
                </a:solidFill>
                <a:latin typeface="Arial"/>
                <a:ea typeface="Arial"/>
                <a:cs typeface="Arial"/>
              </a:rPr>
              <a:t>Slow queries and connection spikes are observed in separate tools. Teams lose the timeline that connects a client action to database activity.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313C86-73A5-4A3E-B3AF-A5ACF612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533650"/>
            <a:ext cx="1905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With a Collector">
            <a:extLst xmlns:a="http://schemas.openxmlformats.org/drawingml/2006/main">
              <a:ext uri="{FF2B5EF4-FFF2-40B4-BE49-F238E27FC236}">
                <a16:creationId xmlns:a16="http://schemas.microsoft.com/office/drawing/2014/main" id="{64349A0E-CE8A-46CB-8437-A33086D7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71750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00758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58F"/>
                </a:solidFill>
                <a:latin typeface="Arial"/>
                <a:ea typeface="Arial"/>
                <a:cs typeface="Arial"/>
              </a:rPr>
              <a:t>With a Collector</a:t>
            </a:r>
          </a:p>
        </p:txBody>
      </p:sp>
      <p:sp>
        <p:nvSpPr>
          <p:cNvPr id="14" name="Its MySQL receiver can po">
            <a:extLst xmlns:a="http://schemas.openxmlformats.org/drawingml/2006/main">
              <a:ext uri="{FF2B5EF4-FFF2-40B4-BE49-F238E27FC236}">
                <a16:creationId xmlns:a16="http://schemas.microsoft.com/office/drawing/2014/main" id="{C69F85FD-83E0-45D3-B75B-C8B6AA3B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05150"/>
            <a:ext cx="50292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50" b="0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11F"/>
                </a:solidFill>
                <a:latin typeface="Arial"/>
                <a:ea typeface="Arial"/>
                <a:cs typeface="Arial"/>
              </a:rPr>
              <a:t>Its MySQL receiver can poll server state, or an OTLP receiver can accept signals pushed by the MySQL telemetry component.</a:t>
            </a:r>
          </a:p>
        </p:txBody>
      </p:sp>
      <p:sp>
        <p:nvSpPr>
          <p:cNvPr id="15" name="Key distinction: polling ">
            <a:extLst xmlns:a="http://schemas.openxmlformats.org/drawingml/2006/main">
              <a:ext uri="{FF2B5EF4-FFF2-40B4-BE49-F238E27FC236}">
                <a16:creationId xmlns:a16="http://schemas.microsoft.com/office/drawing/2014/main" id="{2F7B99D1-7820-4C9D-B1BB-8D22B326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66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Key distinction: polling queries state; push exports instrumented events.</a:t>
            </a:r>
          </a:p>
        </p:txBody>
      </p:sp>
    </p:spTree>
    <p:extLst>
      <p:ext uri="{BB962C8B-B14F-4D97-AF65-F5344CB8AC3E}">
        <p14:creationId xmlns:p14="http://schemas.microsoft.com/office/powerpoint/2010/main" val="3969323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A96624-5373-4BFE-B16B-C399F9DD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RACLE  /  MySQL 9.7">
            <a:extLst xmlns:a="http://schemas.openxmlformats.org/drawingml/2006/main">
              <a:ext uri="{FF2B5EF4-FFF2-40B4-BE49-F238E27FC236}">
                <a16:creationId xmlns:a16="http://schemas.microsoft.com/office/drawing/2014/main" id="{A7DD6966-1BE2-4038-9996-8A473FD6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ORACLE  /  MySQL 9.7</a:t>
            </a:r>
          </a:p>
        </p:txBody>
      </p:sp>
      <p:sp>
        <p:nvSpPr>
          <p:cNvPr id="3" name="ARCHITECTURE">
            <a:extLst xmlns:a="http://schemas.openxmlformats.org/drawingml/2006/main">
              <a:ext uri="{FF2B5EF4-FFF2-40B4-BE49-F238E27FC236}">
                <a16:creationId xmlns:a16="http://schemas.microsoft.com/office/drawing/2014/main" id="{86D73F05-6BDC-472E-9F0D-02651A38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30CB48-8FD7-412C-BE5B-DCE045B6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olling and push start on">
            <a:extLst xmlns:a="http://schemas.openxmlformats.org/drawingml/2006/main">
              <a:ext uri="{FF2B5EF4-FFF2-40B4-BE49-F238E27FC236}">
                <a16:creationId xmlns:a16="http://schemas.microsoft.com/office/drawing/2014/main" id="{4D2642C8-3FB1-4EAB-BA98-93DE9930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Polling and push start on opposite sides</a:t>
            </a:r>
          </a:p>
        </p:txBody>
      </p:sp>
      <p:sp>
        <p:nvSpPr>
          <p:cNvPr id="6" name="Both reach a Collector pi">
            <a:extLst xmlns:a="http://schemas.openxmlformats.org/drawingml/2006/main">
              <a:ext uri="{FF2B5EF4-FFF2-40B4-BE49-F238E27FC236}">
                <a16:creationId xmlns:a16="http://schemas.microsoft.com/office/drawing/2014/main" id="{3A09C563-9B3C-4D1A-809B-44362E41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Both reach a Collector pipeline, but they collect different evidence.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3537C8-8320-4141-AC1E-BFC91213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YSQL TELEMETRY  ·  DEEP ">
            <a:extLst xmlns:a="http://schemas.openxmlformats.org/drawingml/2006/main">
              <a:ext uri="{FF2B5EF4-FFF2-40B4-BE49-F238E27FC236}">
                <a16:creationId xmlns:a16="http://schemas.microsoft.com/office/drawing/2014/main" id="{09EA7948-FE95-487C-8EF6-5F698644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MYSQL TELEMETRY  ·  DEEP DIVE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7AB77F5F-CF36-427C-803F-EA79CFC8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0A09FF-950C-41A7-B559-9D1C617C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6975"/>
            <a:ext cx="109728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75455D-9250-46B4-9F77-A3DE9BBC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09728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B68012-2A86-4B96-B693-315BD536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38500"/>
            <a:ext cx="49434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5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D41452-E614-45E5-9535-C68FB696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029200"/>
            <a:ext cx="49434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⇄">
            <a:extLst xmlns:a="http://schemas.openxmlformats.org/drawingml/2006/main">
              <a:ext uri="{FF2B5EF4-FFF2-40B4-BE49-F238E27FC236}">
                <a16:creationId xmlns:a16="http://schemas.microsoft.com/office/drawing/2014/main" id="{66AC8A8B-D537-4084-A9B0-A3CCD6FA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962275"/>
            <a:ext cx="68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600" b="1">
                <a:solidFill>
                  <a:srgbClr val="00758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758F"/>
                </a:solidFill>
                <a:latin typeface="Arial"/>
                <a:ea typeface="Arial"/>
                <a:cs typeface="Arial"/>
              </a:rPr>
              <a:t>⇄</a:t>
            </a:r>
          </a:p>
        </p:txBody>
      </p:sp>
      <p:sp>
        <p:nvSpPr>
          <p:cNvPr id="15" name="→">
            <a:extLst xmlns:a="http://schemas.openxmlformats.org/drawingml/2006/main">
              <a:ext uri="{FF2B5EF4-FFF2-40B4-BE49-F238E27FC236}">
                <a16:creationId xmlns:a16="http://schemas.microsoft.com/office/drawing/2014/main" id="{A5DBE955-027B-4229-B088-4A838191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33925"/>
            <a:ext cx="714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7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02ED9F-8480-432C-884E-CD036C32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25336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0"/>
          </a:solidFill>
          <a:ln xmlns:a="http://schemas.openxmlformats.org/drawingml/2006/main" w="9525">
            <a:solidFill>
              <a:srgbClr val="D9D1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C17C88-0118-4F34-8936-0DA35168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62250"/>
            <a:ext cx="28003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0"/>
          </a:solidFill>
          <a:ln xmlns:a="http://schemas.openxmlformats.org/drawingml/2006/main" w="9525">
            <a:solidFill>
              <a:srgbClr val="D9D1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3BBDB7-7374-46C7-9F02-A760035A1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43425"/>
            <a:ext cx="25336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0"/>
          </a:solidFill>
          <a:ln xmlns:a="http://schemas.openxmlformats.org/drawingml/2006/main" w="9525">
            <a:solidFill>
              <a:srgbClr val="D9D1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4A3562-2F0C-4575-A121-39A50FF8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543425"/>
            <a:ext cx="28003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0"/>
          </a:solidFill>
          <a:ln xmlns:a="http://schemas.openxmlformats.org/drawingml/2006/main" w="9525">
            <a:solidFill>
              <a:srgbClr val="D9D1C8"/>
            </a:solidFill>
            <a:prstDash val="solid"/>
          </a:ln>
        </p:spPr>
      </p:sp>
      <p:sp>
        <p:nvSpPr>
          <p:cNvPr id="20" name="POLL">
            <a:extLst xmlns:a="http://schemas.openxmlformats.org/drawingml/2006/main">
              <a:ext uri="{FF2B5EF4-FFF2-40B4-BE49-F238E27FC236}">
                <a16:creationId xmlns:a16="http://schemas.microsoft.com/office/drawing/2014/main" id="{2E0FF408-EC81-45F6-B121-4EB79B9E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0758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58F"/>
                </a:solidFill>
                <a:latin typeface="Arial"/>
                <a:ea typeface="Arial"/>
                <a:cs typeface="Arial"/>
              </a:rPr>
              <a:t>POLL</a:t>
            </a:r>
          </a:p>
        </p:txBody>
      </p:sp>
      <p:sp>
        <p:nvSpPr>
          <p:cNvPr id="21" name="MySQL server">
            <a:extLst xmlns:a="http://schemas.openxmlformats.org/drawingml/2006/main">
              <a:ext uri="{FF2B5EF4-FFF2-40B4-BE49-F238E27FC236}">
                <a16:creationId xmlns:a16="http://schemas.microsoft.com/office/drawing/2014/main" id="{0F193C78-DA49-4902-A849-24BE318B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71800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MySQL server</a:t>
            </a:r>
          </a:p>
        </p:txBody>
      </p:sp>
      <p:sp>
        <p:nvSpPr>
          <p:cNvPr id="22" name="status + InnoDB tables">
            <a:extLst xmlns:a="http://schemas.openxmlformats.org/drawingml/2006/main">
              <a:ext uri="{FF2B5EF4-FFF2-40B4-BE49-F238E27FC236}">
                <a16:creationId xmlns:a16="http://schemas.microsoft.com/office/drawing/2014/main" id="{84971F9B-4FCD-4896-8C5C-A9139C7E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718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status + InnoDB tables</a:t>
            </a:r>
          </a:p>
        </p:txBody>
      </p:sp>
      <p:sp>
        <p:nvSpPr>
          <p:cNvPr id="23" name="MySQL receiver">
            <a:extLst xmlns:a="http://schemas.openxmlformats.org/drawingml/2006/main">
              <a:ext uri="{FF2B5EF4-FFF2-40B4-BE49-F238E27FC236}">
                <a16:creationId xmlns:a16="http://schemas.microsoft.com/office/drawing/2014/main" id="{051AC3E4-D63B-40EF-8C42-3929A254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43225"/>
            <a:ext cx="2428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MySQL receiver</a:t>
            </a:r>
          </a:p>
        </p:txBody>
      </p:sp>
      <p:sp>
        <p:nvSpPr>
          <p:cNvPr id="24" name="Collector initiates SQL">
            <a:extLst xmlns:a="http://schemas.openxmlformats.org/drawingml/2006/main">
              <a:ext uri="{FF2B5EF4-FFF2-40B4-BE49-F238E27FC236}">
                <a16:creationId xmlns:a16="http://schemas.microsoft.com/office/drawing/2014/main" id="{4628FA11-D513-47A0-B00B-EAB28C04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362325"/>
            <a:ext cx="2428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Collector initiates SQL</a:t>
            </a:r>
          </a:p>
        </p:txBody>
      </p:sp>
      <p:sp>
        <p:nvSpPr>
          <p:cNvPr id="25" name="MySQL protocol · TCP 3306">
            <a:extLst xmlns:a="http://schemas.openxmlformats.org/drawingml/2006/main">
              <a:ext uri="{FF2B5EF4-FFF2-40B4-BE49-F238E27FC236}">
                <a16:creationId xmlns:a16="http://schemas.microsoft.com/office/drawing/2014/main" id="{972926D0-A1F0-48FE-A86A-E29D645D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609975"/>
            <a:ext cx="453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00758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58F"/>
                </a:solidFill>
                <a:latin typeface="Arial"/>
                <a:ea typeface="Arial"/>
                <a:cs typeface="Arial"/>
              </a:rPr>
              <a:t>MySQL protocol · TCP 3306</a:t>
            </a:r>
          </a:p>
        </p:txBody>
      </p:sp>
      <p:sp>
        <p:nvSpPr>
          <p:cNvPr id="26" name="PUSH">
            <a:extLst xmlns:a="http://schemas.openxmlformats.org/drawingml/2006/main">
              <a:ext uri="{FF2B5EF4-FFF2-40B4-BE49-F238E27FC236}">
                <a16:creationId xmlns:a16="http://schemas.microsoft.com/office/drawing/2014/main" id="{9A964E2A-F94B-45E6-8CC1-85940737B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338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PUSH</a:t>
            </a:r>
          </a:p>
        </p:txBody>
      </p:sp>
      <p:sp>
        <p:nvSpPr>
          <p:cNvPr id="27" name="MySQL component">
            <a:extLst xmlns:a="http://schemas.openxmlformats.org/drawingml/2006/main">
              <a:ext uri="{FF2B5EF4-FFF2-40B4-BE49-F238E27FC236}">
                <a16:creationId xmlns:a16="http://schemas.microsoft.com/office/drawing/2014/main" id="{B9A67AA5-5BC8-4801-911F-1846829E2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43450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MySQL component</a:t>
            </a:r>
          </a:p>
        </p:txBody>
      </p:sp>
      <p:sp>
        <p:nvSpPr>
          <p:cNvPr id="28" name="instrumented signals">
            <a:extLst xmlns:a="http://schemas.openxmlformats.org/drawingml/2006/main">
              <a:ext uri="{FF2B5EF4-FFF2-40B4-BE49-F238E27FC236}">
                <a16:creationId xmlns:a16="http://schemas.microsoft.com/office/drawing/2014/main" id="{FBC1F230-4246-4493-9C12-54C91330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43500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instrumented signals</a:t>
            </a:r>
          </a:p>
        </p:txBody>
      </p:sp>
      <p:sp>
        <p:nvSpPr>
          <p:cNvPr id="29" name="OTLP receiver">
            <a:extLst xmlns:a="http://schemas.openxmlformats.org/drawingml/2006/main">
              <a:ext uri="{FF2B5EF4-FFF2-40B4-BE49-F238E27FC236}">
                <a16:creationId xmlns:a16="http://schemas.microsoft.com/office/drawing/2014/main" id="{56EF6EFB-C468-4D04-A952-C69A3E8D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733925"/>
            <a:ext cx="2428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OTLP receiver</a:t>
            </a:r>
          </a:p>
        </p:txBody>
      </p:sp>
      <p:sp>
        <p:nvSpPr>
          <p:cNvPr id="30" name="Collector accepts export">
            <a:extLst xmlns:a="http://schemas.openxmlformats.org/drawingml/2006/main">
              <a:ext uri="{FF2B5EF4-FFF2-40B4-BE49-F238E27FC236}">
                <a16:creationId xmlns:a16="http://schemas.microsoft.com/office/drawing/2014/main" id="{69589C81-D06C-4D5F-99B3-05681C8F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153025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Collector accepts export</a:t>
            </a:r>
          </a:p>
        </p:txBody>
      </p:sp>
      <p:sp>
        <p:nvSpPr>
          <p:cNvPr id="31" name="OTLP/HTTP · port 4318">
            <a:extLst xmlns:a="http://schemas.openxmlformats.org/drawingml/2006/main">
              <a:ext uri="{FF2B5EF4-FFF2-40B4-BE49-F238E27FC236}">
                <a16:creationId xmlns:a16="http://schemas.microsoft.com/office/drawing/2014/main" id="{134AC3BC-CC6D-45AF-A2B4-59CFE0492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400675"/>
            <a:ext cx="453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OTLP/HTTP · port 4318</a:t>
            </a:r>
          </a:p>
        </p:txBody>
      </p:sp>
    </p:spTree>
    <p:extLst>
      <p:ext uri="{BB962C8B-B14F-4D97-AF65-F5344CB8AC3E}">
        <p14:creationId xmlns:p14="http://schemas.microsoft.com/office/powerpoint/2010/main" val="19006668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BEF4EF-0FA6-439C-8A8D-77061F06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RACLE  /  MySQL 9.7">
            <a:extLst xmlns:a="http://schemas.openxmlformats.org/drawingml/2006/main">
              <a:ext uri="{FF2B5EF4-FFF2-40B4-BE49-F238E27FC236}">
                <a16:creationId xmlns:a16="http://schemas.microsoft.com/office/drawing/2014/main" id="{20A4116B-EEE3-47CC-B7FD-624CF724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ORACLE  /  MySQL 9.7</a:t>
            </a:r>
          </a:p>
        </p:txBody>
      </p:sp>
      <p:sp>
        <p:nvSpPr>
          <p:cNvPr id="3" name="COMPARISON">
            <a:extLst xmlns:a="http://schemas.openxmlformats.org/drawingml/2006/main">
              <a:ext uri="{FF2B5EF4-FFF2-40B4-BE49-F238E27FC236}">
                <a16:creationId xmlns:a16="http://schemas.microsoft.com/office/drawing/2014/main" id="{424A57F4-79BC-4EB1-A26C-B4136D3C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501C62-47E8-4E26-87C2-598415C8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he two paths answer diff">
            <a:extLst xmlns:a="http://schemas.openxmlformats.org/drawingml/2006/main">
              <a:ext uri="{FF2B5EF4-FFF2-40B4-BE49-F238E27FC236}">
                <a16:creationId xmlns:a16="http://schemas.microsoft.com/office/drawing/2014/main" id="{95782D45-743F-424E-B0E5-1A272DFE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The two paths answer different questions</a:t>
            </a:r>
          </a:p>
        </p:txBody>
      </p:sp>
      <p:sp>
        <p:nvSpPr>
          <p:cNvPr id="6" name="Choose polling for regula">
            <a:extLst xmlns:a="http://schemas.openxmlformats.org/drawingml/2006/main">
              <a:ext uri="{FF2B5EF4-FFF2-40B4-BE49-F238E27FC236}">
                <a16:creationId xmlns:a16="http://schemas.microsoft.com/office/drawing/2014/main" id="{9A932D17-0E4F-43B5-BE7D-21553D1B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Choose polling for regular server-state measurements; push for instrumented spans and metrics.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527317-1985-4C1F-A3F7-E555B1DD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YSQL TELEMETRY  ·  DEEP ">
            <a:extLst xmlns:a="http://schemas.openxmlformats.org/drawingml/2006/main">
              <a:ext uri="{FF2B5EF4-FFF2-40B4-BE49-F238E27FC236}">
                <a16:creationId xmlns:a16="http://schemas.microsoft.com/office/drawing/2014/main" id="{0253A124-8B88-434B-84F5-1614AA88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MYSQL TELEMETRY  ·  DEEP DIVE</a:t>
            </a:r>
          </a:p>
        </p:txBody>
      </p:sp>
      <p:sp>
        <p:nvSpPr>
          <p:cNvPr id="9" name="04">
            <a:extLst xmlns:a="http://schemas.openxmlformats.org/drawingml/2006/main">
              <a:ext uri="{FF2B5EF4-FFF2-40B4-BE49-F238E27FC236}">
                <a16:creationId xmlns:a16="http://schemas.microsoft.com/office/drawing/2014/main" id="{6E0BF8D3-2B1D-4B03-9DD4-F05CD552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176100-8BFF-46DC-856B-895A8C86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0972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IMENSION">
            <a:extLst xmlns:a="http://schemas.openxmlformats.org/drawingml/2006/main">
              <a:ext uri="{FF2B5EF4-FFF2-40B4-BE49-F238E27FC236}">
                <a16:creationId xmlns:a16="http://schemas.microsoft.com/office/drawing/2014/main" id="{A3F9A798-539D-4CD6-A1E6-469652A8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DIMENSION</a:t>
            </a:r>
          </a:p>
        </p:txBody>
      </p:sp>
      <p:sp>
        <p:nvSpPr>
          <p:cNvPr id="12" name="COLLECTOR POLLS MYSQL">
            <a:extLst xmlns:a="http://schemas.openxmlformats.org/drawingml/2006/main">
              <a:ext uri="{FF2B5EF4-FFF2-40B4-BE49-F238E27FC236}">
                <a16:creationId xmlns:a16="http://schemas.microsoft.com/office/drawing/2014/main" id="{795342C5-7C5F-4288-8820-537FA0C4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7051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COLLECTOR POLLS MYSQL</a:t>
            </a:r>
          </a:p>
        </p:txBody>
      </p:sp>
      <p:sp>
        <p:nvSpPr>
          <p:cNvPr id="13" name="MYSQL COMPONENT PUSHES">
            <a:extLst xmlns:a="http://schemas.openxmlformats.org/drawingml/2006/main">
              <a:ext uri="{FF2B5EF4-FFF2-40B4-BE49-F238E27FC236}">
                <a16:creationId xmlns:a16="http://schemas.microsoft.com/office/drawing/2014/main" id="{0E7E4DB9-C7A9-45B0-A75B-147620B4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705100"/>
            <a:ext cx="401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MYSQL COMPONENT PUSHES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24CF55-EA9C-4A99-AA9C-5450C23B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9728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C8"/>
            </a:solidFill>
            <a:prstDash val="solid"/>
          </a:ln>
        </p:spPr>
      </p:sp>
      <p:sp>
        <p:nvSpPr>
          <p:cNvPr id="15" name="Initiator">
            <a:extLst xmlns:a="http://schemas.openxmlformats.org/drawingml/2006/main">
              <a:ext uri="{FF2B5EF4-FFF2-40B4-BE49-F238E27FC236}">
                <a16:creationId xmlns:a16="http://schemas.microsoft.com/office/drawing/2014/main" id="{EE48BA72-229B-47DD-BC69-31FABE22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1943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Initiator</a:t>
            </a:r>
          </a:p>
        </p:txBody>
      </p:sp>
      <p:sp>
        <p:nvSpPr>
          <p:cNvPr id="16" name="Collector mysqlreceiver">
            <a:extLst xmlns:a="http://schemas.openxmlformats.org/drawingml/2006/main">
              <a:ext uri="{FF2B5EF4-FFF2-40B4-BE49-F238E27FC236}">
                <a16:creationId xmlns:a16="http://schemas.microsoft.com/office/drawing/2014/main" id="{4403E72E-0BE2-495E-ACA1-A5A68383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1908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211F"/>
                </a:solidFill>
                <a:latin typeface="Arial"/>
                <a:ea typeface="Arial"/>
                <a:cs typeface="Arial"/>
              </a:rPr>
              <a:t>Collector mysqlreceiver</a:t>
            </a:r>
          </a:p>
        </p:txBody>
      </p:sp>
      <p:sp>
        <p:nvSpPr>
          <p:cNvPr id="17" name="MySQL component_telemetry">
            <a:extLst xmlns:a="http://schemas.openxmlformats.org/drawingml/2006/main">
              <a:ext uri="{FF2B5EF4-FFF2-40B4-BE49-F238E27FC236}">
                <a16:creationId xmlns:a16="http://schemas.microsoft.com/office/drawing/2014/main" id="{00B679CF-E8D0-4418-A2D0-6641453F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190875"/>
            <a:ext cx="3990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211F"/>
                </a:solidFill>
                <a:latin typeface="Arial"/>
                <a:ea typeface="Arial"/>
                <a:cs typeface="Arial"/>
              </a:rPr>
              <a:t>MySQL component_telemetry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CFF85B-57A2-44C0-B03A-69049B2E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728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0"/>
          </a:solidFill>
          <a:ln xmlns:a="http://schemas.openxmlformats.org/drawingml/2006/main" w="9525">
            <a:solidFill>
              <a:srgbClr val="D9D1C8"/>
            </a:solidFill>
            <a:prstDash val="solid"/>
          </a:ln>
        </p:spPr>
      </p:sp>
      <p:sp>
        <p:nvSpPr>
          <p:cNvPr id="19" name="Connection">
            <a:extLst xmlns:a="http://schemas.openxmlformats.org/drawingml/2006/main">
              <a:ext uri="{FF2B5EF4-FFF2-40B4-BE49-F238E27FC236}">
                <a16:creationId xmlns:a16="http://schemas.microsoft.com/office/drawing/2014/main" id="{C97E5166-D561-47D3-A3ED-663D98FE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1943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Connection</a:t>
            </a:r>
          </a:p>
        </p:txBody>
      </p:sp>
      <p:sp>
        <p:nvSpPr>
          <p:cNvPr id="20" name="SQL over MySQL protocol :">
            <a:extLst xmlns:a="http://schemas.openxmlformats.org/drawingml/2006/main">
              <a:ext uri="{FF2B5EF4-FFF2-40B4-BE49-F238E27FC236}">
                <a16:creationId xmlns:a16="http://schemas.microsoft.com/office/drawing/2014/main" id="{F9A69DCE-5AA1-455C-A507-95BB5E26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528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211F"/>
                </a:solidFill>
                <a:latin typeface="Arial"/>
                <a:ea typeface="Arial"/>
                <a:cs typeface="Arial"/>
              </a:rPr>
              <a:t>SQL over MySQL protocol :3306</a:t>
            </a:r>
          </a:p>
        </p:txBody>
      </p:sp>
      <p:sp>
        <p:nvSpPr>
          <p:cNvPr id="21" name="OTLP/HTTP to Collector :4">
            <a:extLst xmlns:a="http://schemas.openxmlformats.org/drawingml/2006/main">
              <a:ext uri="{FF2B5EF4-FFF2-40B4-BE49-F238E27FC236}">
                <a16:creationId xmlns:a16="http://schemas.microsoft.com/office/drawing/2014/main" id="{6DAEE310-DF18-4A94-8FCE-158EAA2D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752850"/>
            <a:ext cx="3990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211F"/>
                </a:solidFill>
                <a:latin typeface="Arial"/>
                <a:ea typeface="Arial"/>
                <a:cs typeface="Arial"/>
              </a:rPr>
              <a:t>OTLP/HTTP to Collector :4318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85048B-4B13-4CC3-858D-55DD2D6E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109728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C8"/>
            </a:solidFill>
            <a:prstDash val="solid"/>
          </a:ln>
        </p:spPr>
      </p:sp>
      <p:sp>
        <p:nvSpPr>
          <p:cNvPr id="23" name="Primary signals">
            <a:extLst xmlns:a="http://schemas.openxmlformats.org/drawingml/2006/main">
              <a:ext uri="{FF2B5EF4-FFF2-40B4-BE49-F238E27FC236}">
                <a16:creationId xmlns:a16="http://schemas.microsoft.com/office/drawing/2014/main" id="{C93A1B93-F13C-4B11-8C2D-0D8CBC63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24350"/>
            <a:ext cx="1943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Primary signals</a:t>
            </a:r>
          </a:p>
        </p:txBody>
      </p:sp>
      <p:sp>
        <p:nvSpPr>
          <p:cNvPr id="24" name="Server metrics; optional ">
            <a:extLst xmlns:a="http://schemas.openxmlformats.org/drawingml/2006/main">
              <a:ext uri="{FF2B5EF4-FFF2-40B4-BE49-F238E27FC236}">
                <a16:creationId xmlns:a16="http://schemas.microsoft.com/office/drawing/2014/main" id="{07AC0078-7CC2-4CFC-9B78-EAED85F6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31482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211F"/>
                </a:solidFill>
                <a:latin typeface="Arial"/>
                <a:ea typeface="Arial"/>
                <a:cs typeface="Arial"/>
              </a:rPr>
              <a:t>Server metrics; optional query-sample logs</a:t>
            </a:r>
          </a:p>
        </p:txBody>
      </p:sp>
      <p:sp>
        <p:nvSpPr>
          <p:cNvPr id="25" name="Traces and metrics; logs ">
            <a:extLst xmlns:a="http://schemas.openxmlformats.org/drawingml/2006/main">
              <a:ext uri="{FF2B5EF4-FFF2-40B4-BE49-F238E27FC236}">
                <a16:creationId xmlns:a16="http://schemas.microsoft.com/office/drawing/2014/main" id="{FD319CC0-094E-4803-AAA5-D8B28C85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314825"/>
            <a:ext cx="3990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211F"/>
                </a:solidFill>
                <a:latin typeface="Arial"/>
                <a:ea typeface="Arial"/>
                <a:cs typeface="Arial"/>
              </a:rPr>
              <a:t>Traces and metrics; logs need extra provider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869205-5658-4264-BA6C-484879B8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9728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0"/>
          </a:solidFill>
          <a:ln xmlns:a="http://schemas.openxmlformats.org/drawingml/2006/main" w="9525">
            <a:solidFill>
              <a:srgbClr val="D9D1C8"/>
            </a:solidFill>
            <a:prstDash val="solid"/>
          </a:ln>
        </p:spPr>
      </p:sp>
      <p:sp>
        <p:nvSpPr>
          <p:cNvPr id="27" name="Cadence">
            <a:extLst xmlns:a="http://schemas.openxmlformats.org/drawingml/2006/main">
              <a:ext uri="{FF2B5EF4-FFF2-40B4-BE49-F238E27FC236}">
                <a16:creationId xmlns:a16="http://schemas.microsoft.com/office/drawing/2014/main" id="{0B01EBD5-CF9A-428B-BF45-41043CAE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86325"/>
            <a:ext cx="1943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Cadence</a:t>
            </a:r>
          </a:p>
        </p:txBody>
      </p:sp>
      <p:sp>
        <p:nvSpPr>
          <p:cNvPr id="28" name="collection_interval (10s ">
            <a:extLst xmlns:a="http://schemas.openxmlformats.org/drawingml/2006/main">
              <a:ext uri="{FF2B5EF4-FFF2-40B4-BE49-F238E27FC236}">
                <a16:creationId xmlns:a16="http://schemas.microsoft.com/office/drawing/2014/main" id="{4ECB58A6-21AB-422A-8542-77D9AB54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8768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211F"/>
                </a:solidFill>
                <a:latin typeface="Arial"/>
                <a:ea typeface="Arial"/>
                <a:cs typeface="Arial"/>
              </a:rPr>
              <a:t>collection_interval (10s default)</a:t>
            </a:r>
          </a:p>
        </p:txBody>
      </p:sp>
      <p:sp>
        <p:nvSpPr>
          <p:cNvPr id="29" name="Metric reader + exporter ">
            <a:extLst xmlns:a="http://schemas.openxmlformats.org/drawingml/2006/main">
              <a:ext uri="{FF2B5EF4-FFF2-40B4-BE49-F238E27FC236}">
                <a16:creationId xmlns:a16="http://schemas.microsoft.com/office/drawing/2014/main" id="{6576E14A-67A1-410D-B4AC-C02D0602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876800"/>
            <a:ext cx="3990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211F"/>
                </a:solidFill>
                <a:latin typeface="Arial"/>
                <a:ea typeface="Arial"/>
                <a:cs typeface="Arial"/>
              </a:rPr>
              <a:t>Metric reader + exporter batch settings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141A61-FC60-4A7D-8869-0D3B0B41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728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C8"/>
            </a:solidFill>
            <a:prstDash val="solid"/>
          </a:ln>
        </p:spPr>
      </p:sp>
      <p:sp>
        <p:nvSpPr>
          <p:cNvPr id="31" name="Dependency">
            <a:extLst xmlns:a="http://schemas.openxmlformats.org/drawingml/2006/main">
              <a:ext uri="{FF2B5EF4-FFF2-40B4-BE49-F238E27FC236}">
                <a16:creationId xmlns:a16="http://schemas.microsoft.com/office/drawing/2014/main" id="{77E8965B-20CF-46F2-8578-184D2FB9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48300"/>
            <a:ext cx="1943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Dependency</a:t>
            </a:r>
          </a:p>
        </p:txBody>
      </p:sp>
      <p:sp>
        <p:nvSpPr>
          <p:cNvPr id="32" name="Contrib Collector + MySQL">
            <a:extLst xmlns:a="http://schemas.openxmlformats.org/drawingml/2006/main">
              <a:ext uri="{FF2B5EF4-FFF2-40B4-BE49-F238E27FC236}">
                <a16:creationId xmlns:a16="http://schemas.microsoft.com/office/drawing/2014/main" id="{85DF68E6-CFE6-4773-A02E-E8E88EC5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4387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211F"/>
                </a:solidFill>
                <a:latin typeface="Arial"/>
                <a:ea typeface="Arial"/>
                <a:cs typeface="Arial"/>
              </a:rPr>
              <a:t>Contrib Collector + MySQL credentials</a:t>
            </a:r>
          </a:p>
        </p:txBody>
      </p:sp>
      <p:sp>
        <p:nvSpPr>
          <p:cNvPr id="33" name="MySQL 9.7 component + OTL">
            <a:extLst xmlns:a="http://schemas.openxmlformats.org/drawingml/2006/main">
              <a:ext uri="{FF2B5EF4-FFF2-40B4-BE49-F238E27FC236}">
                <a16:creationId xmlns:a16="http://schemas.microsoft.com/office/drawing/2014/main" id="{F6E1E1ED-DA59-42CE-B6F3-0D00BE88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438775"/>
            <a:ext cx="3990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211F"/>
                </a:solidFill>
                <a:latin typeface="Arial"/>
                <a:ea typeface="Arial"/>
                <a:cs typeface="Arial"/>
              </a:rPr>
              <a:t>MySQL 9.7 component + OTLP receiver</a:t>
            </a:r>
          </a:p>
        </p:txBody>
      </p:sp>
      <p:sp>
        <p:nvSpPr>
          <p:cNvPr id="34" name="The polling receiver does">
            <a:extLst xmlns:a="http://schemas.openxmlformats.org/drawingml/2006/main">
              <a:ext uri="{FF2B5EF4-FFF2-40B4-BE49-F238E27FC236}">
                <a16:creationId xmlns:a16="http://schemas.microsoft.com/office/drawing/2014/main" id="{886646FB-D6E8-4BBE-A0B4-C75D30C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The polling receiver does not turn status queries into native MySQL trace spans.</a:t>
            </a:r>
          </a:p>
        </p:txBody>
      </p:sp>
    </p:spTree>
    <p:extLst>
      <p:ext uri="{BB962C8B-B14F-4D97-AF65-F5344CB8AC3E}">
        <p14:creationId xmlns:p14="http://schemas.microsoft.com/office/powerpoint/2010/main" val="17238584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2496E1-901B-493B-904A-76336D58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RACLE  /  MySQL 9.7">
            <a:extLst xmlns:a="http://schemas.openxmlformats.org/drawingml/2006/main">
              <a:ext uri="{FF2B5EF4-FFF2-40B4-BE49-F238E27FC236}">
                <a16:creationId xmlns:a16="http://schemas.microsoft.com/office/drawing/2014/main" id="{D515027C-3651-4B54-B285-766A911C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ORACLE  /  MySQL 9.7</a:t>
            </a:r>
          </a:p>
        </p:txBody>
      </p:sp>
      <p:sp>
        <p:nvSpPr>
          <p:cNvPr id="3" name="PREREQUISITES">
            <a:extLst xmlns:a="http://schemas.openxmlformats.org/drawingml/2006/main">
              <a:ext uri="{FF2B5EF4-FFF2-40B4-BE49-F238E27FC236}">
                <a16:creationId xmlns:a16="http://schemas.microsoft.com/office/drawing/2014/main" id="{8CB8A4B9-62A2-4BBD-8F7C-07994BDAA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PREREQUISITES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0DB731-0828-416B-B84B-5CB49A09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hoose the data path befo">
            <a:extLst xmlns:a="http://schemas.openxmlformats.org/drawingml/2006/main">
              <a:ext uri="{FF2B5EF4-FFF2-40B4-BE49-F238E27FC236}">
                <a16:creationId xmlns:a16="http://schemas.microsoft.com/office/drawing/2014/main" id="{48C199F5-D379-46B3-8F07-D7E95F0C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Choose the data path before configuring MySQL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07AA42-F736-4BAE-85BF-827807C4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YSQL TELEMETRY  ·  DEEP ">
            <a:extLst xmlns:a="http://schemas.openxmlformats.org/drawingml/2006/main">
              <a:ext uri="{FF2B5EF4-FFF2-40B4-BE49-F238E27FC236}">
                <a16:creationId xmlns:a16="http://schemas.microsoft.com/office/drawing/2014/main" id="{8B20A782-5895-4972-AE2D-0AFA3E8B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MYSQL TELEMETRY  ·  DEEP DIVE</a:t>
            </a:r>
          </a:p>
        </p:txBody>
      </p:sp>
      <p:sp>
        <p:nvSpPr>
          <p:cNvPr id="8" name="05">
            <a:extLst xmlns:a="http://schemas.openxmlformats.org/drawingml/2006/main">
              <a:ext uri="{FF2B5EF4-FFF2-40B4-BE49-F238E27FC236}">
                <a16:creationId xmlns:a16="http://schemas.microsoft.com/office/drawing/2014/main" id="{D8472F50-FE65-4753-8BF2-5DCF0E8C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9" name="01">
            <a:extLst xmlns:a="http://schemas.openxmlformats.org/drawingml/2006/main">
              <a:ext uri="{FF2B5EF4-FFF2-40B4-BE49-F238E27FC236}">
                <a16:creationId xmlns:a16="http://schemas.microsoft.com/office/drawing/2014/main" id="{F207C5DD-4F80-4C0A-BEFA-2D2C9C2F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st server">
            <a:extLst xmlns:a="http://schemas.openxmlformats.org/drawingml/2006/main">
              <a:ext uri="{FF2B5EF4-FFF2-40B4-BE49-F238E27FC236}">
                <a16:creationId xmlns:a16="http://schemas.microsoft.com/office/drawing/2014/main" id="{19C62D73-24A7-4A13-9D1D-861B97CA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050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Test server</a:t>
            </a:r>
          </a:p>
        </p:txBody>
      </p:sp>
      <p:sp>
        <p:nvSpPr>
          <p:cNvPr id="11" name="Use MySQL 9.7. Push requi">
            <a:extLst xmlns:a="http://schemas.openxmlformats.org/drawingml/2006/main">
              <a:ext uri="{FF2B5EF4-FFF2-40B4-BE49-F238E27FC236}">
                <a16:creationId xmlns:a16="http://schemas.microsoft.com/office/drawing/2014/main" id="{2D28E2DD-8F87-439A-8FA8-59CE7DA6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05050"/>
            <a:ext cx="619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Use MySQL 9.7. Push requires component installation; polling needs a database login.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6B7FB5-B5AD-4846-B417-D4FC9D042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02">
            <a:extLst xmlns:a="http://schemas.openxmlformats.org/drawingml/2006/main">
              <a:ext uri="{FF2B5EF4-FFF2-40B4-BE49-F238E27FC236}">
                <a16:creationId xmlns:a16="http://schemas.microsoft.com/office/drawing/2014/main" id="{7065CC10-0E41-4030-914C-53D97EE8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Collector distribution">
            <a:extLst xmlns:a="http://schemas.openxmlformats.org/drawingml/2006/main">
              <a:ext uri="{FF2B5EF4-FFF2-40B4-BE49-F238E27FC236}">
                <a16:creationId xmlns:a16="http://schemas.microsoft.com/office/drawing/2014/main" id="{E2841940-2483-41C9-9B92-FF043688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670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Collector distribution</a:t>
            </a:r>
          </a:p>
        </p:txBody>
      </p:sp>
      <p:sp>
        <p:nvSpPr>
          <p:cNvPr id="15" name="mysqlreceiver is in Colle">
            <a:extLst xmlns:a="http://schemas.openxmlformats.org/drawingml/2006/main">
              <a:ext uri="{FF2B5EF4-FFF2-40B4-BE49-F238E27FC236}">
                <a16:creationId xmlns:a16="http://schemas.microsoft.com/office/drawing/2014/main" id="{1FBCC71D-1BC1-43CF-A444-2CD57FB0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67075"/>
            <a:ext cx="619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mysqlreceiver is in Collector Contrib. The core Collector can accept OTLP push.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5FD57F-717A-4C74-A98F-289F84E3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03">
            <a:extLst xmlns:a="http://schemas.openxmlformats.org/drawingml/2006/main">
              <a:ext uri="{FF2B5EF4-FFF2-40B4-BE49-F238E27FC236}">
                <a16:creationId xmlns:a16="http://schemas.microsoft.com/office/drawing/2014/main" id="{459A6F5C-A563-4A1D-9ED5-70653E1C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Check topology">
            <a:extLst xmlns:a="http://schemas.openxmlformats.org/drawingml/2006/main">
              <a:ext uri="{FF2B5EF4-FFF2-40B4-BE49-F238E27FC236}">
                <a16:creationId xmlns:a16="http://schemas.microsoft.com/office/drawing/2014/main" id="{869E9E24-F15C-492A-8708-0BE6CFC59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291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Check topology</a:t>
            </a:r>
          </a:p>
        </p:txBody>
      </p:sp>
      <p:sp>
        <p:nvSpPr>
          <p:cNvPr id="19" name="Poll needs Collector → My">
            <a:extLst xmlns:a="http://schemas.openxmlformats.org/drawingml/2006/main">
              <a:ext uri="{FF2B5EF4-FFF2-40B4-BE49-F238E27FC236}">
                <a16:creationId xmlns:a16="http://schemas.microsoft.com/office/drawing/2014/main" id="{45A10E7A-479B-435B-A806-DE8A0D8C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229100"/>
            <a:ext cx="619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Poll needs Collector → MySQL :3306; push needs MySQL → OTLP :4318.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1678B7-7808-43FB-807B-063F920D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Use least-privilege crede">
            <a:extLst xmlns:a="http://schemas.openxmlformats.org/drawingml/2006/main">
              <a:ext uri="{FF2B5EF4-FFF2-40B4-BE49-F238E27FC236}">
                <a16:creationId xmlns:a16="http://schemas.microsoft.com/office/drawing/2014/main" id="{BB26068B-31CA-4763-9640-F315BA7B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Use least-privilege credentials and TLS in production. localhost always means the host making that connection.</a:t>
            </a:r>
          </a:p>
        </p:txBody>
      </p:sp>
    </p:spTree>
    <p:extLst>
      <p:ext uri="{BB962C8B-B14F-4D97-AF65-F5344CB8AC3E}">
        <p14:creationId xmlns:p14="http://schemas.microsoft.com/office/powerpoint/2010/main" val="16018147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F68385-91D8-4E61-AB02-7487F7BD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RACLE  /  MySQL 9.7">
            <a:extLst xmlns:a="http://schemas.openxmlformats.org/drawingml/2006/main">
              <a:ext uri="{FF2B5EF4-FFF2-40B4-BE49-F238E27FC236}">
                <a16:creationId xmlns:a16="http://schemas.microsoft.com/office/drawing/2014/main" id="{D2AEF32F-7463-4ED2-A11C-4ABCAA08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ORACLE  /  MySQL 9.7</a:t>
            </a:r>
          </a:p>
        </p:txBody>
      </p:sp>
      <p:sp>
        <p:nvSpPr>
          <p:cNvPr id="3" name="POLLING PATH">
            <a:extLst xmlns:a="http://schemas.openxmlformats.org/drawingml/2006/main">
              <a:ext uri="{FF2B5EF4-FFF2-40B4-BE49-F238E27FC236}">
                <a16:creationId xmlns:a16="http://schemas.microsoft.com/office/drawing/2014/main" id="{366CDCCD-4316-42D9-AAC7-137DC670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POLLING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5E4617-F323-4427-9747-C0588821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he Contrib MySQL receive">
            <a:extLst xmlns:a="http://schemas.openxmlformats.org/drawingml/2006/main">
              <a:ext uri="{FF2B5EF4-FFF2-40B4-BE49-F238E27FC236}">
                <a16:creationId xmlns:a16="http://schemas.microsoft.com/office/drawing/2014/main" id="{DB147570-DB5F-43C3-8625-DB4D8A76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The Contrib MySQL receiver polls server measurements</a:t>
            </a:r>
          </a:p>
        </p:txBody>
      </p:sp>
      <p:sp>
        <p:nvSpPr>
          <p:cNvPr id="6" name="No MySQL telemetry compon">
            <a:extLst xmlns:a="http://schemas.openxmlformats.org/drawingml/2006/main">
              <a:ext uri="{FF2B5EF4-FFF2-40B4-BE49-F238E27FC236}">
                <a16:creationId xmlns:a16="http://schemas.microsoft.com/office/drawing/2014/main" id="{0AD66D41-4596-4EC5-A773-EF8534A9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No MySQL telemetry component is required for this path.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1E37FA-99E7-4419-A7C2-DA0506F3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YSQL TELEMETRY  ·  DEEP ">
            <a:extLst xmlns:a="http://schemas.openxmlformats.org/drawingml/2006/main">
              <a:ext uri="{FF2B5EF4-FFF2-40B4-BE49-F238E27FC236}">
                <a16:creationId xmlns:a16="http://schemas.microsoft.com/office/drawing/2014/main" id="{8C8BE5BF-0C1F-4AE6-AF53-73B18FE0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MYSQL TELEMETRY  ·  DEEP DIVE</a:t>
            </a:r>
          </a:p>
        </p:txBody>
      </p:sp>
      <p:sp>
        <p:nvSpPr>
          <p:cNvPr id="9" name="06">
            <a:extLst xmlns:a="http://schemas.openxmlformats.org/drawingml/2006/main">
              <a:ext uri="{FF2B5EF4-FFF2-40B4-BE49-F238E27FC236}">
                <a16:creationId xmlns:a16="http://schemas.microsoft.com/office/drawing/2014/main" id="{1214C47A-3B8B-4DCD-991B-F3BD3640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8711B3-B60C-413D-AE96-EFECBD98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9728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81C8B8-CC75-488E-B35B-E9801A6E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571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ceivers:&#10;  mysql:&#10;    e">
            <a:extLst xmlns:a="http://schemas.openxmlformats.org/drawingml/2006/main">
              <a:ext uri="{FF2B5EF4-FFF2-40B4-BE49-F238E27FC236}">
                <a16:creationId xmlns:a16="http://schemas.microsoft.com/office/drawing/2014/main" id="{1452095E-11C6-4F56-9340-04B8DC10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657475"/>
            <a:ext cx="10515600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receivers: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mysql: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endpoint: mysql.example:3306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username: otel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password: ${env:MYSQL_PASSWORD}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collection_interval: 10s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exporters: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debug: {verbosity: basic}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service: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pipelines: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metrics: {receivers: [mysql], exporters: [debug]}</a:t>
            </a:r>
          </a:p>
        </p:txBody>
      </p:sp>
      <p:sp>
        <p:nvSpPr>
          <p:cNvPr id="13" name="Use Collector Contrib; th">
            <a:extLst xmlns:a="http://schemas.openxmlformats.org/drawingml/2006/main">
              <a:ext uri="{FF2B5EF4-FFF2-40B4-BE49-F238E27FC236}">
                <a16:creationId xmlns:a16="http://schemas.microsoft.com/office/drawing/2014/main" id="{5CD90247-D786-4433-8F7F-F4E253D4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734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Use Collector Contrib; the account needs access to SHOW GLOBAL STATUS. Query samples need performance_schema SELECT.</a:t>
            </a:r>
          </a:p>
        </p:txBody>
      </p:sp>
    </p:spTree>
    <p:extLst>
      <p:ext uri="{BB962C8B-B14F-4D97-AF65-F5344CB8AC3E}">
        <p14:creationId xmlns:p14="http://schemas.microsoft.com/office/powerpoint/2010/main" val="13763872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00A258-99DC-413F-BC19-213CE407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RACLE  /  MySQL 9.7">
            <a:extLst xmlns:a="http://schemas.openxmlformats.org/drawingml/2006/main">
              <a:ext uri="{FF2B5EF4-FFF2-40B4-BE49-F238E27FC236}">
                <a16:creationId xmlns:a16="http://schemas.microsoft.com/office/drawing/2014/main" id="{3FBE34AA-0BBB-4A3F-BFF7-E5A4ECE2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ORACLE  /  MySQL 9.7</a:t>
            </a:r>
          </a:p>
        </p:txBody>
      </p:sp>
      <p:sp>
        <p:nvSpPr>
          <p:cNvPr id="3" name="PUSH PATH">
            <a:extLst xmlns:a="http://schemas.openxmlformats.org/drawingml/2006/main">
              <a:ext uri="{FF2B5EF4-FFF2-40B4-BE49-F238E27FC236}">
                <a16:creationId xmlns:a16="http://schemas.microsoft.com/office/drawing/2014/main" id="{A1C84CA6-CA8D-43B4-9391-CBCA5ECB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PUSH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DE2E2D-6225-42CB-89B2-FCF007EE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he push path needs an OT">
            <a:extLst xmlns:a="http://schemas.openxmlformats.org/drawingml/2006/main">
              <a:ext uri="{FF2B5EF4-FFF2-40B4-BE49-F238E27FC236}">
                <a16:creationId xmlns:a16="http://schemas.microsoft.com/office/drawing/2014/main" id="{AD59DDA2-67CD-4CAD-BE12-6B95ACB6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The push path needs an OTLP receiver</a:t>
            </a:r>
          </a:p>
        </p:txBody>
      </p:sp>
      <p:sp>
        <p:nvSpPr>
          <p:cNvPr id="6" name="Core configuration from t">
            <a:extLst xmlns:a="http://schemas.openxmlformats.org/drawingml/2006/main">
              <a:ext uri="{FF2B5EF4-FFF2-40B4-BE49-F238E27FC236}">
                <a16:creationId xmlns:a16="http://schemas.microsoft.com/office/drawing/2014/main" id="{F9496F3A-1E78-47D7-93E7-03DA34BB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Core configuration from the bundled otel-collector.yaml (which also has a logs pipeline).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B9CFA5-B848-47E1-AC26-56E45E13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YSQL TELEMETRY  ·  DEEP ">
            <a:extLst xmlns:a="http://schemas.openxmlformats.org/drawingml/2006/main">
              <a:ext uri="{FF2B5EF4-FFF2-40B4-BE49-F238E27FC236}">
                <a16:creationId xmlns:a16="http://schemas.microsoft.com/office/drawing/2014/main" id="{87795A8C-51F6-410C-AF3B-515A393A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MYSQL TELEMETRY  ·  DEEP DIVE</a:t>
            </a:r>
          </a:p>
        </p:txBody>
      </p:sp>
      <p:sp>
        <p:nvSpPr>
          <p:cNvPr id="9" name="07">
            <a:extLst xmlns:a="http://schemas.openxmlformats.org/drawingml/2006/main">
              <a:ext uri="{FF2B5EF4-FFF2-40B4-BE49-F238E27FC236}">
                <a16:creationId xmlns:a16="http://schemas.microsoft.com/office/drawing/2014/main" id="{5CC88052-3CA8-40D2-93A1-44885FCB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001515-8518-4019-86DF-58E34AF7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3438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97F4C0-7003-4504-B2D1-DB93C001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57150" cy="3438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ceivers:&#10;  otlp:&#10;    pr">
            <a:extLst xmlns:a="http://schemas.openxmlformats.org/drawingml/2006/main">
              <a:ext uri="{FF2B5EF4-FFF2-40B4-BE49-F238E27FC236}">
                <a16:creationId xmlns:a16="http://schemas.microsoft.com/office/drawing/2014/main" id="{DAC0F0FD-E20C-4ED1-8AC9-2B233EA4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733675"/>
            <a:ext cx="1051560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receivers: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otlp: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protocols: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http: {endpoint: 0.0.0.0:4318}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processors: {batch: {}}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exporters: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otlp_http/lgtm: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endpoint: http://lgtm:4318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debug: {verbosity: detailed}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service: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pipelines: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traces: {receivers: [otlp],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processors: [batch],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exporters: [otlp_http/lgtm, debug]}</a:t>
            </a:r>
          </a:p>
        </p:txBody>
      </p:sp>
    </p:spTree>
    <p:extLst>
      <p:ext uri="{BB962C8B-B14F-4D97-AF65-F5344CB8AC3E}">
        <p14:creationId xmlns:p14="http://schemas.microsoft.com/office/powerpoint/2010/main" val="3272261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405F24-C9EE-4375-8D7B-B4B15A90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RACLE  /  MySQL 9.7">
            <a:extLst xmlns:a="http://schemas.openxmlformats.org/drawingml/2006/main">
              <a:ext uri="{FF2B5EF4-FFF2-40B4-BE49-F238E27FC236}">
                <a16:creationId xmlns:a16="http://schemas.microsoft.com/office/drawing/2014/main" id="{8AE37FFF-811E-46E3-94B0-55F5A0F5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ORACLE  /  MySQL 9.7</a:t>
            </a:r>
          </a:p>
        </p:txBody>
      </p:sp>
      <p:sp>
        <p:nvSpPr>
          <p:cNvPr id="3" name="PUSH PATH">
            <a:extLst xmlns:a="http://schemas.openxmlformats.org/drawingml/2006/main">
              <a:ext uri="{FF2B5EF4-FFF2-40B4-BE49-F238E27FC236}">
                <a16:creationId xmlns:a16="http://schemas.microsoft.com/office/drawing/2014/main" id="{ED429AF5-9E50-4C9E-8511-B3BF2EE1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PUSH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A3542C-7B67-4072-BABA-2DBD687B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n the standard Collecto">
            <a:extLst xmlns:a="http://schemas.openxmlformats.org/drawingml/2006/main">
              <a:ext uri="{FF2B5EF4-FFF2-40B4-BE49-F238E27FC236}">
                <a16:creationId xmlns:a16="http://schemas.microsoft.com/office/drawing/2014/main" id="{16538672-EAF4-4623-BF71-C94D444C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Run the standard Collector on OTLP/HTTP port 4318</a:t>
            </a:r>
          </a:p>
        </p:txBody>
      </p:sp>
      <p:sp>
        <p:nvSpPr>
          <p:cNvPr id="6" name="The debug exporter prints">
            <a:extLst xmlns:a="http://schemas.openxmlformats.org/drawingml/2006/main">
              <a:ext uri="{FF2B5EF4-FFF2-40B4-BE49-F238E27FC236}">
                <a16:creationId xmlns:a16="http://schemas.microsoft.com/office/drawing/2014/main" id="{298FEF71-6365-4942-B865-53A6A42C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The debug exporter prints received signal summaries to its terminal.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E4E1D2-B5A1-4BF8-9CC0-163CEDB7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YSQL TELEMETRY  ·  DEEP ">
            <a:extLst xmlns:a="http://schemas.openxmlformats.org/drawingml/2006/main">
              <a:ext uri="{FF2B5EF4-FFF2-40B4-BE49-F238E27FC236}">
                <a16:creationId xmlns:a16="http://schemas.microsoft.com/office/drawing/2014/main" id="{359EA4C2-6342-4798-BB4E-9091AF33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MYSQL TELEMETRY  ·  DEEP DIVE</a:t>
            </a:r>
          </a:p>
        </p:txBody>
      </p:sp>
      <p:sp>
        <p:nvSpPr>
          <p:cNvPr id="9" name="08">
            <a:extLst xmlns:a="http://schemas.openxmlformats.org/drawingml/2006/main">
              <a:ext uri="{FF2B5EF4-FFF2-40B4-BE49-F238E27FC236}">
                <a16:creationId xmlns:a16="http://schemas.microsoft.com/office/drawing/2014/main" id="{E87F9FCA-DC41-4F3F-8EC9-F3B93CAF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4A3212-04BB-4D75-9AF0-4667D76B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09728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124422-1C3E-419D-A962-2BA341A3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571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ocker run --rm \&#10;  -p 12">
            <a:extLst xmlns:a="http://schemas.openxmlformats.org/drawingml/2006/main">
              <a:ext uri="{FF2B5EF4-FFF2-40B4-BE49-F238E27FC236}">
                <a16:creationId xmlns:a16="http://schemas.microsoft.com/office/drawing/2014/main" id="{882C4B0C-3F0C-4C40-B24C-54ED07D8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790825"/>
            <a:ext cx="10515600" cy="199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collector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docker-compose up -d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docker-compose ps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docker-compose logs --tail=50 collector</a:t>
            </a:r>
          </a:p>
        </p:txBody>
      </p:sp>
      <p:sp>
        <p:nvSpPr>
          <p:cNvPr id="13" name="Use 4318 in both MySQL en">
            <a:extLst xmlns:a="http://schemas.openxmlformats.org/drawingml/2006/main">
              <a:ext uri="{FF2B5EF4-FFF2-40B4-BE49-F238E27FC236}">
                <a16:creationId xmlns:a16="http://schemas.microsoft.com/office/drawing/2014/main" id="{4135B15A-233C-4F6E-81E0-D5D7F1B5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Use 4318 in both MySQL endpoint URLs. This Collector does not populate the demo web page.</a:t>
            </a:r>
          </a:p>
        </p:txBody>
      </p:sp>
    </p:spTree>
    <p:extLst>
      <p:ext uri="{BB962C8B-B14F-4D97-AF65-F5344CB8AC3E}">
        <p14:creationId xmlns:p14="http://schemas.microsoft.com/office/powerpoint/2010/main" val="12004341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68B979-F077-4025-A37C-851D0321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RACLE  /  MySQL 9.7">
            <a:extLst xmlns:a="http://schemas.openxmlformats.org/drawingml/2006/main">
              <a:ext uri="{FF2B5EF4-FFF2-40B4-BE49-F238E27FC236}">
                <a16:creationId xmlns:a16="http://schemas.microsoft.com/office/drawing/2014/main" id="{5A2E0202-6EE0-4008-8750-F3ADF7C7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ORACLE  /  MySQL 9.7</a:t>
            </a:r>
          </a:p>
        </p:txBody>
      </p:sp>
      <p:sp>
        <p:nvSpPr>
          <p:cNvPr id="3" name="PUSH PATH">
            <a:extLst xmlns:a="http://schemas.openxmlformats.org/drawingml/2006/main">
              <a:ext uri="{FF2B5EF4-FFF2-40B4-BE49-F238E27FC236}">
                <a16:creationId xmlns:a16="http://schemas.microsoft.com/office/drawing/2014/main" id="{3EC45271-83E5-4BA0-87A1-CE61F5D5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PUSH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0A42F2-7416-4E30-8B4E-CF1C703C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Install and verify the My">
            <a:extLst xmlns:a="http://schemas.openxmlformats.org/drawingml/2006/main">
              <a:ext uri="{FF2B5EF4-FFF2-40B4-BE49-F238E27FC236}">
                <a16:creationId xmlns:a16="http://schemas.microsoft.com/office/drawing/2014/main" id="{B85F72E4-C526-409A-B1A3-EEBB16A3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Install and verify the MySQL server component</a:t>
            </a:r>
          </a:p>
        </p:txBody>
      </p:sp>
      <p:sp>
        <p:nvSpPr>
          <p:cNvPr id="6" name="The component registers t">
            <a:extLst xmlns:a="http://schemas.openxmlformats.org/drawingml/2006/main">
              <a:ext uri="{FF2B5EF4-FFF2-40B4-BE49-F238E27FC236}">
                <a16:creationId xmlns:a16="http://schemas.microsoft.com/office/drawing/2014/main" id="{D18023D3-B0D0-4223-8228-4101639B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The component registers telemetry variables on the server.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4EEA79-EFC8-4D15-919F-3AA33196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YSQL TELEMETRY  ·  DEEP ">
            <a:extLst xmlns:a="http://schemas.openxmlformats.org/drawingml/2006/main">
              <a:ext uri="{FF2B5EF4-FFF2-40B4-BE49-F238E27FC236}">
                <a16:creationId xmlns:a16="http://schemas.microsoft.com/office/drawing/2014/main" id="{71D8ACCB-A733-4B13-8CA8-018B8718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MYSQL TELEMETRY  ·  DEEP DIVE</a:t>
            </a:r>
          </a:p>
        </p:txBody>
      </p:sp>
      <p:sp>
        <p:nvSpPr>
          <p:cNvPr id="9" name="09">
            <a:extLst xmlns:a="http://schemas.openxmlformats.org/drawingml/2006/main">
              <a:ext uri="{FF2B5EF4-FFF2-40B4-BE49-F238E27FC236}">
                <a16:creationId xmlns:a16="http://schemas.microsoft.com/office/drawing/2014/main" id="{76626484-B528-4631-B43F-B4C06DEB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981078-5BF1-451D-9C7F-896B0ECC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09728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3C3911-0615-4D1B-9985-5D4627BD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5715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INSTALL COMPONENT 'file:/">
            <a:extLst xmlns:a="http://schemas.openxmlformats.org/drawingml/2006/main">
              <a:ext uri="{FF2B5EF4-FFF2-40B4-BE49-F238E27FC236}">
                <a16:creationId xmlns:a16="http://schemas.microsoft.com/office/drawing/2014/main" id="{48DD98FC-D9B1-43C8-A952-1B61857D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790825"/>
            <a:ext cx="10515600" cy="2352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INSTALL COMPONENT 'file://component_telemetry';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SELECT component_urn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mysql.component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WHERE component_urn = 'file://component_telemetry';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SHOW GLOBAL VARIABLES LIKE 'telemetry.%';</a:t>
            </a:r>
          </a:p>
        </p:txBody>
      </p:sp>
      <p:sp>
        <p:nvSpPr>
          <p:cNvPr id="13" name="A returned component_urn ">
            <a:extLst xmlns:a="http://schemas.openxmlformats.org/drawingml/2006/main">
              <a:ext uri="{FF2B5EF4-FFF2-40B4-BE49-F238E27FC236}">
                <a16:creationId xmlns:a16="http://schemas.microsoft.com/office/drawing/2014/main" id="{DADE836B-2112-4149-A426-DAED7CFF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71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A returned component_urn confirms installation. The client telemetry plugin is optional and separate.</a:t>
            </a:r>
          </a:p>
        </p:txBody>
      </p:sp>
    </p:spTree>
    <p:extLst>
      <p:ext uri="{BB962C8B-B14F-4D97-AF65-F5344CB8AC3E}">
        <p14:creationId xmlns:p14="http://schemas.microsoft.com/office/powerpoint/2010/main" val="174331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0A85F5-277D-416B-8ED1-D8DD3D96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RACLE  /  MySQL 9.7">
            <a:extLst xmlns:a="http://schemas.openxmlformats.org/drawingml/2006/main">
              <a:ext uri="{FF2B5EF4-FFF2-40B4-BE49-F238E27FC236}">
                <a16:creationId xmlns:a16="http://schemas.microsoft.com/office/drawing/2014/main" id="{522219B6-2AC6-48E3-A024-3B56C3D6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ORACLE  /  MySQL 9.7</a:t>
            </a:r>
          </a:p>
        </p:txBody>
      </p:sp>
      <p:sp>
        <p:nvSpPr>
          <p:cNvPr id="3" name="PUSH PATH">
            <a:extLst xmlns:a="http://schemas.openxmlformats.org/drawingml/2006/main">
              <a:ext uri="{FF2B5EF4-FFF2-40B4-BE49-F238E27FC236}">
                <a16:creationId xmlns:a16="http://schemas.microsoft.com/office/drawing/2014/main" id="{900532CE-6F9B-4EFA-AE3D-17DDB824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PUSH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F91967-BCB7-4899-A67D-FE165749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oint both exporters at t">
            <a:extLst xmlns:a="http://schemas.openxmlformats.org/drawingml/2006/main">
              <a:ext uri="{FF2B5EF4-FFF2-40B4-BE49-F238E27FC236}">
                <a16:creationId xmlns:a16="http://schemas.microsoft.com/office/drawing/2014/main" id="{FF5C5C00-856D-441A-8EA7-C6907F78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Point both exporters at the same receiver</a:t>
            </a:r>
          </a:p>
        </p:txBody>
      </p:sp>
      <p:sp>
        <p:nvSpPr>
          <p:cNvPr id="6" name="Example below targets the">
            <a:extLst xmlns:a="http://schemas.openxmlformats.org/drawingml/2006/main">
              <a:ext uri="{FF2B5EF4-FFF2-40B4-BE49-F238E27FC236}">
                <a16:creationId xmlns:a16="http://schemas.microsoft.com/office/drawing/2014/main" id="{1FDCCF65-8B81-4D6B-B495-980AA4B8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Example below targets the built-in web demo receiver on 4173.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7BB58B-18D9-4FC1-8CD5-2ECD9372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YSQL TELEMETRY  ·  DEEP ">
            <a:extLst xmlns:a="http://schemas.openxmlformats.org/drawingml/2006/main">
              <a:ext uri="{FF2B5EF4-FFF2-40B4-BE49-F238E27FC236}">
                <a16:creationId xmlns:a16="http://schemas.microsoft.com/office/drawing/2014/main" id="{FA028F56-5EB6-42DC-82FB-D562910C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MYSQL TELEMETRY  ·  DEEP DIVE</a:t>
            </a:r>
          </a:p>
        </p:txBody>
      </p:sp>
      <p:sp>
        <p:nvSpPr>
          <p:cNvPr id="9" name="10">
            <a:extLst xmlns:a="http://schemas.openxmlformats.org/drawingml/2006/main">
              <a:ext uri="{FF2B5EF4-FFF2-40B4-BE49-F238E27FC236}">
                <a16:creationId xmlns:a16="http://schemas.microsoft.com/office/drawing/2014/main" id="{3F52B7E7-B068-4C9E-8368-7D995300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8591C6-1EF2-4481-9EE2-C136E58A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9728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5D08BD-EDB2-40DB-BB57-025AA8C6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5715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T PERSIST_ONLY telemetr">
            <a:extLst xmlns:a="http://schemas.openxmlformats.org/drawingml/2006/main">
              <a:ext uri="{FF2B5EF4-FFF2-40B4-BE49-F238E27FC236}">
                <a16:creationId xmlns:a16="http://schemas.microsoft.com/office/drawing/2014/main" id="{6B873277-D710-49B9-B110-D1D7C2A1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657475"/>
            <a:ext cx="105156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SET PERSIST_ONLY telemetry.otel_exporter_otlp_traces_protocol = 'http/json';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SET PERSIST_ONLY telemetry.otel_exporter_otlp_traces_endpoint =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'http://127.0.0.1:4318/v1/traces';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SET PERSIST_ONLY telemetry.otel_exporter_otlp_metrics_protocol = 'http/json';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SET PERSIST_ONLY telemetry.otel_exporter_otlp_metrics_endpoint =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'http://127.0.0.1:4318/v1/metrics';</a:t>
            </a:r>
          </a:p>
        </p:txBody>
      </p:sp>
      <p:sp>
        <p:nvSpPr>
          <p:cNvPr id="13" name="Collector path: change bo">
            <a:extLst xmlns:a="http://schemas.openxmlformats.org/drawingml/2006/main">
              <a:ext uri="{FF2B5EF4-FFF2-40B4-BE49-F238E27FC236}">
                <a16:creationId xmlns:a16="http://schemas.microsoft.com/office/drawing/2014/main" id="{C256046A-1C99-470E-BE7F-751C01EE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Collector path: change both URLs to port 4318. Keep /v1/traces and /v1/metrics.</a:t>
            </a:r>
          </a:p>
        </p:txBody>
      </p:sp>
    </p:spTree>
    <p:extLst>
      <p:ext uri="{BB962C8B-B14F-4D97-AF65-F5344CB8AC3E}">
        <p14:creationId xmlns:p14="http://schemas.microsoft.com/office/powerpoint/2010/main" val="11036676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80F1BF-F2E7-4803-88D7-91B6E78C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RACLE  /  MySQL 9.7">
            <a:extLst xmlns:a="http://schemas.openxmlformats.org/drawingml/2006/main">
              <a:ext uri="{FF2B5EF4-FFF2-40B4-BE49-F238E27FC236}">
                <a16:creationId xmlns:a16="http://schemas.microsoft.com/office/drawing/2014/main" id="{A76445B1-D906-412B-A0A0-FB8B36A5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ORACLE  /  MySQL 9.7</a:t>
            </a:r>
          </a:p>
        </p:txBody>
      </p:sp>
      <p:sp>
        <p:nvSpPr>
          <p:cNvPr id="3" name="SIGNAL CONTROLS">
            <a:extLst xmlns:a="http://schemas.openxmlformats.org/drawingml/2006/main">
              <a:ext uri="{FF2B5EF4-FFF2-40B4-BE49-F238E27FC236}">
                <a16:creationId xmlns:a16="http://schemas.microsoft.com/office/drawing/2014/main" id="{C8503D36-26BD-4CAA-BD19-12B7C6D1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SIGNAL CONTROLS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95E894-85B9-4B61-B036-E65E92DB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he component controls ea">
            <a:extLst xmlns:a="http://schemas.openxmlformats.org/drawingml/2006/main">
              <a:ext uri="{FF2B5EF4-FFF2-40B4-BE49-F238E27FC236}">
                <a16:creationId xmlns:a16="http://schemas.microsoft.com/office/drawing/2014/main" id="{6F278C92-108C-4F53-8BE1-76808D41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The component controls each signal separately</a:t>
            </a:r>
          </a:p>
        </p:txBody>
      </p:sp>
      <p:sp>
        <p:nvSpPr>
          <p:cNvPr id="6" name="Export settings are disti">
            <a:extLst xmlns:a="http://schemas.openxmlformats.org/drawingml/2006/main">
              <a:ext uri="{FF2B5EF4-FFF2-40B4-BE49-F238E27FC236}">
                <a16:creationId xmlns:a16="http://schemas.microsoft.com/office/drawing/2014/main" id="{8EED2E46-B5CB-4D8D-83B7-4EB77F40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Export settings are distinct from collection switches; restart for non-dynamic settings.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59183D-3B1D-4C52-A077-C0E54848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YSQL TELEMETRY  ·  DEEP ">
            <a:extLst xmlns:a="http://schemas.openxmlformats.org/drawingml/2006/main">
              <a:ext uri="{FF2B5EF4-FFF2-40B4-BE49-F238E27FC236}">
                <a16:creationId xmlns:a16="http://schemas.microsoft.com/office/drawing/2014/main" id="{E22F1323-851A-48E0-990F-360A28CF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MYSQL TELEMETRY  ·  DEEP DIVE</a:t>
            </a:r>
          </a:p>
        </p:txBody>
      </p:sp>
      <p:sp>
        <p:nvSpPr>
          <p:cNvPr id="9" name="11">
            <a:extLst xmlns:a="http://schemas.openxmlformats.org/drawingml/2006/main">
              <a:ext uri="{FF2B5EF4-FFF2-40B4-BE49-F238E27FC236}">
                <a16:creationId xmlns:a16="http://schemas.microsoft.com/office/drawing/2014/main" id="{7B12257C-ECDA-4210-9E4F-21C136F4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E687C4-04B3-492B-9637-5276752F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6975"/>
            <a:ext cx="109728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C28DC0-4396-47B9-A14A-B9C43EEB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6975"/>
            <a:ext cx="666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RACES">
            <a:extLst xmlns:a="http://schemas.openxmlformats.org/drawingml/2006/main">
              <a:ext uri="{FF2B5EF4-FFF2-40B4-BE49-F238E27FC236}">
                <a16:creationId xmlns:a16="http://schemas.microsoft.com/office/drawing/2014/main" id="{F0307237-1836-4E6F-AFE2-BC5A6C33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743200"/>
            <a:ext cx="1295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TRACES</a:t>
            </a:r>
          </a:p>
        </p:txBody>
      </p:sp>
      <p:sp>
        <p:nvSpPr>
          <p:cNvPr id="13" name="COLLECT">
            <a:extLst xmlns:a="http://schemas.openxmlformats.org/drawingml/2006/main">
              <a:ext uri="{FF2B5EF4-FFF2-40B4-BE49-F238E27FC236}">
                <a16:creationId xmlns:a16="http://schemas.microsoft.com/office/drawing/2014/main" id="{2D013BE8-B28F-4DAB-8EC1-2C4CE4A7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571750"/>
            <a:ext cx="3952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COLLECT</a:t>
            </a:r>
          </a:p>
        </p:txBody>
      </p:sp>
      <p:sp>
        <p:nvSpPr>
          <p:cNvPr id="14" name="telemetry.trace_enabled  ">
            <a:extLst xmlns:a="http://schemas.openxmlformats.org/drawingml/2006/main">
              <a:ext uri="{FF2B5EF4-FFF2-40B4-BE49-F238E27FC236}">
                <a16:creationId xmlns:a16="http://schemas.microsoft.com/office/drawing/2014/main" id="{2A86A01B-E8E8-4FB6-A981-D2C1ADFD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828925"/>
            <a:ext cx="3952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4211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24211F"/>
                </a:solidFill>
                <a:latin typeface="Menlo"/>
                <a:ea typeface="Menlo"/>
                <a:cs typeface="Menlo"/>
              </a:rPr>
              <a:t>telemetry.trace_enabled  (dynamic)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4211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24211F"/>
                </a:solidFill>
                <a:latin typeface="Menlo"/>
                <a:ea typeface="Menlo"/>
                <a:cs typeface="Menlo"/>
              </a:rPr>
              <a:t>telemetry.query_text_enabled  (dynamic)</a:t>
            </a:r>
          </a:p>
        </p:txBody>
      </p:sp>
      <p:sp>
        <p:nvSpPr>
          <p:cNvPr id="15" name="EXPORT TO COLLECTOR">
            <a:extLst xmlns:a="http://schemas.openxmlformats.org/drawingml/2006/main">
              <a:ext uri="{FF2B5EF4-FFF2-40B4-BE49-F238E27FC236}">
                <a16:creationId xmlns:a16="http://schemas.microsoft.com/office/drawing/2014/main" id="{E6725EF7-966A-4939-A6B2-79E56B23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571750"/>
            <a:ext cx="489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EXPORT TO COLLECTOR</a:t>
            </a:r>
          </a:p>
        </p:txBody>
      </p:sp>
      <p:sp>
        <p:nvSpPr>
          <p:cNvPr id="16" name="telemetry.otel_exporter_o">
            <a:extLst xmlns:a="http://schemas.openxmlformats.org/drawingml/2006/main">
              <a:ext uri="{FF2B5EF4-FFF2-40B4-BE49-F238E27FC236}">
                <a16:creationId xmlns:a16="http://schemas.microsoft.com/office/drawing/2014/main" id="{F76A2561-6CAE-4AF2-A447-5660FDF0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828925"/>
            <a:ext cx="48958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4211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24211F"/>
                </a:solidFill>
                <a:latin typeface="Menlo"/>
                <a:ea typeface="Menlo"/>
                <a:cs typeface="Menlo"/>
              </a:rPr>
              <a:t>telemetry.otel_exporter_otlp_traces_protocol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4211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24211F"/>
                </a:solidFill>
                <a:latin typeface="Menlo"/>
                <a:ea typeface="Menlo"/>
                <a:cs typeface="Menlo"/>
              </a:rPr>
              <a:t>telemetry.otel_exporter_otlp_traces_endpoint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8F71FA-3BB6-4660-BF02-DE32A1AB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728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5E60D6-8AC4-4D6A-9666-E17F0403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666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5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METRICS">
            <a:extLst xmlns:a="http://schemas.openxmlformats.org/drawingml/2006/main">
              <a:ext uri="{FF2B5EF4-FFF2-40B4-BE49-F238E27FC236}">
                <a16:creationId xmlns:a16="http://schemas.microsoft.com/office/drawing/2014/main" id="{5D9F9BAF-74BF-41B6-BC52-AAAE5F45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867150"/>
            <a:ext cx="1295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758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58F"/>
                </a:solidFill>
                <a:latin typeface="Arial"/>
                <a:ea typeface="Arial"/>
                <a:cs typeface="Arial"/>
              </a:rPr>
              <a:t>METRICS</a:t>
            </a:r>
          </a:p>
        </p:txBody>
      </p:sp>
      <p:sp>
        <p:nvSpPr>
          <p:cNvPr id="20" name="COLLECT">
            <a:extLst xmlns:a="http://schemas.openxmlformats.org/drawingml/2006/main">
              <a:ext uri="{FF2B5EF4-FFF2-40B4-BE49-F238E27FC236}">
                <a16:creationId xmlns:a16="http://schemas.microsoft.com/office/drawing/2014/main" id="{5C8A1D65-B195-4DFD-AA3E-A804138F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695700"/>
            <a:ext cx="3952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COLLECT</a:t>
            </a:r>
          </a:p>
        </p:txBody>
      </p:sp>
      <p:sp>
        <p:nvSpPr>
          <p:cNvPr id="21" name="telemetry.metrics_enabled">
            <a:extLst xmlns:a="http://schemas.openxmlformats.org/drawingml/2006/main">
              <a:ext uri="{FF2B5EF4-FFF2-40B4-BE49-F238E27FC236}">
                <a16:creationId xmlns:a16="http://schemas.microsoft.com/office/drawing/2014/main" id="{49A196F9-D644-44E9-A0C3-0E2F3F4A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952875"/>
            <a:ext cx="3952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4211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24211F"/>
                </a:solidFill>
                <a:latin typeface="Menlo"/>
                <a:ea typeface="Menlo"/>
                <a:cs typeface="Menlo"/>
              </a:rPr>
              <a:t>telemetry.metrics_enabled  (restart)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4211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24211F"/>
                </a:solidFill>
                <a:latin typeface="Menlo"/>
                <a:ea typeface="Menlo"/>
                <a:cs typeface="Menlo"/>
              </a:rPr>
              <a:t>telemetry.metrics_reader_frequency_1/2/3</a:t>
            </a:r>
          </a:p>
        </p:txBody>
      </p:sp>
      <p:sp>
        <p:nvSpPr>
          <p:cNvPr id="22" name="EXPORT TO COLLECTOR">
            <a:extLst xmlns:a="http://schemas.openxmlformats.org/drawingml/2006/main">
              <a:ext uri="{FF2B5EF4-FFF2-40B4-BE49-F238E27FC236}">
                <a16:creationId xmlns:a16="http://schemas.microsoft.com/office/drawing/2014/main" id="{89659C3A-9920-4225-A624-DE761F8F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695700"/>
            <a:ext cx="489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EXPORT TO COLLECTOR</a:t>
            </a:r>
          </a:p>
        </p:txBody>
      </p:sp>
      <p:sp>
        <p:nvSpPr>
          <p:cNvPr id="23" name="telemetry.otel_exporter_o">
            <a:extLst xmlns:a="http://schemas.openxmlformats.org/drawingml/2006/main">
              <a:ext uri="{FF2B5EF4-FFF2-40B4-BE49-F238E27FC236}">
                <a16:creationId xmlns:a16="http://schemas.microsoft.com/office/drawing/2014/main" id="{8A217388-E358-4136-9F29-5B2E78EF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952875"/>
            <a:ext cx="48958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4211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24211F"/>
                </a:solidFill>
                <a:latin typeface="Menlo"/>
                <a:ea typeface="Menlo"/>
                <a:cs typeface="Menlo"/>
              </a:rPr>
              <a:t>telemetry.otel_exporter_otlp_metrics_protocol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4211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24211F"/>
                </a:solidFill>
                <a:latin typeface="Menlo"/>
                <a:ea typeface="Menlo"/>
                <a:cs typeface="Menlo"/>
              </a:rPr>
              <a:t>telemetry.otel_exporter_otlp_metrics_endpoint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859F5B-C631-4E9C-AB5D-E97949DC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9728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72F502-74A6-4A5E-8779-21CA1BF3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666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LOGS*">
            <a:extLst xmlns:a="http://schemas.openxmlformats.org/drawingml/2006/main">
              <a:ext uri="{FF2B5EF4-FFF2-40B4-BE49-F238E27FC236}">
                <a16:creationId xmlns:a16="http://schemas.microsoft.com/office/drawing/2014/main" id="{47821392-3E7A-4F29-BA99-4EE5DA89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991100"/>
            <a:ext cx="1295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LOGS*</a:t>
            </a:r>
          </a:p>
        </p:txBody>
      </p:sp>
      <p:sp>
        <p:nvSpPr>
          <p:cNvPr id="27" name="COLLECT">
            <a:extLst xmlns:a="http://schemas.openxmlformats.org/drawingml/2006/main">
              <a:ext uri="{FF2B5EF4-FFF2-40B4-BE49-F238E27FC236}">
                <a16:creationId xmlns:a16="http://schemas.microsoft.com/office/drawing/2014/main" id="{68A5A26D-6384-4B3C-A235-A31F375D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819650"/>
            <a:ext cx="3952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COLLECT</a:t>
            </a:r>
          </a:p>
        </p:txBody>
      </p:sp>
      <p:sp>
        <p:nvSpPr>
          <p:cNvPr id="28" name="telemetry.log_enabled  (d">
            <a:extLst xmlns:a="http://schemas.openxmlformats.org/drawingml/2006/main">
              <a:ext uri="{FF2B5EF4-FFF2-40B4-BE49-F238E27FC236}">
                <a16:creationId xmlns:a16="http://schemas.microsoft.com/office/drawing/2014/main" id="{0C107A94-5CFE-4861-AB51-8EE1BF87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5076825"/>
            <a:ext cx="3952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4211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24211F"/>
                </a:solidFill>
                <a:latin typeface="Menlo"/>
                <a:ea typeface="Menlo"/>
                <a:cs typeface="Menlo"/>
              </a:rPr>
              <a:t>telemetry.log_enabled  (dynamic)</a:t>
            </a:r>
          </a:p>
        </p:txBody>
      </p:sp>
      <p:sp>
        <p:nvSpPr>
          <p:cNvPr id="29" name="EXPORT TO COLLECTOR">
            <a:extLst xmlns:a="http://schemas.openxmlformats.org/drawingml/2006/main">
              <a:ext uri="{FF2B5EF4-FFF2-40B4-BE49-F238E27FC236}">
                <a16:creationId xmlns:a16="http://schemas.microsoft.com/office/drawing/2014/main" id="{965B0DBA-172D-4004-B338-82DCA08E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819650"/>
            <a:ext cx="489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EXPORT TO COLLECTOR</a:t>
            </a:r>
          </a:p>
        </p:txBody>
      </p:sp>
      <p:sp>
        <p:nvSpPr>
          <p:cNvPr id="30" name="telemetry.otel_exporter_o">
            <a:extLst xmlns:a="http://schemas.openxmlformats.org/drawingml/2006/main">
              <a:ext uri="{FF2B5EF4-FFF2-40B4-BE49-F238E27FC236}">
                <a16:creationId xmlns:a16="http://schemas.microsoft.com/office/drawing/2014/main" id="{B53F5560-AD8F-4075-89FD-8BB27B051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5076825"/>
            <a:ext cx="48958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4211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24211F"/>
                </a:solidFill>
                <a:latin typeface="Menlo"/>
                <a:ea typeface="Menlo"/>
                <a:cs typeface="Menlo"/>
              </a:rPr>
              <a:t>telemetry.otel_exporter_otlp_logs_protocol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4211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24211F"/>
                </a:solidFill>
                <a:latin typeface="Menlo"/>
                <a:ea typeface="Menlo"/>
                <a:cs typeface="Menlo"/>
              </a:rPr>
              <a:t>telemetry.otel_exporter_otlp_logs_endpoint</a:t>
            </a:r>
          </a:p>
        </p:txBody>
      </p:sp>
      <p:sp>
        <p:nvSpPr>
          <p:cNvPr id="31" name="*Log export requires MySQ">
            <a:extLst xmlns:a="http://schemas.openxmlformats.org/drawingml/2006/main">
              <a:ext uri="{FF2B5EF4-FFF2-40B4-BE49-F238E27FC236}">
                <a16:creationId xmlns:a16="http://schemas.microsoft.com/office/drawing/2014/main" id="{899D3FC0-6903-4C9E-AD0E-717648EE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25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*Log export requires MySQL Enterprise, HeatWave, or a custom logging component; Community’s interface alone is not an exporter.</a:t>
            </a:r>
          </a:p>
        </p:txBody>
      </p:sp>
    </p:spTree>
    <p:extLst>
      <p:ext uri="{BB962C8B-B14F-4D97-AF65-F5344CB8AC3E}">
        <p14:creationId xmlns:p14="http://schemas.microsoft.com/office/powerpoint/2010/main" val="69092177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506D2A-D31E-469D-ADFD-54EC512C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RACLE  /  MySQL 9.7">
            <a:extLst xmlns:a="http://schemas.openxmlformats.org/drawingml/2006/main">
              <a:ext uri="{FF2B5EF4-FFF2-40B4-BE49-F238E27FC236}">
                <a16:creationId xmlns:a16="http://schemas.microsoft.com/office/drawing/2014/main" id="{93508027-8849-4CFF-8CA6-A3BFF107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ORACLE  /  MySQL 9.7</a:t>
            </a:r>
          </a:p>
        </p:txBody>
      </p:sp>
      <p:sp>
        <p:nvSpPr>
          <p:cNvPr id="3" name="SIGNAL CONTROLS">
            <a:extLst xmlns:a="http://schemas.openxmlformats.org/drawingml/2006/main">
              <a:ext uri="{FF2B5EF4-FFF2-40B4-BE49-F238E27FC236}">
                <a16:creationId xmlns:a16="http://schemas.microsoft.com/office/drawing/2014/main" id="{98EC8C79-F3D2-4F0A-9FA7-1B92947F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SIGNAL CONTROLS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08E638-A766-4A1D-8FAA-3C6D126C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og export requires a log">
            <a:extLst xmlns:a="http://schemas.openxmlformats.org/drawingml/2006/main">
              <a:ext uri="{FF2B5EF4-FFF2-40B4-BE49-F238E27FC236}">
                <a16:creationId xmlns:a16="http://schemas.microsoft.com/office/drawing/2014/main" id="{B92B268D-4736-49B0-9060-2E9D447F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Log export requires a logging provider</a:t>
            </a:r>
          </a:p>
        </p:txBody>
      </p:sp>
      <p:sp>
        <p:nvSpPr>
          <p:cNvPr id="6" name="Use MySQL Enterprise, Hea">
            <a:extLst xmlns:a="http://schemas.openxmlformats.org/drawingml/2006/main">
              <a:ext uri="{FF2B5EF4-FFF2-40B4-BE49-F238E27FC236}">
                <a16:creationId xmlns:a16="http://schemas.microsoft.com/office/drawing/2014/main" id="{30F4FDCA-62A7-46B8-AEC5-8B2DFA6F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Use MySQL Enterprise, HeatWave, or a custom logging component before enabling logs.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8A9F89-BC67-44A8-8EE0-1B59706F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YSQL TELEMETRY  ·  DEEP ">
            <a:extLst xmlns:a="http://schemas.openxmlformats.org/drawingml/2006/main">
              <a:ext uri="{FF2B5EF4-FFF2-40B4-BE49-F238E27FC236}">
                <a16:creationId xmlns:a16="http://schemas.microsoft.com/office/drawing/2014/main" id="{279BC3AE-CB89-4E35-BB52-9DE3D002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MYSQL TELEMETRY  ·  DEEP DIVE</a:t>
            </a:r>
          </a:p>
        </p:txBody>
      </p:sp>
      <p:sp>
        <p:nvSpPr>
          <p:cNvPr id="9" name="12">
            <a:extLst xmlns:a="http://schemas.openxmlformats.org/drawingml/2006/main">
              <a:ext uri="{FF2B5EF4-FFF2-40B4-BE49-F238E27FC236}">
                <a16:creationId xmlns:a16="http://schemas.microsoft.com/office/drawing/2014/main" id="{CBFD66EB-A245-4A17-BAC8-B1EB6AD0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65D8C8-0802-48D3-B1B5-C7A9DB97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10972800" cy="3133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478BAC-849F-42BA-BA24-9EE47761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57150" cy="3133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-- With a supported loggi">
            <a:extLst xmlns:a="http://schemas.openxmlformats.org/drawingml/2006/main">
              <a:ext uri="{FF2B5EF4-FFF2-40B4-BE49-F238E27FC236}">
                <a16:creationId xmlns:a16="http://schemas.microsoft.com/office/drawing/2014/main" id="{EFF41FBB-CE31-4AB2-B121-08514CB0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714625"/>
            <a:ext cx="105156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-- With a supported logging provider installed: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SET PERSIST_ONLY telemetry.otel_exporter_otlp_logs_protocol = 'http/json';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SET PERSIST_ONLY telemetry.otel_exporter_otlp_logs_endpoint =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'http://127.0.0.1:4318/v1/logs';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-- Restart for the exporter settings, then: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SET GLOBAL telemetry.log_enabled = ON;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SHOW GLOBAL STATUS LIKE 'Telemetry_logs_supported';</a:t>
            </a:r>
          </a:p>
        </p:txBody>
      </p:sp>
      <p:sp>
        <p:nvSpPr>
          <p:cNvPr id="13" name="The Community telemetry l">
            <a:extLst xmlns:a="http://schemas.openxmlformats.org/drawingml/2006/main">
              <a:ext uri="{FF2B5EF4-FFF2-40B4-BE49-F238E27FC236}">
                <a16:creationId xmlns:a16="http://schemas.microsoft.com/office/drawing/2014/main" id="{0FD3899D-2374-4BB4-9ED8-BC3AA2D8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The Community telemetry logging interface alone does not export log records.</a:t>
            </a:r>
          </a:p>
        </p:txBody>
      </p:sp>
    </p:spTree>
    <p:extLst>
      <p:ext uri="{BB962C8B-B14F-4D97-AF65-F5344CB8AC3E}">
        <p14:creationId xmlns:p14="http://schemas.microsoft.com/office/powerpoint/2010/main" val="13888348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72AA43-BC90-451F-8FB3-412A9E55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RACLE  /  MySQL 9.7">
            <a:extLst xmlns:a="http://schemas.openxmlformats.org/drawingml/2006/main">
              <a:ext uri="{FF2B5EF4-FFF2-40B4-BE49-F238E27FC236}">
                <a16:creationId xmlns:a16="http://schemas.microsoft.com/office/drawing/2014/main" id="{9BB0A93E-3B5D-43B8-BD5D-7EF2E52A9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ORACLE  /  MySQL 9.7</a:t>
            </a:r>
          </a:p>
        </p:txBody>
      </p:sp>
      <p:sp>
        <p:nvSpPr>
          <p:cNvPr id="3" name="PUSH PATH">
            <a:extLst xmlns:a="http://schemas.openxmlformats.org/drawingml/2006/main">
              <a:ext uri="{FF2B5EF4-FFF2-40B4-BE49-F238E27FC236}">
                <a16:creationId xmlns:a16="http://schemas.microsoft.com/office/drawing/2014/main" id="{30BD0326-92C1-4841-B5E3-C0D8B30A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PUSH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386759-1C8D-4C01-9608-A94AE589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Enable signals, restart, ">
            <a:extLst xmlns:a="http://schemas.openxmlformats.org/drawingml/2006/main">
              <a:ext uri="{FF2B5EF4-FFF2-40B4-BE49-F238E27FC236}">
                <a16:creationId xmlns:a16="http://schemas.microsoft.com/office/drawing/2014/main" id="{14950E86-D4B7-4526-B335-973E46D4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Enable signals, restart, then verify the effective settings</a:t>
            </a:r>
          </a:p>
        </p:txBody>
      </p:sp>
      <p:sp>
        <p:nvSpPr>
          <p:cNvPr id="6" name="Exporter and metrics sett">
            <a:extLst xmlns:a="http://schemas.openxmlformats.org/drawingml/2006/main">
              <a:ext uri="{FF2B5EF4-FFF2-40B4-BE49-F238E27FC236}">
                <a16:creationId xmlns:a16="http://schemas.microsoft.com/office/drawing/2014/main" id="{A2F3C392-1EF5-4C21-929B-1FF84765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Exporter and metrics settings are non-dynamic; apply them with a server restart.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30E04D-4A5D-4FE1-9E80-FCDC3E27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YSQL TELEMETRY  ·  DEEP ">
            <a:extLst xmlns:a="http://schemas.openxmlformats.org/drawingml/2006/main">
              <a:ext uri="{FF2B5EF4-FFF2-40B4-BE49-F238E27FC236}">
                <a16:creationId xmlns:a16="http://schemas.microsoft.com/office/drawing/2014/main" id="{7ADBBBA3-C8C7-459C-9A2C-39B1EA63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MYSQL TELEMETRY  ·  DEEP DIVE</a:t>
            </a:r>
          </a:p>
        </p:txBody>
      </p:sp>
      <p:sp>
        <p:nvSpPr>
          <p:cNvPr id="9" name="13">
            <a:extLst xmlns:a="http://schemas.openxmlformats.org/drawingml/2006/main">
              <a:ext uri="{FF2B5EF4-FFF2-40B4-BE49-F238E27FC236}">
                <a16:creationId xmlns:a16="http://schemas.microsoft.com/office/drawing/2014/main" id="{B6CCA18A-962F-4F23-840B-8F6E1DF4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05F973-88EE-41CA-9288-1D6734A6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2771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97AD58-049B-4D80-89C2-625C2D24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57150" cy="2771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T PERSIST_ONLY telemetr">
            <a:extLst xmlns:a="http://schemas.openxmlformats.org/drawingml/2006/main">
              <a:ext uri="{FF2B5EF4-FFF2-40B4-BE49-F238E27FC236}">
                <a16:creationId xmlns:a16="http://schemas.microsoft.com/office/drawing/2014/main" id="{C4F82407-E8CE-4528-8E7C-F94960BB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752725"/>
            <a:ext cx="1051560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SET PERSIST_ONLY telemetry.query_text_enabled = OFF;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SET PERSIST_ONLY telemetry.metrics_enabled = ON;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SET PERSIST_ONLY telemetry.trace_enabled = ON;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-- Restart mysqld, then inspect: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SHOW GLOBAL VARIABLES LIKE 'telemetry.%';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SELECT 1 AS telemetry_demo_query;</a:t>
            </a:r>
          </a:p>
        </p:txBody>
      </p:sp>
      <p:sp>
        <p:nvSpPr>
          <p:cNvPr id="13" name="query_text_enabled = OFF ">
            <a:extLst xmlns:a="http://schemas.openxmlformats.org/drawingml/2006/main">
              <a:ext uri="{FF2B5EF4-FFF2-40B4-BE49-F238E27FC236}">
                <a16:creationId xmlns:a16="http://schemas.microsoft.com/office/drawing/2014/main" id="{A0D9DFF4-C8E7-4BFF-A072-3BD4EBD7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0225"/>
            <a:ext cx="1066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query_text_enabled = OFF avoids exporting SQL text in this demo.</a:t>
            </a:r>
          </a:p>
        </p:txBody>
      </p:sp>
    </p:spTree>
    <p:extLst>
      <p:ext uri="{BB962C8B-B14F-4D97-AF65-F5344CB8AC3E}">
        <p14:creationId xmlns:p14="http://schemas.microsoft.com/office/powerpoint/2010/main" val="3708162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810B9B-BBBB-49E3-B845-531C46AD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RACLE  /  MySQL 9.7">
            <a:extLst xmlns:a="http://schemas.openxmlformats.org/drawingml/2006/main">
              <a:ext uri="{FF2B5EF4-FFF2-40B4-BE49-F238E27FC236}">
                <a16:creationId xmlns:a16="http://schemas.microsoft.com/office/drawing/2014/main" id="{977C4B0B-F13F-45F4-97BD-AC1BA1E5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ORACLE  /  MySQL 9.7</a:t>
            </a:r>
          </a:p>
        </p:txBody>
      </p:sp>
      <p:sp>
        <p:nvSpPr>
          <p:cNvPr id="3" name="VERIFICATION">
            <a:extLst xmlns:a="http://schemas.openxmlformats.org/drawingml/2006/main">
              <a:ext uri="{FF2B5EF4-FFF2-40B4-BE49-F238E27FC236}">
                <a16:creationId xmlns:a16="http://schemas.microsoft.com/office/drawing/2014/main" id="{17B3F77D-0FED-4F54-91D3-903DE962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VERIFICATION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F65E28-6A16-48C2-B7AF-1D69A1AB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Verify which telemetry si">
            <a:extLst xmlns:a="http://schemas.openxmlformats.org/drawingml/2006/main">
              <a:ext uri="{FF2B5EF4-FFF2-40B4-BE49-F238E27FC236}">
                <a16:creationId xmlns:a16="http://schemas.microsoft.com/office/drawing/2014/main" id="{F7EDA706-073A-4E41-93A1-2515ACAA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Verify which telemetry signals are enabled</a:t>
            </a:r>
          </a:p>
        </p:txBody>
      </p:sp>
      <p:sp>
        <p:nvSpPr>
          <p:cNvPr id="6" name="Example output after conf">
            <a:extLst xmlns:a="http://schemas.openxmlformats.org/drawingml/2006/main">
              <a:ext uri="{FF2B5EF4-FFF2-40B4-BE49-F238E27FC236}">
                <a16:creationId xmlns:a16="http://schemas.microsoft.com/office/drawing/2014/main" id="{C14F5B68-F805-4DB9-9C0C-64E11565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Example output after configuring the traces-and-metrics demo; check your own server values.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D82327-0E3D-4ADE-B9A8-9A67A83A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YSQL TELEMETRY  ·  DEEP ">
            <a:extLst xmlns:a="http://schemas.openxmlformats.org/drawingml/2006/main">
              <a:ext uri="{FF2B5EF4-FFF2-40B4-BE49-F238E27FC236}">
                <a16:creationId xmlns:a16="http://schemas.microsoft.com/office/drawing/2014/main" id="{4418FED6-6D52-43D7-9A9F-6DAD6E6D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MYSQL TELEMETRY  ·  DEEP DIVE</a:t>
            </a:r>
          </a:p>
        </p:txBody>
      </p:sp>
      <p:sp>
        <p:nvSpPr>
          <p:cNvPr id="9" name="14">
            <a:extLst xmlns:a="http://schemas.openxmlformats.org/drawingml/2006/main">
              <a:ext uri="{FF2B5EF4-FFF2-40B4-BE49-F238E27FC236}">
                <a16:creationId xmlns:a16="http://schemas.microsoft.com/office/drawing/2014/main" id="{E081B9B4-6698-4D96-8017-F11B4EC3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91649F-C3A3-41F0-B4BC-E9CB2CF4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10972800" cy="307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B5DCAC-6AC9-4518-9AF3-8CFC8E3F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57150" cy="307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ysql&gt; SHOW GLOBAL VARIAB">
            <a:extLst xmlns:a="http://schemas.openxmlformats.org/drawingml/2006/main">
              <a:ext uri="{FF2B5EF4-FFF2-40B4-BE49-F238E27FC236}">
                <a16:creationId xmlns:a16="http://schemas.microsoft.com/office/drawing/2014/main" id="{76493204-D825-488D-9C00-EDC6C00E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743200"/>
            <a:ext cx="105156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mysql&gt; SHOW GLOBAL VARIABLES LIKE '%tele%enable%';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+------------------------------+-------+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| Variable_name                | Value |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+------------------------------+-------+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| telemetry.log_enabled        | OFF   |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| telemetry.metrics_enabled    | ON    |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| telemetry.query_text_enabled | OFF   |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| telemetry.trace_enabled      | ON    |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+------------------------------+-------+</a:t>
            </a:r>
          </a:p>
        </p:txBody>
      </p:sp>
      <p:sp>
        <p:nvSpPr>
          <p:cNvPr id="13" name="Reading: metrics/traces O">
            <a:extLst xmlns:a="http://schemas.openxmlformats.org/drawingml/2006/main">
              <a:ext uri="{FF2B5EF4-FFF2-40B4-BE49-F238E27FC236}">
                <a16:creationId xmlns:a16="http://schemas.microsoft.com/office/drawing/2014/main" id="{949D9ADE-7B41-4517-87F5-3E7929B8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763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Reading: metrics/traces ON; logs/query text OFF. Confirm delivery at the receiver separately.</a:t>
            </a:r>
          </a:p>
        </p:txBody>
      </p:sp>
    </p:spTree>
    <p:extLst>
      <p:ext uri="{BB962C8B-B14F-4D97-AF65-F5344CB8AC3E}">
        <p14:creationId xmlns:p14="http://schemas.microsoft.com/office/powerpoint/2010/main" val="173369759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810B9B-BBBB-49E3-B845-531C46AD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RACLE  /  MySQL 9.7">
            <a:extLst xmlns:a="http://schemas.openxmlformats.org/drawingml/2006/main">
              <a:ext uri="{FF2B5EF4-FFF2-40B4-BE49-F238E27FC236}">
                <a16:creationId xmlns:a16="http://schemas.microsoft.com/office/drawing/2014/main" id="{977C4B0B-F13F-45F4-97BD-AC1BA1E5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ORACLE  /  MySQL 9.7</a:t>
            </a:r>
          </a:p>
        </p:txBody>
      </p:sp>
      <p:sp>
        <p:nvSpPr>
          <p:cNvPr id="3" name="VERIFICATION">
            <a:extLst xmlns:a="http://schemas.openxmlformats.org/drawingml/2006/main">
              <a:ext uri="{FF2B5EF4-FFF2-40B4-BE49-F238E27FC236}">
                <a16:creationId xmlns:a16="http://schemas.microsoft.com/office/drawing/2014/main" id="{17B3F77D-0FED-4F54-91D3-903DE962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VERIFICATION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F65E28-6A16-48C2-B7AF-1D69A1AB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Verify which telemetry si">
            <a:extLst xmlns:a="http://schemas.openxmlformats.org/drawingml/2006/main">
              <a:ext uri="{FF2B5EF4-FFF2-40B4-BE49-F238E27FC236}">
                <a16:creationId xmlns:a16="http://schemas.microsoft.com/office/drawing/2014/main" id="{F7EDA706-073A-4E41-93A1-2515ACAA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Verify which telemetry signals are enabled</a:t>
            </a:r>
          </a:p>
        </p:txBody>
      </p:sp>
      <p:sp>
        <p:nvSpPr>
          <p:cNvPr id="6" name="Example output after conf">
            <a:extLst xmlns:a="http://schemas.openxmlformats.org/drawingml/2006/main">
              <a:ext uri="{FF2B5EF4-FFF2-40B4-BE49-F238E27FC236}">
                <a16:creationId xmlns:a16="http://schemas.microsoft.com/office/drawing/2014/main" id="{C14F5B68-F805-4DB9-9C0C-64E11565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Example output after configuring the traces-and-metrics demo; check your own server values.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D82327-0E3D-4ADE-B9A8-9A67A83A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YSQL TELEMETRY  ·  DEEP ">
            <a:extLst xmlns:a="http://schemas.openxmlformats.org/drawingml/2006/main">
              <a:ext uri="{FF2B5EF4-FFF2-40B4-BE49-F238E27FC236}">
                <a16:creationId xmlns:a16="http://schemas.microsoft.com/office/drawing/2014/main" id="{4418FED6-6D52-43D7-9A9F-6DAD6E6D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MYSQL TELEMETRY  ·  DEEP DIVE</a:t>
            </a:r>
          </a:p>
        </p:txBody>
      </p:sp>
      <p:sp>
        <p:nvSpPr>
          <p:cNvPr id="9" name="14">
            <a:extLst xmlns:a="http://schemas.openxmlformats.org/drawingml/2006/main">
              <a:ext uri="{FF2B5EF4-FFF2-40B4-BE49-F238E27FC236}">
                <a16:creationId xmlns:a16="http://schemas.microsoft.com/office/drawing/2014/main" id="{E081B9B4-6698-4D96-8017-F11B4EC3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91649F-C3A3-41F0-B4BC-E9CB2CF4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10972800" cy="307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B5DCAC-6AC9-4518-9AF3-8CFC8E3F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57150" cy="307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ysql&gt; SHOW GLOBAL VARIAB">
            <a:extLst xmlns:a="http://schemas.openxmlformats.org/drawingml/2006/main">
              <a:ext uri="{FF2B5EF4-FFF2-40B4-BE49-F238E27FC236}">
                <a16:creationId xmlns:a16="http://schemas.microsoft.com/office/drawing/2014/main" id="{76493204-D825-488D-9C00-EDC6C00E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743200"/>
            <a:ext cx="105156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mysql&gt; SHOW GLOBAL VARIABLES LIKE 'tel%endp%';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/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telemetry.otel_exporter_otlp_logs_endpoint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http://127.0.0.1:4318/v1/logs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telemetry.otel_exporter_otlp_metrics_endpoint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http://127.0.0.1:4318/v1/metrics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telemetry.otel_exporter_otlp_traces_endpoint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http://127.0.0.1:4318/v1/traces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/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3 rows in set (0.003 sec)</a:t>
            </a:r>
          </a:p>
        </p:txBody>
      </p:sp>
      <p:sp>
        <p:nvSpPr>
          <p:cNvPr id="13" name="Reading: metrics/traces O">
            <a:extLst xmlns:a="http://schemas.openxmlformats.org/drawingml/2006/main">
              <a:ext uri="{FF2B5EF4-FFF2-40B4-BE49-F238E27FC236}">
                <a16:creationId xmlns:a16="http://schemas.microsoft.com/office/drawing/2014/main" id="{949D9ADE-7B41-4517-87F5-3E7929B8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763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Reading: metrics/traces ON; logs/query text OFF. Confirm delivery at the receiver separately.</a:t>
            </a:r>
          </a:p>
        </p:txBody>
      </p:sp>
    </p:spTree>
    <p:extLst>
      <p:ext uri="{BB962C8B-B14F-4D97-AF65-F5344CB8AC3E}">
        <p14:creationId xmlns:p14="http://schemas.microsoft.com/office/powerpoint/2010/main" val="173369759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C7CE27-0EB1-468D-A6B7-B032F3998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RACLE  /  MySQL 9.7">
            <a:extLst xmlns:a="http://schemas.openxmlformats.org/drawingml/2006/main">
              <a:ext uri="{FF2B5EF4-FFF2-40B4-BE49-F238E27FC236}">
                <a16:creationId xmlns:a16="http://schemas.microsoft.com/office/drawing/2014/main" id="{E4AA1718-4856-47F5-9891-F8089BCC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ORACLE  /  MySQL 9.7</a:t>
            </a:r>
          </a:p>
        </p:txBody>
      </p:sp>
      <p:sp>
        <p:nvSpPr>
          <p:cNvPr id="3" name="DEMO A">
            <a:extLst xmlns:a="http://schemas.openxmlformats.org/drawingml/2006/main">
              <a:ext uri="{FF2B5EF4-FFF2-40B4-BE49-F238E27FC236}">
                <a16:creationId xmlns:a16="http://schemas.microsoft.com/office/drawing/2014/main" id="{2D9B30CD-F497-4F42-8DF4-CEC21399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DEMO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C34829-C9D4-4713-B562-3F8E938E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ush walkthrough: prove e">
            <a:extLst xmlns:a="http://schemas.openxmlformats.org/drawingml/2006/main">
              <a:ext uri="{FF2B5EF4-FFF2-40B4-BE49-F238E27FC236}">
                <a16:creationId xmlns:a16="http://schemas.microsoft.com/office/drawing/2014/main" id="{48DC73A5-4418-485B-86DD-3F74163D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Push walkthrough: prove each hop in sequence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3F4430-5549-4CC7-B7DE-E5AB076B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YSQL TELEMETRY  ·  DEEP ">
            <a:extLst xmlns:a="http://schemas.openxmlformats.org/drawingml/2006/main">
              <a:ext uri="{FF2B5EF4-FFF2-40B4-BE49-F238E27FC236}">
                <a16:creationId xmlns:a16="http://schemas.microsoft.com/office/drawing/2014/main" id="{0EB651A2-7412-433F-A2A2-64C18BDD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MYSQL TELEMETRY  ·  DEEP DIVE</a:t>
            </a:r>
          </a:p>
        </p:txBody>
      </p:sp>
      <p:sp>
        <p:nvSpPr>
          <p:cNvPr id="8" name="15">
            <a:extLst xmlns:a="http://schemas.openxmlformats.org/drawingml/2006/main">
              <a:ext uri="{FF2B5EF4-FFF2-40B4-BE49-F238E27FC236}">
                <a16:creationId xmlns:a16="http://schemas.microsoft.com/office/drawing/2014/main" id="{D6838F58-4102-4FF0-A25C-C736A01E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9" name="01">
            <a:extLst xmlns:a="http://schemas.openxmlformats.org/drawingml/2006/main">
              <a:ext uri="{FF2B5EF4-FFF2-40B4-BE49-F238E27FC236}">
                <a16:creationId xmlns:a16="http://schemas.microsoft.com/office/drawing/2014/main" id="{AE5603AD-400E-4E31-AFA1-055C9E316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Start Collector">
            <a:extLst xmlns:a="http://schemas.openxmlformats.org/drawingml/2006/main">
              <a:ext uri="{FF2B5EF4-FFF2-40B4-BE49-F238E27FC236}">
                <a16:creationId xmlns:a16="http://schemas.microsoft.com/office/drawing/2014/main" id="{DF5F8827-5986-48F4-A7FD-70A3D98F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18122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Start Collector</a:t>
            </a:r>
          </a:p>
        </p:txBody>
      </p:sp>
      <p:sp>
        <p:nvSpPr>
          <p:cNvPr id="11" name="Run the Docker command an">
            <a:extLst xmlns:a="http://schemas.openxmlformats.org/drawingml/2006/main">
              <a:ext uri="{FF2B5EF4-FFF2-40B4-BE49-F238E27FC236}">
                <a16:creationId xmlns:a16="http://schemas.microsoft.com/office/drawing/2014/main" id="{9144F72A-DCD0-4A1E-9D75-02F38C0D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81225"/>
            <a:ext cx="619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Run the Docker command and leave its terminal open.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133855-26D6-49DD-BAA8-68231959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02">
            <a:extLst xmlns:a="http://schemas.openxmlformats.org/drawingml/2006/main">
              <a:ext uri="{FF2B5EF4-FFF2-40B4-BE49-F238E27FC236}">
                <a16:creationId xmlns:a16="http://schemas.microsoft.com/office/drawing/2014/main" id="{EC33673E-8CAD-4D15-8CF3-62E5C88B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33725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Configure MySQL">
            <a:extLst xmlns:a="http://schemas.openxmlformats.org/drawingml/2006/main">
              <a:ext uri="{FF2B5EF4-FFF2-40B4-BE49-F238E27FC236}">
                <a16:creationId xmlns:a16="http://schemas.microsoft.com/office/drawing/2014/main" id="{CF981429-6F11-40FC-9D37-09D9598B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3372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Configure MySQL</a:t>
            </a:r>
          </a:p>
        </p:txBody>
      </p:sp>
      <p:sp>
        <p:nvSpPr>
          <p:cNvPr id="15" name="Use port 4318 in both end">
            <a:extLst xmlns:a="http://schemas.openxmlformats.org/drawingml/2006/main">
              <a:ext uri="{FF2B5EF4-FFF2-40B4-BE49-F238E27FC236}">
                <a16:creationId xmlns:a16="http://schemas.microsoft.com/office/drawing/2014/main" id="{FADCB082-781D-4707-822E-D5DFCC4B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33725"/>
            <a:ext cx="619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Use port 4318 in both endpoint URLs; restart and check SHOW GLOBAL VARIABLES.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50EB45-B4B7-4380-8922-57ECEECC9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03">
            <a:extLst xmlns:a="http://schemas.openxmlformats.org/drawingml/2006/main">
              <a:ext uri="{FF2B5EF4-FFF2-40B4-BE49-F238E27FC236}">
                <a16:creationId xmlns:a16="http://schemas.microsoft.com/office/drawing/2014/main" id="{142508C5-961D-4493-BD87-2C5D07F1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Generate activity">
            <a:extLst xmlns:a="http://schemas.openxmlformats.org/drawingml/2006/main">
              <a:ext uri="{FF2B5EF4-FFF2-40B4-BE49-F238E27FC236}">
                <a16:creationId xmlns:a16="http://schemas.microsoft.com/office/drawing/2014/main" id="{6887C8D6-52A7-4401-8AB6-CA850AB6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8622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Generate activity</a:t>
            </a:r>
          </a:p>
        </p:txBody>
      </p:sp>
      <p:sp>
        <p:nvSpPr>
          <p:cNvPr id="19" name="Connect to MySQL and run ">
            <a:extLst xmlns:a="http://schemas.openxmlformats.org/drawingml/2006/main">
              <a:ext uri="{FF2B5EF4-FFF2-40B4-BE49-F238E27FC236}">
                <a16:creationId xmlns:a16="http://schemas.microsoft.com/office/drawing/2014/main" id="{7E4CED91-1409-46FB-9B52-50D05681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86225"/>
            <a:ext cx="619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Connect to MySQL and run a short test workload or several SELECT statements.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637447-CF79-4A63-8633-D51C21EE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04">
            <a:extLst xmlns:a="http://schemas.openxmlformats.org/drawingml/2006/main">
              <a:ext uri="{FF2B5EF4-FFF2-40B4-BE49-F238E27FC236}">
                <a16:creationId xmlns:a16="http://schemas.microsoft.com/office/drawing/2014/main" id="{FBB39A2C-EFBC-4C8A-9187-C47C49AF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Inspect output">
            <a:extLst xmlns:a="http://schemas.openxmlformats.org/drawingml/2006/main">
              <a:ext uri="{FF2B5EF4-FFF2-40B4-BE49-F238E27FC236}">
                <a16:creationId xmlns:a16="http://schemas.microsoft.com/office/drawing/2014/main" id="{A9368182-32BC-4B31-967E-9BA57111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3872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Inspect output</a:t>
            </a:r>
          </a:p>
        </p:txBody>
      </p:sp>
      <p:sp>
        <p:nvSpPr>
          <p:cNvPr id="23" name="Wait for the export batch">
            <a:extLst xmlns:a="http://schemas.openxmlformats.org/drawingml/2006/main">
              <a:ext uri="{FF2B5EF4-FFF2-40B4-BE49-F238E27FC236}">
                <a16:creationId xmlns:a16="http://schemas.microsoft.com/office/drawing/2014/main" id="{9F8A4D66-F81B-4237-9A37-23C5851C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038725"/>
            <a:ext cx="619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Wait for the export batch; look for trace and metric records in Collector debug output.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5473B4-0622-42A8-9373-25B98837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4942527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9B7CCB-34A0-4E3C-A5E4-92CECB04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RACLE  /  MySQL 9.7">
            <a:extLst xmlns:a="http://schemas.openxmlformats.org/drawingml/2006/main">
              <a:ext uri="{FF2B5EF4-FFF2-40B4-BE49-F238E27FC236}">
                <a16:creationId xmlns:a16="http://schemas.microsoft.com/office/drawing/2014/main" id="{B65FC2D8-F578-44B7-AAD7-66CE7DF58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ORACLE  /  MySQL 9.7</a:t>
            </a:r>
          </a:p>
        </p:txBody>
      </p:sp>
      <p:sp>
        <p:nvSpPr>
          <p:cNvPr id="3" name="DEMO B">
            <a:extLst xmlns:a="http://schemas.openxmlformats.org/drawingml/2006/main">
              <a:ext uri="{FF2B5EF4-FFF2-40B4-BE49-F238E27FC236}">
                <a16:creationId xmlns:a16="http://schemas.microsoft.com/office/drawing/2014/main" id="{B2FA1F69-A4EA-4791-B108-725B4193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DEMO 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EA8737-4A63-41D2-BB3C-9D29A1FE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Web demo walkthrough: see">
            <a:extLst xmlns:a="http://schemas.openxmlformats.org/drawingml/2006/main">
              <a:ext uri="{FF2B5EF4-FFF2-40B4-BE49-F238E27FC236}">
                <a16:creationId xmlns:a16="http://schemas.microsoft.com/office/drawing/2014/main" id="{B482A3BD-99C3-407A-A016-E36A9A56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Web demo walkthrough: see imported OTLP JSON immediately</a:t>
            </a:r>
          </a:p>
        </p:txBody>
      </p:sp>
      <p:sp>
        <p:nvSpPr>
          <p:cNvPr id="6" name="The built-in receiver is ">
            <a:extLst xmlns:a="http://schemas.openxmlformats.org/drawingml/2006/main">
              <a:ext uri="{FF2B5EF4-FFF2-40B4-BE49-F238E27FC236}">
                <a16:creationId xmlns:a16="http://schemas.microsoft.com/office/drawing/2014/main" id="{1A7CEC89-8D5A-4CEC-8931-26D6EA55C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The built-in receiver is a local teaching aid; it is not a production Collector.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4D393-13A3-4642-98AE-13D8A9C1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YSQL TELEMETRY  ·  DEEP ">
            <a:extLst xmlns:a="http://schemas.openxmlformats.org/drawingml/2006/main">
              <a:ext uri="{FF2B5EF4-FFF2-40B4-BE49-F238E27FC236}">
                <a16:creationId xmlns:a16="http://schemas.microsoft.com/office/drawing/2014/main" id="{8788DB25-4424-42CA-B339-9AD36837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MYSQL TELEMETRY  ·  DEEP DIVE</a:t>
            </a:r>
          </a:p>
        </p:txBody>
      </p:sp>
      <p:sp>
        <p:nvSpPr>
          <p:cNvPr id="9" name="16">
            <a:extLst xmlns:a="http://schemas.openxmlformats.org/drawingml/2006/main">
              <a:ext uri="{FF2B5EF4-FFF2-40B4-BE49-F238E27FC236}">
                <a16:creationId xmlns:a16="http://schemas.microsoft.com/office/drawing/2014/main" id="{954F477F-E2BE-4E37-BF9D-D26EE2C7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10" name="01">
            <a:extLst xmlns:a="http://schemas.openxmlformats.org/drawingml/2006/main">
              <a:ext uri="{FF2B5EF4-FFF2-40B4-BE49-F238E27FC236}">
                <a16:creationId xmlns:a16="http://schemas.microsoft.com/office/drawing/2014/main" id="{FE6E5849-D273-4E3A-BAF0-45508856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Start web app">
            <a:extLst xmlns:a="http://schemas.openxmlformats.org/drawingml/2006/main">
              <a:ext uri="{FF2B5EF4-FFF2-40B4-BE49-F238E27FC236}">
                <a16:creationId xmlns:a16="http://schemas.microsoft.com/office/drawing/2014/main" id="{7D28765B-9AE9-4D27-8ED3-421F1CC0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431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Start web app</a:t>
            </a:r>
          </a:p>
        </p:txBody>
      </p:sp>
      <p:sp>
        <p:nvSpPr>
          <p:cNvPr id="12" name="Run node server.js, then ">
            <a:extLst xmlns:a="http://schemas.openxmlformats.org/drawingml/2006/main">
              <a:ext uri="{FF2B5EF4-FFF2-40B4-BE49-F238E27FC236}">
                <a16:creationId xmlns:a16="http://schemas.microsoft.com/office/drawing/2014/main" id="{6700A50B-6D00-459D-A0A2-FF0A9C9F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43150"/>
            <a:ext cx="619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Run node server.js, then open http://127.0.0.1:4173/#telemetry.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7865FC-E031-423D-B18C-260CBA88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02">
            <a:extLst xmlns:a="http://schemas.openxmlformats.org/drawingml/2006/main">
              <a:ext uri="{FF2B5EF4-FFF2-40B4-BE49-F238E27FC236}">
                <a16:creationId xmlns:a16="http://schemas.microsoft.com/office/drawing/2014/main" id="{868B869C-9492-44C4-8B67-AB12EBBA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Check the receiver">
            <a:extLst xmlns:a="http://schemas.openxmlformats.org/drawingml/2006/main">
              <a:ext uri="{FF2B5EF4-FFF2-40B4-BE49-F238E27FC236}">
                <a16:creationId xmlns:a16="http://schemas.microsoft.com/office/drawing/2014/main" id="{A00722B5-47BD-47C7-B831-4FF48625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337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Check the receiver</a:t>
            </a:r>
          </a:p>
        </p:txBody>
      </p:sp>
      <p:sp>
        <p:nvSpPr>
          <p:cNvPr id="16" name="Click “Import sample OTLP">
            <a:extLst xmlns:a="http://schemas.openxmlformats.org/drawingml/2006/main">
              <a:ext uri="{FF2B5EF4-FFF2-40B4-BE49-F238E27FC236}">
                <a16:creationId xmlns:a16="http://schemas.microsoft.com/office/drawing/2014/main" id="{871C48C6-117E-4FE7-821D-48CDF336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33750"/>
            <a:ext cx="619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Click “Import sample OTLP JSON” or upload an OTLP JSON file.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237EE5-504B-4AA5-8C6A-0A3FA57E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03">
            <a:extLst xmlns:a="http://schemas.openxmlformats.org/drawingml/2006/main">
              <a:ext uri="{FF2B5EF4-FFF2-40B4-BE49-F238E27FC236}">
                <a16:creationId xmlns:a16="http://schemas.microsoft.com/office/drawing/2014/main" id="{520996B0-8012-4DCC-B2CF-C65091F2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Point MySQL at :4173">
            <a:extLst xmlns:a="http://schemas.openxmlformats.org/drawingml/2006/main">
              <a:ext uri="{FF2B5EF4-FFF2-40B4-BE49-F238E27FC236}">
                <a16:creationId xmlns:a16="http://schemas.microsoft.com/office/drawing/2014/main" id="{EF899D0D-75A0-41DA-9BF9-A10DFF95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243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Point MySQL at :4173</a:t>
            </a:r>
          </a:p>
        </p:txBody>
      </p:sp>
      <p:sp>
        <p:nvSpPr>
          <p:cNvPr id="20" name="Use the push-path SQL on ">
            <a:extLst xmlns:a="http://schemas.openxmlformats.org/drawingml/2006/main">
              <a:ext uri="{FF2B5EF4-FFF2-40B4-BE49-F238E27FC236}">
                <a16:creationId xmlns:a16="http://schemas.microsoft.com/office/drawing/2014/main" id="{A2F0E3E8-5F1E-4348-BD7E-D5321E34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324350"/>
            <a:ext cx="619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Use the push-path SQL on the preceding slides; restart MySQL and run test queries.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8C61C7-16BE-4B69-8973-5BF20E28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ows identify sample, fil">
            <a:extLst xmlns:a="http://schemas.openxmlformats.org/drawingml/2006/main">
              <a:ext uri="{FF2B5EF4-FFF2-40B4-BE49-F238E27FC236}">
                <a16:creationId xmlns:a16="http://schemas.microsoft.com/office/drawing/2014/main" id="{4134D173-B554-4599-9D3C-656CB14B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10763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Rows identify sample, file import, or OTLP source. The dashboard does not query MySQL.</a:t>
            </a:r>
          </a:p>
        </p:txBody>
      </p:sp>
    </p:spTree>
    <p:extLst>
      <p:ext uri="{BB962C8B-B14F-4D97-AF65-F5344CB8AC3E}">
        <p14:creationId xmlns:p14="http://schemas.microsoft.com/office/powerpoint/2010/main" val="45679973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2E0210-F7EA-4A02-9A9C-64C0944C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RACLE  /  MySQL 9.7">
            <a:extLst xmlns:a="http://schemas.openxmlformats.org/drawingml/2006/main">
              <a:ext uri="{FF2B5EF4-FFF2-40B4-BE49-F238E27FC236}">
                <a16:creationId xmlns:a16="http://schemas.microsoft.com/office/drawing/2014/main" id="{79013185-2494-4DEF-8AA8-AE4AD547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ORACLE  /  MySQL 9.7</a:t>
            </a:r>
          </a:p>
        </p:txBody>
      </p:sp>
      <p:sp>
        <p:nvSpPr>
          <p:cNvPr id="3" name="TROUBLESHOOTING">
            <a:extLst xmlns:a="http://schemas.openxmlformats.org/drawingml/2006/main">
              <a:ext uri="{FF2B5EF4-FFF2-40B4-BE49-F238E27FC236}">
                <a16:creationId xmlns:a16="http://schemas.microsoft.com/office/drawing/2014/main" id="{811BC99E-CCA1-437E-B2EF-D53A2ED5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TROUBLESHOOTING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90C5C5-8A15-410B-8944-F23BE2F6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If no data arrives, check">
            <a:extLst xmlns:a="http://schemas.openxmlformats.org/drawingml/2006/main">
              <a:ext uri="{FF2B5EF4-FFF2-40B4-BE49-F238E27FC236}">
                <a16:creationId xmlns:a16="http://schemas.microsoft.com/office/drawing/2014/main" id="{05148730-C1CF-4C03-8F6B-9C0654EE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If no data arrives, check the chosen path first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7BD7DE-612B-4119-9106-83105A86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YSQL TELEMETRY  ·  DEEP ">
            <a:extLst xmlns:a="http://schemas.openxmlformats.org/drawingml/2006/main">
              <a:ext uri="{FF2B5EF4-FFF2-40B4-BE49-F238E27FC236}">
                <a16:creationId xmlns:a16="http://schemas.microsoft.com/office/drawing/2014/main" id="{4D7226DD-DC08-4CCF-A04D-955EF250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MYSQL TELEMETRY  ·  DEEP DIVE</a:t>
            </a:r>
          </a:p>
        </p:txBody>
      </p:sp>
      <p:sp>
        <p:nvSpPr>
          <p:cNvPr id="8" name="17">
            <a:extLst xmlns:a="http://schemas.openxmlformats.org/drawingml/2006/main">
              <a:ext uri="{FF2B5EF4-FFF2-40B4-BE49-F238E27FC236}">
                <a16:creationId xmlns:a16="http://schemas.microsoft.com/office/drawing/2014/main" id="{7A8CDB80-E64F-4648-A554-3CCCDDD1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9" name="Polling checks">
            <a:extLst xmlns:a="http://schemas.openxmlformats.org/drawingml/2006/main">
              <a:ext uri="{FF2B5EF4-FFF2-40B4-BE49-F238E27FC236}">
                <a16:creationId xmlns:a16="http://schemas.microsoft.com/office/drawing/2014/main" id="{2CCE7FAF-BAA9-49F5-9F18-02329113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Polling checks</a:t>
            </a:r>
          </a:p>
        </p:txBody>
      </p:sp>
      <p:sp>
        <p:nvSpPr>
          <p:cNvPr id="10" name="Use Collector Contrib and">
            <a:extLst xmlns:a="http://schemas.openxmlformats.org/drawingml/2006/main">
              <a:ext uri="{FF2B5EF4-FFF2-40B4-BE49-F238E27FC236}">
                <a16:creationId xmlns:a16="http://schemas.microsoft.com/office/drawing/2014/main" id="{D0508353-DD86-4C17-B994-72D05D62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50292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50" b="0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11F"/>
                </a:solidFill>
                <a:latin typeface="Arial"/>
                <a:ea typeface="Arial"/>
                <a:cs typeface="Arial"/>
              </a:rPr>
              <a:t>Use Collector Contrib and a reachable MySQL :3306 endpoint. Check the monitoring account, collection interval, and Collector errors.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6F8BBC-BDD3-4233-A240-11878128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533650"/>
            <a:ext cx="1905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ush checks">
            <a:extLst xmlns:a="http://schemas.openxmlformats.org/drawingml/2006/main">
              <a:ext uri="{FF2B5EF4-FFF2-40B4-BE49-F238E27FC236}">
                <a16:creationId xmlns:a16="http://schemas.microsoft.com/office/drawing/2014/main" id="{91AFCBD7-74CC-4F15-BBD6-5A8BE980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71750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00758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58F"/>
                </a:solidFill>
                <a:latin typeface="Arial"/>
                <a:ea typeface="Arial"/>
                <a:cs typeface="Arial"/>
              </a:rPr>
              <a:t>Push checks</a:t>
            </a:r>
          </a:p>
        </p:txBody>
      </p:sp>
      <p:sp>
        <p:nvSpPr>
          <p:cNvPr id="13" name="Confirm component, protoc">
            <a:extLst xmlns:a="http://schemas.openxmlformats.org/drawingml/2006/main">
              <a:ext uri="{FF2B5EF4-FFF2-40B4-BE49-F238E27FC236}">
                <a16:creationId xmlns:a16="http://schemas.microsoft.com/office/drawing/2014/main" id="{1C2E733C-B784-4FEA-A6F1-804D7594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05150"/>
            <a:ext cx="50292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50" b="0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11F"/>
                </a:solidFill>
                <a:latin typeface="Arial"/>
                <a:ea typeface="Arial"/>
                <a:cs typeface="Arial"/>
              </a:rPr>
              <a:t>Confirm component, protocol, endpoint and restart. The web receiver accepts JSON only; protobuf gets HTTP 415. Check the MySQL error log.</a:t>
            </a:r>
          </a:p>
        </p:txBody>
      </p:sp>
      <p:sp>
        <p:nvSpPr>
          <p:cNvPr id="14" name="Log export is separate: t">
            <a:extLst xmlns:a="http://schemas.openxmlformats.org/drawingml/2006/main">
              <a:ext uri="{FF2B5EF4-FFF2-40B4-BE49-F238E27FC236}">
                <a16:creationId xmlns:a16="http://schemas.microsoft.com/office/drawing/2014/main" id="{17AC3656-93C0-434B-B0D7-86A5B53B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Log export is separate: the illustrative demo log does not mean Community logging export is enabled.</a:t>
            </a:r>
          </a:p>
        </p:txBody>
      </p:sp>
    </p:spTree>
    <p:extLst>
      <p:ext uri="{BB962C8B-B14F-4D97-AF65-F5344CB8AC3E}">
        <p14:creationId xmlns:p14="http://schemas.microsoft.com/office/powerpoint/2010/main" val="41772551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371D0C-F3CA-4A67-AF29-7933E450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RACLE  /  MySQL 9.7">
            <a:extLst xmlns:a="http://schemas.openxmlformats.org/drawingml/2006/main">
              <a:ext uri="{FF2B5EF4-FFF2-40B4-BE49-F238E27FC236}">
                <a16:creationId xmlns:a16="http://schemas.microsoft.com/office/drawing/2014/main" id="{06B6684E-D30E-4147-8B8A-38F42919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ORACLE  /  MySQL 9.7</a:t>
            </a:r>
          </a:p>
        </p:txBody>
      </p:sp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06651145-DB2B-4BDB-96BC-F868C254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TAKEAWAY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205358-A929-48C9-B1E4-0DD06E43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Use the collection model ">
            <a:extLst xmlns:a="http://schemas.openxmlformats.org/drawingml/2006/main">
              <a:ext uri="{FF2B5EF4-FFF2-40B4-BE49-F238E27FC236}">
                <a16:creationId xmlns:a16="http://schemas.microsoft.com/office/drawing/2014/main" id="{33215F75-1EA0-46D0-B8BA-6958A72F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Use the collection model that matches the question</a:t>
            </a:r>
          </a:p>
        </p:txBody>
      </p:sp>
      <p:sp>
        <p:nvSpPr>
          <p:cNvPr id="6" name="Polling supplies periodic">
            <a:extLst xmlns:a="http://schemas.openxmlformats.org/drawingml/2006/main">
              <a:ext uri="{FF2B5EF4-FFF2-40B4-BE49-F238E27FC236}">
                <a16:creationId xmlns:a16="http://schemas.microsoft.com/office/drawing/2014/main" id="{0A5E106E-FEAA-4346-BDBF-1945871A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Polling supplies periodic server state; the component pushes instrumented events.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C36831-CA4A-4598-A444-766FB3F2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YSQL TELEMETRY  ·  DEEP ">
            <a:extLst xmlns:a="http://schemas.openxmlformats.org/drawingml/2006/main">
              <a:ext uri="{FF2B5EF4-FFF2-40B4-BE49-F238E27FC236}">
                <a16:creationId xmlns:a16="http://schemas.microsoft.com/office/drawing/2014/main" id="{AA9BFCAB-A08B-4E4A-B043-8348C62D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MYSQL TELEMETRY  ·  DEEP DIVE</a:t>
            </a:r>
          </a:p>
        </p:txBody>
      </p:sp>
      <p:sp>
        <p:nvSpPr>
          <p:cNvPr id="9" name="18">
            <a:extLst xmlns:a="http://schemas.openxmlformats.org/drawingml/2006/main">
              <a:ext uri="{FF2B5EF4-FFF2-40B4-BE49-F238E27FC236}">
                <a16:creationId xmlns:a16="http://schemas.microsoft.com/office/drawing/2014/main" id="{44C7F8C0-1966-44B1-951D-15C7E2BB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10" name="Polling receiver">
            <a:extLst xmlns:a="http://schemas.openxmlformats.org/drawingml/2006/main">
              <a:ext uri="{FF2B5EF4-FFF2-40B4-BE49-F238E27FC236}">
                <a16:creationId xmlns:a16="http://schemas.microsoft.com/office/drawing/2014/main" id="{A79C460E-26BD-400C-B4D4-AD5EDDC1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Polling receiver</a:t>
            </a:r>
          </a:p>
        </p:txBody>
      </p:sp>
      <p:sp>
        <p:nvSpPr>
          <p:cNvPr id="11" name="Use the Contrib MySQL rec">
            <a:extLst xmlns:a="http://schemas.openxmlformats.org/drawingml/2006/main">
              <a:ext uri="{FF2B5EF4-FFF2-40B4-BE49-F238E27FC236}">
                <a16:creationId xmlns:a16="http://schemas.microsoft.com/office/drawing/2014/main" id="{920C5460-2537-44F6-9DF9-B170BE1A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50292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50" b="0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11F"/>
                </a:solidFill>
                <a:latin typeface="Arial"/>
                <a:ea typeface="Arial"/>
                <a:cs typeface="Arial"/>
              </a:rPr>
              <a:t>Use the Contrib MySQL receiver for periodic status and InnoDB metrics with a monitored database login.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DA0D2F-AEA1-406C-B948-41AF180D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533650"/>
            <a:ext cx="1905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ush component">
            <a:extLst xmlns:a="http://schemas.openxmlformats.org/drawingml/2006/main">
              <a:ext uri="{FF2B5EF4-FFF2-40B4-BE49-F238E27FC236}">
                <a16:creationId xmlns:a16="http://schemas.microsoft.com/office/drawing/2014/main" id="{DA9D4AE4-94B6-4A73-8C7F-E34B71BD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71750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00758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58F"/>
                </a:solidFill>
                <a:latin typeface="Arial"/>
                <a:ea typeface="Arial"/>
                <a:cs typeface="Arial"/>
              </a:rPr>
              <a:t>Push component</a:t>
            </a:r>
          </a:p>
        </p:txBody>
      </p:sp>
      <p:sp>
        <p:nvSpPr>
          <p:cNvPr id="14" name="Use MySQL 9.7 telemetry f">
            <a:extLst xmlns:a="http://schemas.openxmlformats.org/drawingml/2006/main">
              <a:ext uri="{FF2B5EF4-FFF2-40B4-BE49-F238E27FC236}">
                <a16:creationId xmlns:a16="http://schemas.microsoft.com/office/drawing/2014/main" id="{D86B15C1-6C21-4946-9BED-4A5024E0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05150"/>
            <a:ext cx="50292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50" b="0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11F"/>
                </a:solidFill>
                <a:latin typeface="Arial"/>
                <a:ea typeface="Arial"/>
                <a:cs typeface="Arial"/>
              </a:rPr>
              <a:t>Use MySQL 9.7 telemetry for native trace spans and metrics over OTLP. Add a supported logging provider when logs are needed.</a:t>
            </a:r>
          </a:p>
        </p:txBody>
      </p:sp>
      <p:sp>
        <p:nvSpPr>
          <p:cNvPr id="15" name="References">
            <a:extLst xmlns:a="http://schemas.openxmlformats.org/drawingml/2006/main">
              <a:ext uri="{FF2B5EF4-FFF2-40B4-BE49-F238E27FC236}">
                <a16:creationId xmlns:a16="http://schemas.microsoft.com/office/drawing/2014/main" id="{322E9E43-36BB-416F-9E02-D79BBE23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666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16" name="dev.mysql.com/doc/refman/">
            <a:extLst xmlns:a="http://schemas.openxmlformats.org/drawingml/2006/main">
              <a:ext uri="{FF2B5EF4-FFF2-40B4-BE49-F238E27FC236}">
                <a16:creationId xmlns:a16="http://schemas.microsoft.com/office/drawing/2014/main" id="{98360F92-994A-4456-93F4-ACD10695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dev.mysql.com/doc/refman/9.7/en/telemetry.html   ·   github.com/open-telemetry/opentelemetry-collector-contrib/receiver/mysqlreceiver</a:t>
            </a:r>
          </a:p>
        </p:txBody>
      </p:sp>
    </p:spTree>
    <p:extLst>
      <p:ext uri="{BB962C8B-B14F-4D97-AF65-F5344CB8AC3E}">
        <p14:creationId xmlns:p14="http://schemas.microsoft.com/office/powerpoint/2010/main" val="10981032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2026-09-28T10:05:19.5720000Z</dcterms:created>
  <dcterms:modified xsi:type="dcterms:W3CDTF">2026-09-28T10:05:19.5720000Z</dcterms:modified>
</coreProperties>
</file>