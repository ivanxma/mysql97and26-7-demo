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af85654dfb4bed" /><Relationship Type="http://schemas.openxmlformats.org/officeDocument/2006/relationships/extended-properties" Target="/docProps/app.xml" Id="R51b71bd551454bd9" /><Relationship Type="http://schemas.openxmlformats.org/officeDocument/2006/relationships/officeDocument" Target="/ppt/presentation.xml" Id="Rc832a3dc329a4d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b1510f0b4d4da0"/>
  </p:sldMasterIdLst>
  <p:notesMasterIdLst>
    <p:notesMasterId xmlns:r="http://schemas.openxmlformats.org/officeDocument/2006/relationships" r:id="R83b86330c8774025"/>
  </p:notesMasterIdLst>
  <p:sldIdLst>
    <p:sldId xmlns:r="http://schemas.openxmlformats.org/officeDocument/2006/relationships" id="256" r:id="R6ce2d172c12d4ab8"/>
    <p:sldId xmlns:r="http://schemas.openxmlformats.org/officeDocument/2006/relationships" id="257" r:id="Rf29bf2dec8e14f3f"/>
    <p:sldId xmlns:r="http://schemas.openxmlformats.org/officeDocument/2006/relationships" id="258" r:id="R3a260eecf60242f9"/>
    <p:sldId xmlns:r="http://schemas.openxmlformats.org/officeDocument/2006/relationships" id="259" r:id="Rb42bcfcae5614d30"/>
    <p:sldId xmlns:r="http://schemas.openxmlformats.org/officeDocument/2006/relationships" id="260" r:id="R9a7b9de86ad14e4e"/>
    <p:sldId xmlns:r="http://schemas.openxmlformats.org/officeDocument/2006/relationships" id="261" r:id="Raf30c363f6a4402b"/>
    <p:sldId xmlns:r="http://schemas.openxmlformats.org/officeDocument/2006/relationships" id="262" r:id="Raac9f652bdd549a5"/>
    <p:sldId xmlns:r="http://schemas.openxmlformats.org/officeDocument/2006/relationships" id="263" r:id="Rd6f5bb1b835d486e"/>
    <p:sldId xmlns:r="http://schemas.openxmlformats.org/officeDocument/2006/relationships" id="264" r:id="Re959a064e6ce4c9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ac66f44f5548ab" /><Relationship Type="http://schemas.openxmlformats.org/officeDocument/2006/relationships/slideMaster" Target="/ppt/slideMasters/slideMaster1.xml" Id="Rfdb1510f0b4d4da0" /><Relationship Type="http://schemas.openxmlformats.org/officeDocument/2006/relationships/notesMaster" Target="/ppt/notesMasters/notesMaster1.xml" Id="R83b86330c8774025" /><Relationship Type="http://schemas.openxmlformats.org/officeDocument/2006/relationships/presProps" Target="/ppt/presProps.xml" Id="R3949aedaf20848b3" /><Relationship Type="http://schemas.openxmlformats.org/officeDocument/2006/relationships/tableStyles" Target="/ppt/tableStyles.xml" Id="R645371fceb774152" /><Relationship Type="http://schemas.openxmlformats.org/officeDocument/2006/relationships/slide" Target="/ppt/slides/slide1.xml" Id="R6ce2d172c12d4ab8" /><Relationship Type="http://schemas.openxmlformats.org/officeDocument/2006/relationships/slide" Target="/ppt/slides/slide2.xml" Id="Rf29bf2dec8e14f3f" /><Relationship Type="http://schemas.openxmlformats.org/officeDocument/2006/relationships/slide" Target="/ppt/slides/slide3.xml" Id="R3a260eecf60242f9" /><Relationship Type="http://schemas.openxmlformats.org/officeDocument/2006/relationships/slide" Target="/ppt/slides/slide4.xml" Id="Rb42bcfcae5614d30" /><Relationship Type="http://schemas.openxmlformats.org/officeDocument/2006/relationships/slide" Target="/ppt/slides/slide5.xml" Id="R9a7b9de86ad14e4e" /><Relationship Type="http://schemas.openxmlformats.org/officeDocument/2006/relationships/slide" Target="/ppt/slides/slide6.xml" Id="Raf30c363f6a4402b" /><Relationship Type="http://schemas.openxmlformats.org/officeDocument/2006/relationships/slide" Target="/ppt/slides/slide7.xml" Id="Raac9f652bdd549a5" /><Relationship Type="http://schemas.openxmlformats.org/officeDocument/2006/relationships/slide" Target="/ppt/slides/slide8.xml" Id="Rd6f5bb1b835d486e" /><Relationship Type="http://schemas.openxmlformats.org/officeDocument/2006/relationships/slide" Target="/ppt/slides/slide9.xml" Id="Re959a064e6ce4c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acf5f9b09c43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3c42d2055c4567" /><Relationship Type="http://schemas.openxmlformats.org/officeDocument/2006/relationships/notesMaster" Target="/ppt/notesMasters/notesMaster1.xml" Id="R7970acfd1a0346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38dc5199514dc3" /><Relationship Type="http://schemas.openxmlformats.org/officeDocument/2006/relationships/notesMaster" Target="/ppt/notesMasters/notesMaster1.xml" Id="Rcca7cee7deab4e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43b85745f945a7" /><Relationship Type="http://schemas.openxmlformats.org/officeDocument/2006/relationships/notesMaster" Target="/ppt/notesMasters/notesMaster1.xml" Id="R28a683fa877d42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f6332fb390421f" /><Relationship Type="http://schemas.openxmlformats.org/officeDocument/2006/relationships/notesMaster" Target="/ppt/notesMasters/notesMaster1.xml" Id="R6c2f6a461ac74ed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c53609beff04e9f" /><Relationship Type="http://schemas.openxmlformats.org/officeDocument/2006/relationships/notesMaster" Target="/ppt/notesMasters/notesMaster1.xml" Id="R692b38b6b7904d4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9282f15f8784d62" /><Relationship Type="http://schemas.openxmlformats.org/officeDocument/2006/relationships/notesMaster" Target="/ppt/notesMasters/notesMaster1.xml" Id="R534fc1fa895143c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ce0c7b2e24b4756" /><Relationship Type="http://schemas.openxmlformats.org/officeDocument/2006/relationships/notesMaster" Target="/ppt/notesMasters/notesMaster1.xml" Id="R2a6e4b30fa7a402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40834717ecb4c20" /><Relationship Type="http://schemas.openxmlformats.org/officeDocument/2006/relationships/notesMaster" Target="/ppt/notesMasters/notesMaster1.xml" Id="R0835ba3f4f8a4a1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32749f2e7d643dd" /><Relationship Type="http://schemas.openxmlformats.org/officeDocument/2006/relationships/notesMaster" Target="/ppt/notesMasters/notesMaster1.xml" Id="R1251d8dc68964b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417bfe9c9647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a1216598064568" /><Relationship Type="http://schemas.openxmlformats.org/officeDocument/2006/relationships/slideLayout" Target="/ppt/slideLayouts/slideLayout1.xml" Id="R4cbb6dc1366447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bb6dc1366447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26e1a924014acc" /><Relationship Type="http://schemas.openxmlformats.org/officeDocument/2006/relationships/image" Target="/ppt/media/image.png" Id="R129dbf6a72394598" /><Relationship Type="http://schemas.openxmlformats.org/officeDocument/2006/relationships/notesSlide" Target="/ppt/notesSlides/notesSlide1.xml" Id="R31d7477041464a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79a5c66c434f4d" /><Relationship Type="http://schemas.openxmlformats.org/officeDocument/2006/relationships/notesSlide" Target="/ppt/notesSlides/notesSlide2.xml" Id="R85f1c412bffd4a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88832eeeee402f" /><Relationship Type="http://schemas.openxmlformats.org/officeDocument/2006/relationships/notesSlide" Target="/ppt/notesSlides/notesSlide3.xml" Id="R1e5f0e916c4d40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dae6867a5442ea" /><Relationship Type="http://schemas.openxmlformats.org/officeDocument/2006/relationships/notesSlide" Target="/ppt/notesSlides/notesSlide4.xml" Id="R98863d8452fe40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2014921afb4528" /><Relationship Type="http://schemas.openxmlformats.org/officeDocument/2006/relationships/notesSlide" Target="/ppt/notesSlides/notesSlide5.xml" Id="R4464d6796fa44b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6bc895342144e6" /><Relationship Type="http://schemas.openxmlformats.org/officeDocument/2006/relationships/notesSlide" Target="/ppt/notesSlides/notesSlide6.xml" Id="Rc0e30e3c818c4d1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825ace5eab45fd" /><Relationship Type="http://schemas.openxmlformats.org/officeDocument/2006/relationships/notesSlide" Target="/ppt/notesSlides/notesSlide7.xml" Id="R5db7dae34be6466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2545275714419d" /><Relationship Type="http://schemas.openxmlformats.org/officeDocument/2006/relationships/notesSlide" Target="/ppt/notesSlides/notesSlide8.xml" Id="R550ff4c75fcb4e8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1a2b13c0b2428a" /><Relationship Type="http://schemas.openxmlformats.org/officeDocument/2006/relationships/notesSlide" Target="/ppt/notesSlides/notesSlide9.xml" Id="R4e6dd1a3c80a47d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3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9dbf6a72394598"/>
          <a:srcRect xmlns:a="http://schemas.openxmlformats.org/drawingml/2006/main" l="18343" t="0" r="183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76750" y="0"/>
            <a:ext cx="7715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10EF37-0211-4D21-98CD-9B6463BB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572250" cy="685800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0713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E673FF-3D49-4DCE-A815-544F70C9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0"/>
            <a:ext cx="2857500" cy="68580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713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29503E-6F1F-4166-B430-F100CC0C6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0D7F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0D7F3"/>
                </a:solidFill>
                <a:latin typeface="Aptos"/>
                <a:ea typeface="Aptos"/>
                <a:cs typeface="Aptos"/>
              </a:rPr>
              <a:t>MYSQL ENTERPRISE / LIVE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380392-B934-43C7-B5F5-F6D1538A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54292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Dynamic masking keeps card data useful and protected.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58D926-7578-47BB-BBC3-742338DE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485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BDD0E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DD0ED"/>
                </a:solidFill>
                <a:latin typeface="Aptos"/>
                <a:ea typeface="Aptos"/>
                <a:cs typeface="Aptos"/>
              </a:rPr>
              <a:t>A practical setup: Enterprise Edition, policy component, table columns, policies, roles, and role-aware query results.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FB20F2-C0B3-4CBE-8900-250C1E90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241935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232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2EC6AE-D560-45C3-B731-2231E7AF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448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99A"/>
          </a:solidFill>
          <a:ln xmlns:a="http://schemas.openxmlformats.org/drawingml/2006/main" w="0">
            <a:solidFill>
              <a:srgbClr val="17B99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AE1AD9-D0D1-4FC4-ABAF-70560FE1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910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MASK BY DEFAULT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00CED0-43F7-47EC-AA97-9EF8FEF6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9BED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EDC"/>
                </a:solidFill>
                <a:latin typeface="Aptos"/>
                <a:ea typeface="Aptos"/>
                <a:cs typeface="Aptos"/>
              </a:rPr>
              <a:t>Prerequisites · table · policy · role · test results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83D832-88A5-4295-87EE-FAB49250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7790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90B8"/>
                </a:solidFill>
                <a:latin typeface="Aptos"/>
                <a:ea typeface="Aptos"/>
                <a:cs typeface="Aptos"/>
              </a:rPr>
              <a:t>Demo scripts: scripts/creditcard</a:t>
            </a:r>
          </a:p>
        </p:txBody>
      </p:sp>
    </p:spTree>
    <p:extLst>
      <p:ext uri="{BB962C8B-B14F-4D97-AF65-F5344CB8AC3E}">
        <p14:creationId xmlns:p14="http://schemas.microsoft.com/office/powerpoint/2010/main" val="15055416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5D385D-71C1-4613-9119-E95ECAE9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B99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B99A"/>
                </a:solidFill>
                <a:latin typeface="Aptos"/>
                <a:ea typeface="Aptos"/>
                <a:cs typeface="Aptos"/>
              </a:rPr>
              <a:t>PREREQUISITES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87A9E8-1975-40E1-9394-5F5D9FBA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0213E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0213E"/>
                </a:solidFill>
                <a:latin typeface="Aptos"/>
                <a:ea typeface="Aptos"/>
                <a:cs typeface="Aptos"/>
              </a:rPr>
              <a:t>Prepare the server before defining a masking policy.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3E70F0-6362-4E40-8923-9F7D0343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Dynamic data masking policies require MySQL Enterprise Edition and the policy component.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EBFC80-D5A3-4017-AE38-ABD304DC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CREDIT CARD MASKING DEMO  · 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653845-4F8B-450E-84BA-B390651C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57950"/>
            <a:ext cx="2457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MySQL Enterprise data masking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F79F86-0992-4FD8-8F30-EE51B81B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857750" cy="29527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817B0A-463D-41D4-8676-B71C1C59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1462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13E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0213E"/>
                </a:solidFill>
                <a:latin typeface="Aptos"/>
                <a:ea typeface="Aptos"/>
                <a:cs typeface="Aptos"/>
              </a:rPr>
              <a:t>Required platform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C8A91A-6768-4608-BB28-5481ED20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1. Run MySQL Enterprise Edition.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2. Use an account permitted to install components and manage policies.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3FEECC-DCB3-4366-833B-103B71C6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714875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0D7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AE99FF-7490-429F-A657-DF0F6B0C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196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D7F3"/>
          </a:solidFill>
          <a:ln xmlns:a="http://schemas.openxmlformats.org/drawingml/2006/main" w="0">
            <a:solidFill>
              <a:srgbClr val="20D7F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779427-0B8D-4DE9-B7BC-89074706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6196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9D73DA-9BAA-4F2F-938A-727874DC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0537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B9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B99A"/>
                </a:solidFill>
                <a:latin typeface="Aptos"/>
                <a:ea typeface="Aptos"/>
                <a:cs typeface="Aptos"/>
              </a:rPr>
              <a:t>ENTERPRISE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ED930A-4FAE-4509-B7B8-C625C9FD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9053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B5CF6"/>
                </a:solidFill>
                <a:latin typeface="Aptos"/>
                <a:ea typeface="Aptos"/>
                <a:cs typeface="Aptos"/>
              </a:rPr>
              <a:t>COMPONENT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23E387-8365-4696-A85C-92122EABE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09800"/>
            <a:ext cx="5143500" cy="3381375"/>
          </a:xfrm>
          <a:prstGeom xmlns:a="http://schemas.openxmlformats.org/drawingml/2006/main" prst="roundRect">
            <a:avLst>
              <a:gd name="adj" fmla="val 4507"/>
            </a:avLst>
          </a:prstGeom>
          <a:solidFill xmlns:a="http://schemas.openxmlformats.org/drawingml/2006/main">
            <a:srgbClr val="0713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164279-6044-4897-99CC-1C8096DB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098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0D7F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D7F3"/>
                </a:solidFill>
                <a:latin typeface="Aptos"/>
                <a:ea typeface="Aptos"/>
                <a:cs typeface="Aptos"/>
              </a:rPr>
              <a:t>Install once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1041EF-B89D-48A6-BDB4-353D8AFD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400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Install the policy</a:t>
            </a:r>
          </a:p>
          <a:p xmlns:a="http://schemas.openxmlformats.org/drawingml/2006/main">
            <a:pPr algn="l">
              <a:buNone/>
              <a:defRPr sz="27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component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C9F579-7C3E-4D0F-8B1D-49B07165C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10075"/>
            <a:ext cx="3857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BED1E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BED1EC"/>
                </a:solidFill>
                <a:latin typeface="Aptos"/>
                <a:ea typeface="Aptos"/>
                <a:cs typeface="Aptos"/>
              </a:rPr>
              <a:t>Run install_component_object_policy.sql. It installs component_object_policy and creates the policy repository.</a:t>
            </a:r>
          </a:p>
        </p:txBody>
      </p:sp>
    </p:spTree>
    <p:extLst>
      <p:ext uri="{BB962C8B-B14F-4D97-AF65-F5344CB8AC3E}">
        <p14:creationId xmlns:p14="http://schemas.microsoft.com/office/powerpoint/2010/main" val="20337381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55F063-B6C2-4FD4-A5BD-4D979493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B99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B99A"/>
                </a:solidFill>
                <a:latin typeface="Aptos"/>
                <a:ea typeface="Aptos"/>
                <a:cs typeface="Aptos"/>
              </a:rPr>
              <a:t>1 / THE TABLE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26B176-8155-4A30-B8F8-75CAB727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0213E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0213E"/>
                </a:solidFill>
                <a:latin typeface="Aptos"/>
                <a:ea typeface="Aptos"/>
                <a:cs typeface="Aptos"/>
              </a:rPr>
              <a:t>Start with the table and identify each sensitive column.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F366B9-FD67-494A-8D4B-A3D94247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 policy is assigned at column level; it is evaluated whenever a query reads that column.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41081A-4470-49B4-857F-5E5A34D8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CREDIT CARD MASKING DEMO  ·  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A9C3C3-20B4-4DB1-9A92-939F2DFF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57950"/>
            <a:ext cx="2457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MySQL Enterprise data masking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732E4F-56FE-4A92-8EAB-2713AE4F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8204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AED4D3-51F4-4F58-91D4-7A881437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38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13E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10213E"/>
                </a:solidFill>
                <a:latin typeface="Courier New"/>
                <a:ea typeface="Courier New"/>
                <a:cs typeface="Courier New"/>
              </a:rPr>
              <a:t>payment_tx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F71F06-0111-4021-A89D-26B1FDD2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717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customer_id · order_reference · amount · status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508212-9719-4CA8-AEA3-92BB7B41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86125"/>
            <a:ext cx="1085850" cy="1666875"/>
          </a:xfrm>
          <a:prstGeom xmlns:a="http://schemas.openxmlformats.org/drawingml/2006/main" prst="roundRect">
            <a:avLst>
              <a:gd name="adj" fmla="val 140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7A93A2-9831-4D38-B1BA-16DF6C1A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payment 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179194-0FE7-4B17-94A9-F96BDCED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433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13E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10213E"/>
                </a:solidFill>
                <a:latin typeface="Courier New"/>
                <a:ea typeface="Courier New"/>
                <a:cs typeface="Courier New"/>
              </a:rPr>
              <a:t>101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0C4E01-76D3-4AD4-98B7-9F112972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286125"/>
            <a:ext cx="1543050" cy="1666875"/>
          </a:xfrm>
          <a:prstGeom xmlns:a="http://schemas.openxmlformats.org/drawingml/2006/main" prst="roundRect">
            <a:avLst>
              <a:gd name="adj" fmla="val 98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247E4A-98CA-4743-9625-0475DB4D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48615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customer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35825D-C5D1-41AE-83EE-49505D51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94335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13E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10213E"/>
                </a:solidFill>
                <a:latin typeface="Courier New"/>
                <a:ea typeface="Courier New"/>
                <a:cs typeface="Courier New"/>
              </a:rPr>
              <a:t>Ava Thompson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FD7D2B-B415-45CB-A0C9-3FA14135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286125"/>
            <a:ext cx="1162050" cy="1666875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821735-DFAA-41EB-A91F-35121310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48615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amount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D1770C-62BD-4151-B6C8-BB396188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943350"/>
            <a:ext cx="91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13E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10213E"/>
                </a:solidFill>
                <a:latin typeface="Courier New"/>
                <a:ea typeface="Courier New"/>
                <a:cs typeface="Courier New"/>
              </a:rPr>
              <a:t>£129.99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F45005-FDB7-4A76-B083-5A0A9BC1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286125"/>
            <a:ext cx="1447800" cy="16668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05B8BA-1682-4129-8245-6D293F5B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486150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status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C58ADF-E9FE-4E30-8D40-7A4D44C6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943350"/>
            <a:ext cx="120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0213E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10213E"/>
                </a:solidFill>
                <a:latin typeface="Courier New"/>
                <a:ea typeface="Courier New"/>
                <a:cs typeface="Courier New"/>
              </a:rPr>
              <a:t>AUTHORISED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22D056-D127-455D-94D3-E43D1955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86125"/>
            <a:ext cx="1114425" cy="1666875"/>
          </a:xfrm>
          <a:prstGeom xmlns:a="http://schemas.openxmlformats.org/drawingml/2006/main" prst="roundRect">
            <a:avLst>
              <a:gd name="adj" fmla="val 136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FC6C65-4232-480C-A77E-368A7DAD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486150"/>
            <a:ext cx="866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brand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0F5BED-2B2B-4A80-8A43-3F1B0729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943350"/>
            <a:ext cx="866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13E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10213E"/>
                </a:solidFill>
                <a:latin typeface="Courier New"/>
                <a:ea typeface="Courier New"/>
                <a:cs typeface="Courier New"/>
              </a:rPr>
              <a:t>VISA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B23310-12D7-42F8-BBFA-7DB8EDDF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286125"/>
            <a:ext cx="2019300" cy="1666875"/>
          </a:xfrm>
          <a:prstGeom xmlns:a="http://schemas.openxmlformats.org/drawingml/2006/main" prst="roundRect">
            <a:avLst>
              <a:gd name="adj" fmla="val 9143"/>
            </a:avLst>
          </a:prstGeom>
          <a:solidFill xmlns:a="http://schemas.openxmlformats.org/drawingml/2006/main">
            <a:srgbClr val="E8F8FD"/>
          </a:solidFill>
          <a:ln xmlns:a="http://schemas.openxmlformats.org/drawingml/2006/main" w="9525">
            <a:solidFill>
              <a:srgbClr val="20D7F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B9E374-A316-4817-B54F-24D53829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48615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0213E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10213E"/>
                </a:solidFill>
                <a:latin typeface="Courier New"/>
                <a:ea typeface="Courier New"/>
                <a:cs typeface="Courier New"/>
              </a:rPr>
              <a:t>card number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D69964-AA80-4272-BAF1-89308E0B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94335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0213E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10213E"/>
                </a:solidFill>
                <a:latin typeface="Courier New"/>
                <a:ea typeface="Courier New"/>
                <a:cs typeface="Courier New"/>
              </a:rPr>
              <a:t>4111111111111111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9F986F-D6EC-44FB-828C-CB6B7AECD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514850"/>
            <a:ext cx="1771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17B99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B99A"/>
                </a:solidFill>
                <a:latin typeface="Aptos"/>
                <a:ea typeface="Aptos"/>
                <a:cs typeface="Aptos"/>
              </a:rPr>
              <a:t>SENSITIVE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C062DE-CBDC-4483-A8EE-F34C3273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286125"/>
            <a:ext cx="1114425" cy="1666875"/>
          </a:xfrm>
          <a:prstGeom xmlns:a="http://schemas.openxmlformats.org/drawingml/2006/main" prst="roundRect">
            <a:avLst>
              <a:gd name="adj" fmla="val 1367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8B5CF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874D2D-D880-47D5-B3A4-27709FDA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486150"/>
            <a:ext cx="866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0213E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10213E"/>
                </a:solidFill>
                <a:latin typeface="Courier New"/>
                <a:ea typeface="Courier New"/>
                <a:cs typeface="Courier New"/>
              </a:rPr>
              <a:t>expiry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7C43C3-90F5-458B-A9EF-3856C2C5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943350"/>
            <a:ext cx="866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13E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10213E"/>
                </a:solidFill>
                <a:latin typeface="Courier New"/>
                <a:ea typeface="Courier New"/>
                <a:cs typeface="Courier New"/>
              </a:rPr>
              <a:t>12/28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32B5C6-82FC-45C4-B6F4-AFDCEBD2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4514850"/>
            <a:ext cx="8667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B5CF6"/>
                </a:solidFill>
                <a:latin typeface="Aptos"/>
                <a:ea typeface="Aptos"/>
                <a:cs typeface="Aptos"/>
              </a:rPr>
              <a:t>SENSITIVE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060C42-4BB5-4CF4-B8B9-8A8DF903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29225"/>
            <a:ext cx="762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Target columns: payment_tx.card_number and payment_tx.card_expiry.</a:t>
            </a:r>
          </a:p>
        </p:txBody>
      </p:sp>
    </p:spTree>
    <p:extLst>
      <p:ext uri="{BB962C8B-B14F-4D97-AF65-F5344CB8AC3E}">
        <p14:creationId xmlns:p14="http://schemas.microsoft.com/office/powerpoint/2010/main" val="8946741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1C47FF-76D0-4765-88BD-B971DAC6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B99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B99A"/>
                </a:solidFill>
                <a:latin typeface="Aptos"/>
                <a:ea typeface="Aptos"/>
                <a:cs typeface="Aptos"/>
              </a:rPr>
              <a:t>2 / THE POLICY SYNTAX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7D7FF8-0F4C-45E8-B19D-90ACB1F6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0213E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0213E"/>
                </a:solidFill>
                <a:latin typeface="Aptos"/>
                <a:ea typeface="Aptos"/>
                <a:cs typeface="Aptos"/>
              </a:rPr>
              <a:t>Create a policy that maps role state to a returned value.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180137-83A4-495A-83E6-B5343979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gatekeeper is CURRENT_ROLE_IN(); the CASE expression returns the clear or masked value.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5A400A-6E92-4F32-B864-C850B7B23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CREDIT CARD MASKING DEMO  ·  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DFF762-28C4-44B3-8550-88885822E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57950"/>
            <a:ext cx="2457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MySQL Enterprise data masking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1697EE-8CD9-4592-8C55-8EBC3A33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667500" cy="2152650"/>
          </a:xfrm>
          <a:prstGeom xmlns:a="http://schemas.openxmlformats.org/drawingml/2006/main" prst="roundRect">
            <a:avLst>
              <a:gd name="adj" fmla="val 7080"/>
            </a:avLst>
          </a:prstGeom>
          <a:solidFill xmlns:a="http://schemas.openxmlformats.org/drawingml/2006/main">
            <a:srgbClr val="0C1C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8545B7-DA7A-465C-A94A-9AE994A8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7150" cy="2152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D7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2364ED-0752-4830-A04B-4954467C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66975"/>
            <a:ext cx="62103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D7E8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D7E8FF"/>
                </a:solidFill>
                <a:latin typeface="Courier New"/>
                <a:ea typeface="Courier New"/>
                <a:cs typeface="Courier New"/>
              </a:rPr>
              <a:t>CREATE MASKING POLICY card_pan_by_pii_role(pan_col)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D7E8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D7E8FF"/>
                </a:solidFill>
                <a:latin typeface="Courier New"/>
                <a:ea typeface="Courier New"/>
                <a:cs typeface="Courier New"/>
              </a:rPr>
              <a:t>CASE WHEN CURRENT_ROLE_IN('pii_read')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D7E8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D7E8FF"/>
                </a:solidFill>
                <a:latin typeface="Courier New"/>
                <a:ea typeface="Courier New"/>
                <a:cs typeface="Courier New"/>
              </a:rPr>
              <a:t> THEN pan_col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D7E8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D7E8FF"/>
                </a:solidFill>
                <a:latin typeface="Courier New"/>
                <a:ea typeface="Courier New"/>
                <a:cs typeface="Courier New"/>
              </a:rPr>
              <a:t> ELSE CONCAT('************', RIGHT(pan_col, 4))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D7E8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D7E8FF"/>
                </a:solidFill>
                <a:latin typeface="Courier New"/>
                <a:ea typeface="Courier New"/>
                <a:cs typeface="Courier New"/>
              </a:rPr>
              <a:t>END;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E75397-7B0E-4C02-A7B6-D2150D1B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666750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0C1C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E524D7-76ED-415B-9AE1-250F18CB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7150" cy="895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FDD795-257A-48B2-A381-EF16B758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48225"/>
            <a:ext cx="621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D7E8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D7E8FF"/>
                </a:solidFill>
                <a:latin typeface="Courier New"/>
                <a:ea typeface="Courier New"/>
                <a:cs typeface="Courier New"/>
              </a:rPr>
              <a:t>CREATE MASKING POLICY card_expiry_by_pii_role(expiry_col)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D7E8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D7E8FF"/>
                </a:solidFill>
                <a:latin typeface="Courier New"/>
                <a:ea typeface="Courier New"/>
                <a:cs typeface="Courier New"/>
              </a:rPr>
              <a:t>CASE WHEN CURRENT_ROLE_IN('pii_read') THEN expiry_col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D7E8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D7E8FF"/>
                </a:solidFill>
                <a:latin typeface="Courier New"/>
                <a:ea typeface="Courier New"/>
                <a:cs typeface="Courier New"/>
              </a:rPr>
              <a:t>ELSE '**/**' END;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773AFD-7449-4039-AEE6-77143FC6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47900"/>
            <a:ext cx="3333750" cy="32766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A49F3E-611D-4AF9-9654-60FA0A2D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193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13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13E"/>
                </a:solidFill>
                <a:latin typeface="Aptos"/>
                <a:ea typeface="Aptos"/>
                <a:cs typeface="Aptos"/>
              </a:rPr>
              <a:t>Expected outcome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C420F9-7435-4F07-9AD9-B7C5A5E9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162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99A"/>
          </a:solidFill>
          <a:ln xmlns:a="http://schemas.openxmlformats.org/drawingml/2006/main" w="0">
            <a:solidFill>
              <a:srgbClr val="17B99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13158D-863C-4D8A-9D10-A2EC043D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051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213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13E"/>
                </a:solidFill>
                <a:latin typeface="Aptos"/>
                <a:ea typeface="Aptos"/>
                <a:cs typeface="Aptos"/>
              </a:rPr>
              <a:t>pii_read active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35B1C7-5C85-40C6-AF4D-A7F5B982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71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4111111111111111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2E31A1-2B23-4F7D-B589-EFA6022B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067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7E2EF2-5ED8-4656-AF82-D8DDB5BF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0100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213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13E"/>
                </a:solidFill>
                <a:latin typeface="Aptos"/>
                <a:ea typeface="Aptos"/>
                <a:cs typeface="Aptos"/>
              </a:rPr>
              <a:t>Any other role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7DF29F-F517-46AF-A348-2386A08D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2767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************1111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A6CB3D-5D02-48B6-9C11-30AD4B42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0006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database evaluates the policy at read time.</a:t>
            </a:r>
          </a:p>
        </p:txBody>
      </p:sp>
    </p:spTree>
    <p:extLst>
      <p:ext uri="{BB962C8B-B14F-4D97-AF65-F5344CB8AC3E}">
        <p14:creationId xmlns:p14="http://schemas.microsoft.com/office/powerpoint/2010/main" val="13952280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08E0D2-1189-4EC1-95DF-6826170C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B99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B99A"/>
                </a:solidFill>
                <a:latin typeface="Aptos"/>
                <a:ea typeface="Aptos"/>
                <a:cs typeface="Aptos"/>
              </a:rPr>
              <a:t>3 / TABLE, POLICY &amp; ROLE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7580AC-4FF8-44FA-819A-48AA4D33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0213E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0213E"/>
                </a:solidFill>
                <a:latin typeface="Aptos"/>
                <a:ea typeface="Aptos"/>
                <a:cs typeface="Aptos"/>
              </a:rPr>
              <a:t>A column policy checks the active role.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B06311-5269-41D0-8D58-CB56A4EB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same SELECT has different outcomes for payments_read and pii_read.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FE683C-5090-4561-BEA2-FAE154E1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CREDIT CARD MASKING DEMO  · 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F4D680-0423-4A69-AACA-3BFA447A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57950"/>
            <a:ext cx="2457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MySQL Enterprise data masking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AE8F66-D48B-4C5D-84CE-9F38C10D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352800"/>
            <a:ext cx="204787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8CA6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B6D436-5D3F-4B32-B09E-199B1FAC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52800"/>
            <a:ext cx="2095500" cy="-8763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7B99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E735D4-B9B0-4DEC-8EB2-C23E4EED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24250"/>
            <a:ext cx="2095500" cy="9525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8B5CF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F1ACA3-9786-4970-A7FC-980DD6CE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0383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0F9FF"/>
          </a:solidFill>
          <a:ln xmlns:a="http://schemas.openxmlformats.org/drawingml/2006/main" w="9525">
            <a:solidFill>
              <a:srgbClr val="20D7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1A65A2-AF0C-4FC2-B29E-ADCEF32A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813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B99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B99A"/>
                </a:solidFill>
                <a:latin typeface="Aptos"/>
                <a:ea typeface="Aptos"/>
                <a:cs typeface="Aptos"/>
              </a:rPr>
              <a:t>TABLE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03EBC8-F287-45AE-A6ED-61D74B34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05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13E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10213E"/>
                </a:solidFill>
                <a:latin typeface="Courier New"/>
                <a:ea typeface="Courier New"/>
                <a:cs typeface="Courier New"/>
              </a:rPr>
              <a:t>payments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5C2123-17B4-456D-BE1F-30B15D61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52825"/>
            <a:ext cx="133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card_number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card_expiry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75DECE-1371-4C69-A1F3-7BA936CC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26670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8B5CF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D0B57C-B6EF-47BF-BF00-4F2182C3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7813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B5CF6"/>
                </a:solidFill>
                <a:latin typeface="Aptos"/>
                <a:ea typeface="Aptos"/>
                <a:cs typeface="Aptos"/>
              </a:rPr>
              <a:t>MASKING POLICY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1CDD76-C60A-4781-9BE1-369E61D1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432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13E"/>
                </a:solidFill>
                <a:latin typeface="Courier New"/>
                <a:ea typeface="Courier New"/>
                <a:cs typeface="Courier New"/>
              </a:defRPr>
            </a:pPr>
            <a:r>
              <a:rPr sz="1575" b="1">
                <a:solidFill>
                  <a:srgbClr val="10213E"/>
                </a:solidFill>
                <a:latin typeface="Courier New"/>
                <a:ea typeface="Courier New"/>
                <a:cs typeface="Courier New"/>
              </a:rPr>
              <a:t>card_pan_by_pii_role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213E"/>
                </a:solidFill>
                <a:latin typeface="Courier New"/>
                <a:ea typeface="Courier New"/>
                <a:cs typeface="Courier New"/>
              </a:defRPr>
            </a:pPr>
            <a:r>
              <a:rPr sz="1575" b="1">
                <a:solidFill>
                  <a:srgbClr val="10213E"/>
                </a:solidFill>
                <a:latin typeface="Courier New"/>
                <a:ea typeface="Courier New"/>
                <a:cs typeface="Courier New"/>
              </a:rPr>
              <a:t>role: pii_read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1463EC-E6C6-40C8-81E7-FA8CF07A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876675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read time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48809C-36B7-4B8A-A7DD-EB4491D9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657350"/>
            <a:ext cx="1981200" cy="1666875"/>
          </a:xfrm>
          <a:prstGeom xmlns:a="http://schemas.openxmlformats.org/drawingml/2006/main" prst="roundRect">
            <a:avLst>
              <a:gd name="adj" fmla="val 9143"/>
            </a:avLst>
          </a:prstGeom>
          <a:solidFill xmlns:a="http://schemas.openxmlformats.org/drawingml/2006/main">
            <a:srgbClr val="ECFDF8"/>
          </a:solidFill>
          <a:ln xmlns:a="http://schemas.openxmlformats.org/drawingml/2006/main" w="9525">
            <a:solidFill>
              <a:srgbClr val="17B99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175B2F-4A5C-493E-A41A-DDBF8F36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52625"/>
            <a:ext cx="952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B99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B99A"/>
                </a:solidFill>
                <a:latin typeface="Aptos"/>
                <a:ea typeface="Aptos"/>
                <a:cs typeface="Aptos"/>
              </a:rPr>
              <a:t>ROLE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1F0C43-4CEA-4328-AE56-AEC9E8E1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76475"/>
            <a:ext cx="1238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13E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>
                <a:solidFill>
                  <a:srgbClr val="10213E"/>
                </a:solidFill>
                <a:latin typeface="Courier New"/>
                <a:ea typeface="Courier New"/>
                <a:cs typeface="Courier New"/>
              </a:rPr>
              <a:t>pii_read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166F69-8BB7-4AC5-AA4E-2DFB61FE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2415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processor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C271D4-B687-4102-A400-B05F26B17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43325"/>
            <a:ext cx="1981200" cy="1666875"/>
          </a:xfrm>
          <a:prstGeom xmlns:a="http://schemas.openxmlformats.org/drawingml/2006/main" prst="roundRect">
            <a:avLst>
              <a:gd name="adj" fmla="val 914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AFE975-51F8-4B6C-813A-D451EAE0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38600"/>
            <a:ext cx="952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ROLE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F2D87D-B5DE-4317-BD2A-33892701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362450"/>
            <a:ext cx="1428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13E"/>
                </a:solidFill>
                <a:latin typeface="Courier New"/>
                <a:ea typeface="Courier New"/>
                <a:cs typeface="Courier New"/>
              </a:defRPr>
            </a:pPr>
            <a:r>
              <a:rPr sz="1575" b="1">
                <a:solidFill>
                  <a:srgbClr val="10213E"/>
                </a:solidFill>
                <a:latin typeface="Courier New"/>
                <a:ea typeface="Courier New"/>
                <a:cs typeface="Courier New"/>
              </a:rPr>
              <a:t>read_role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CA8B88-C4EE-4C3D-AADC-1C2C9708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8101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payment_analyst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BF581A-8D5A-4E30-8CE9-24F1A587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Association: payment_tx.card_number → card_pan_by_pii_role → CURRENT_ROLE_IN('pii_read'). Grant SELECT, then set the intended default role.</a:t>
            </a:r>
          </a:p>
        </p:txBody>
      </p:sp>
    </p:spTree>
    <p:extLst>
      <p:ext uri="{BB962C8B-B14F-4D97-AF65-F5344CB8AC3E}">
        <p14:creationId xmlns:p14="http://schemas.microsoft.com/office/powerpoint/2010/main" val="10508690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3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77758E-5765-4A8E-AA96-32D766CB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0D7F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D7F3"/>
                </a:solidFill>
                <a:latin typeface="Aptos"/>
                <a:ea typeface="Aptos"/>
                <a:cs typeface="Aptos"/>
              </a:rPr>
              <a:t>USAGE CASE 1 / MASKED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019A0D-27E7-4F9B-9C8A-BE02DDC4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867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payments_read returns masked card data.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961DC2-9AD2-422F-807E-F8EDE635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0175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7C9E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7C9E4"/>
                </a:solidFill>
                <a:latin typeface="Aptos"/>
                <a:ea typeface="Aptos"/>
                <a:cs typeface="Aptos"/>
              </a:rPr>
              <a:t>Steps: connect → verify CURRENT_ROLE() → SELECT.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580B00-0104-4CD6-A7FF-8F9D886A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514600"/>
            <a:ext cx="18097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4F81A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EEE31C-2986-4004-B0AE-E3B85DE9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514600"/>
            <a:ext cx="176212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4F81A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589ECA-A508-4EF4-8109-164F08F3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50495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02B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618745-2A69-4D4D-B5F2-A8F03EEE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812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0D7F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0D7F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AF1179-D58E-442B-8E88-3BA4B033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Connect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BA8392-293B-4AF1-B034-07F5A3FF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00250"/>
            <a:ext cx="2047875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02B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14C5FB-C14A-403A-B291-1B68E2CD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812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0D7F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0D7F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BE23D7-6F67-43BF-9A64-5DECA46F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5745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SELECT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C5EAD0-E8F2-4515-90C0-1DF9F031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00250"/>
            <a:ext cx="321945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23D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899BB7-456B-4A33-B8C3-C35A8617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812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B99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B99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8A2A33-50A6-4AC6-886B-429A9951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574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Masked result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35E064-B922-4D6C-8D29-44269593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33775"/>
            <a:ext cx="10344150" cy="2076450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5D1A98-A37B-41BD-A7D6-8314555B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1000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CURRENT_USER()  payment_analyst@localhost     CURRENT_ROLE()  payments_read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5F0B6A-EAE5-4BBA-B92F-DB04C196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48150"/>
            <a:ext cx="885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889A5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7889A5"/>
                </a:solidFill>
                <a:latin typeface="Courier New"/>
                <a:ea typeface="Courier New"/>
                <a:cs typeface="Courier New"/>
              </a:rPr>
              <a:t>payment_id     customer_name     amount      card_brand     card_number          card_expiry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A7D726-245F-4581-B237-924C80D7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29150"/>
            <a:ext cx="885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13E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10213E"/>
                </a:solidFill>
                <a:latin typeface="Courier New"/>
                <a:ea typeface="Courier New"/>
                <a:cs typeface="Courier New"/>
              </a:rPr>
              <a:t>101            Ava Thompson      £129.99     VISA           ************1111     **/**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A50855-7619-4A35-9BE0-A16790DE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10150"/>
            <a:ext cx="885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13E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10213E"/>
                </a:solidFill>
                <a:latin typeface="Courier New"/>
                <a:ea typeface="Courier New"/>
                <a:cs typeface="Courier New"/>
              </a:rPr>
              <a:t>102            Noah Williams     £49.50      MASTERCARD     ************4444     **/**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98FADD-1BCC-4FE8-98D5-EE723F9E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790950"/>
            <a:ext cx="1476375" cy="361950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E7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8A5882-90C2-4DE1-A67A-2C3AC67B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886200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7B99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B99A"/>
                </a:solidFill>
                <a:latin typeface="Aptos"/>
                <a:ea typeface="Aptos"/>
                <a:cs typeface="Aptos"/>
              </a:rPr>
              <a:t>MASKED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53B672-E69F-4C2E-B689-A0D0EADF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CREDIT CARD MASKING DEMO  ·  06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A1CCFB-D0C1-40B3-9F77-22B08377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57950"/>
            <a:ext cx="2457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MySQL Enterprise data masking</a:t>
            </a:r>
          </a:p>
        </p:txBody>
      </p:sp>
    </p:spTree>
    <p:extLst>
      <p:ext uri="{BB962C8B-B14F-4D97-AF65-F5344CB8AC3E}">
        <p14:creationId xmlns:p14="http://schemas.microsoft.com/office/powerpoint/2010/main" val="20510742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3B3CA7-045E-4DA3-8635-56C1CF5F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B99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B99A"/>
                </a:solidFill>
                <a:latin typeface="Aptos"/>
                <a:ea typeface="Aptos"/>
                <a:cs typeface="Aptos"/>
              </a:rPr>
              <a:t>USAGE CASE 2 / AUTHORISED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98DBC8-35EA-4EB1-B74C-9B421F83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0213E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0213E"/>
                </a:solidFill>
                <a:latin typeface="Aptos"/>
                <a:ea typeface="Aptos"/>
                <a:cs typeface="Aptos"/>
              </a:rPr>
              <a:t>A payment processor uses pii_read only for an approved operation.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BECB69-5656-4367-B066-879BD1FC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Steps: activate pii_read → confirm CURRENT_ROLE() → SELECT required values → complete the approved action.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8A69E4-8EF4-4DC4-B9CD-07702E11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CREDIT CARD MASKING DEMO  · 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4A72A8-65BE-44AF-A1D6-CF7A87E5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57950"/>
            <a:ext cx="2457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MySQL Enterprise data masking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F1F4E3-3762-40FB-9AAA-4C12623D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19325"/>
            <a:ext cx="4324350" cy="2914650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0713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370274-3C3E-42DF-B4EC-663BCA29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0D7F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D7F3"/>
                </a:solidFill>
                <a:latin typeface="Aptos"/>
                <a:ea typeface="Aptos"/>
                <a:cs typeface="Aptos"/>
              </a:rPr>
              <a:t>ACTIVE ROLE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B6A9CC-7E8F-469D-BEE5-69631B3C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05125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2175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processor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2175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pii_read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97E7AB-0E41-4145-85AA-BF57CB0F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4810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ED1E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ED1EC"/>
                </a:solidFill>
                <a:latin typeface="Aptos"/>
                <a:ea typeface="Aptos"/>
                <a:cs typeface="Aptos"/>
              </a:rPr>
              <a:t>Clear PAN + expiry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BED1E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ED1EC"/>
                </a:solidFill>
                <a:latin typeface="Aptos"/>
                <a:ea typeface="Aptos"/>
                <a:cs typeface="Aptos"/>
              </a:rPr>
              <a:t>for approved action.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9F2117-85D8-461D-926D-47D8F67F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67125"/>
            <a:ext cx="14097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B99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D97554-D693-46B2-BEDE-A0D38694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19325"/>
            <a:ext cx="4667250" cy="2914650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1986F5-9756-4A24-B561-329B09B8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527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B99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B99A"/>
                </a:solidFill>
                <a:latin typeface="Aptos"/>
                <a:ea typeface="Aptos"/>
                <a:cs typeface="Aptos"/>
              </a:rPr>
              <a:t>AUTHORIZED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A1FC3D-91FF-4B13-A147-952E1E6A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908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13E"/>
                </a:solidFill>
                <a:latin typeface="Courier New"/>
                <a:ea typeface="Courier New"/>
                <a:cs typeface="Courier New"/>
              </a:defRPr>
            </a:pPr>
            <a:r>
              <a:rPr sz="1575" b="1">
                <a:solidFill>
                  <a:srgbClr val="10213E"/>
                </a:solidFill>
                <a:latin typeface="Courier New"/>
                <a:ea typeface="Courier New"/>
                <a:cs typeface="Courier New"/>
              </a:rPr>
              <a:t>4111111111111111     12/28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F466E8-BCFA-4EE8-9300-B969BC85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6235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SELECT required values → perform approved payment action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B9A449-D238-4DF7-A346-0459F9B7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76700"/>
            <a:ext cx="260985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7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E0A3EB-AAFD-4202-AA82-4DC3A118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2195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B99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B99A"/>
                </a:solidFill>
                <a:latin typeface="Aptos"/>
                <a:ea typeface="Aptos"/>
                <a:cs typeface="Aptos"/>
              </a:rPr>
              <a:t>ROLE-AWARE RESULT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962AF1-9482-4C01-BE7D-25B3E5C4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B99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B99A"/>
                </a:solidFill>
                <a:latin typeface="Aptos"/>
                <a:ea typeface="Aptos"/>
                <a:cs typeface="Aptos"/>
              </a:rPr>
              <a:t>The takeaway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E06D94-84C9-4B5C-B60D-DEA8EA27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914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13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13E"/>
                </a:solidFill>
                <a:latin typeface="Aptos"/>
                <a:ea typeface="Aptos"/>
                <a:cs typeface="Aptos"/>
              </a:rPr>
              <a:t>Masked by default. Clear values only for pii_read.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91FD34-4807-405F-ADDF-76C65BD3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CREDIT CARD MASKING DEMO  ·  07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B7CBF4-BA4B-433E-9F35-E95A6289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57950"/>
            <a:ext cx="2457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MySQL Enterprise data masking</a:t>
            </a:r>
          </a:p>
        </p:txBody>
      </p:sp>
    </p:spTree>
    <p:extLst>
      <p:ext uri="{BB962C8B-B14F-4D97-AF65-F5344CB8AC3E}">
        <p14:creationId xmlns:p14="http://schemas.microsoft.com/office/powerpoint/2010/main" val="10825797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1C47FF-76D0-4765-88BD-B971DAC6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B99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B99A"/>
                </a:solidFill>
                <a:latin typeface="Aptos"/>
                <a:ea typeface="Aptos"/>
                <a:cs typeface="Aptos"/>
              </a:rPr>
              <a:t>4 / APPLY THE POLICY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7D7FF8-0F4C-45E8-B19D-90ACB1F6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0213E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0213E"/>
                </a:solidFill>
                <a:latin typeface="Aptos"/>
                <a:ea typeface="Aptos"/>
                <a:cs typeface="Aptos"/>
              </a:rPr>
              <a:t>Attach each policy to the relevant table column.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180137-83A4-495A-83E6-B5343979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Use MODIFY COLUMN (or CHANGE COLUMN) and repeat the complete column definition with MASKING POLICY.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5A400A-6E92-4F32-B864-C850B7B23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CREDIT CARD MASKING DEMO  · 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DFF762-28C4-44B3-8550-88885822E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57950"/>
            <a:ext cx="2457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MySQL Enterprise data masking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1697EE-8CD9-4592-8C55-8EBC3A33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667500" cy="2152650"/>
          </a:xfrm>
          <a:prstGeom xmlns:a="http://schemas.openxmlformats.org/drawingml/2006/main" prst="roundRect">
            <a:avLst>
              <a:gd name="adj" fmla="val 7080"/>
            </a:avLst>
          </a:prstGeom>
          <a:solidFill xmlns:a="http://schemas.openxmlformats.org/drawingml/2006/main">
            <a:srgbClr val="0C1C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8545B7-DA7A-465C-A94A-9AE994A8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7150" cy="2152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D7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2364ED-0752-4830-A04B-4954467C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66975"/>
            <a:ext cx="62103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D7E8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D7E8FF"/>
                </a:solidFill>
                <a:latin typeface="Courier New"/>
                <a:ea typeface="Courier New"/>
                <a:cs typeface="Courier New"/>
              </a:rPr>
              <a:t>ALTER TABLE payment_tx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D7E8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D7E8FF"/>
                </a:solidFill>
                <a:latin typeface="Courier New"/>
                <a:ea typeface="Courier New"/>
                <a:cs typeface="Courier New"/>
              </a:rPr>
              <a:t>  MODIFY COLUMN card_number VARCHAR(19)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D7E8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D7E8FF"/>
                </a:solidFill>
                <a:latin typeface="Courier New"/>
                <a:ea typeface="Courier New"/>
                <a:cs typeface="Courier New"/>
              </a:rPr>
              <a:t>  MASKING POLICY card_pan_by_pii_role;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D7E8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D7E8FF"/>
                </a:solidFill>
                <a:latin typeface="Courier New"/>
                <a:ea typeface="Courier New"/>
                <a:cs typeface="Courier New"/>
              </a:rP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D7E8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D7E8FF"/>
                </a:solidFill>
                <a:latin typeface="Courier New"/>
                <a:ea typeface="Courier New"/>
                <a:cs typeface="Courier New"/>
              </a:rPr>
              <a:t>ALTER TABLE payment_tx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D7E8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D7E8FF"/>
                </a:solidFill>
                <a:latin typeface="Courier New"/>
                <a:ea typeface="Courier New"/>
                <a:cs typeface="Courier New"/>
              </a:rPr>
              <a:t>  MODIFY COLUMN card_expiry CHAR(5)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D7E8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D7E8FF"/>
                </a:solidFill>
                <a:latin typeface="Courier New"/>
                <a:ea typeface="Courier New"/>
                <a:cs typeface="Courier New"/>
              </a:rPr>
              <a:t>  MASKING POLICY card_expiry_by_pii_role;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E75397-7B0E-4C02-A7B6-D2150D1B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666750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0C1C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E524D7-76ED-415B-9AE1-250F18CB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7150" cy="895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FDD795-257A-48B2-A381-EF16B758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48225"/>
            <a:ext cx="621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D7E8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D7E8FF"/>
                </a:solidFill>
                <a:latin typeface="Courier New"/>
                <a:ea typeface="Courier New"/>
                <a:cs typeface="Courier New"/>
              </a:rPr>
              <a:t>To remove a policy: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D7E8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D7E8FF"/>
                </a:solidFill>
                <a:latin typeface="Courier New"/>
                <a:ea typeface="Courier New"/>
                <a:cs typeface="Courier New"/>
              </a:rPr>
              <a:t>ALTER TABLE payment_tx ALTER COLUMN card_number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D7E8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D7E8FF"/>
                </a:solidFill>
                <a:latin typeface="Courier New"/>
                <a:ea typeface="Courier New"/>
                <a:cs typeface="Courier New"/>
              </a:rPr>
              <a:t>DROP MASKING POLICY;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773AFD-7449-4039-AEE6-77143FC6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47900"/>
            <a:ext cx="3333750" cy="32766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A49F3E-611D-4AF9-9654-60FA0A2D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193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13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13E"/>
                </a:solidFill>
                <a:latin typeface="Aptos"/>
                <a:ea typeface="Aptos"/>
                <a:cs typeface="Aptos"/>
              </a:rPr>
              <a:t>Application rule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C420F9-7435-4F07-9AD9-B7C5A5E9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162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99A"/>
          </a:solidFill>
          <a:ln xmlns:a="http://schemas.openxmlformats.org/drawingml/2006/main" w="0">
            <a:solidFill>
              <a:srgbClr val="17B99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13158D-863C-4D8A-9D10-A2EC043D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051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213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13E"/>
                </a:solidFill>
                <a:latin typeface="Aptos"/>
                <a:ea typeface="Aptos"/>
                <a:cs typeface="Aptos"/>
              </a:rPr>
              <a:t>Column-level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35B1C7-5C85-40C6-AF4D-A7F5B982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71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card_number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2E31A1-2B23-4F7D-B589-EFA6022B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067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7E2EF2-5ED8-4656-AF82-D8DDB5BF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0100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213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13E"/>
                </a:solidFill>
                <a:latin typeface="Aptos"/>
                <a:ea typeface="Aptos"/>
                <a:cs typeface="Aptos"/>
              </a:rPr>
              <a:t>Keep definition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7DF29F-F517-46AF-A348-2386A08D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2767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include type + policy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A6CB3D-5D02-48B6-9C11-30AD4B42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0006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There is no standalone ALTER TABLE SET MASKING POLICY syntax.</a:t>
            </a:r>
          </a:p>
        </p:txBody>
      </p:sp>
    </p:spTree>
    <p:extLst>
      <p:ext uri="{BB962C8B-B14F-4D97-AF65-F5344CB8AC3E}">
        <p14:creationId xmlns:p14="http://schemas.microsoft.com/office/powerpoint/2010/main" val="13952280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3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77758E-5765-4A8E-AA96-32D766CB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0D7F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D7F3"/>
                </a:solidFill>
                <a:latin typeface="Aptos"/>
                <a:ea typeface="Aptos"/>
                <a:cs typeface="Aptos"/>
              </a:rPr>
              <a:t>IMPLEMENTATION RUNBOOK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019A0D-27E7-4F9B-9C8A-BE02DDC4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867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Complete and test the configuration.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961DC2-9AD2-422F-807E-F8EDE635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0175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7C9E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7C9E4"/>
                </a:solidFill>
                <a:latin typeface="Aptos"/>
                <a:ea typeface="Aptos"/>
                <a:cs typeface="Aptos"/>
              </a:rPr>
              <a:t>Each stage has a concrete check before moving to the next.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580B00-0104-4CD6-A7FF-8F9D886A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514600"/>
            <a:ext cx="18097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4F81A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EEE31C-2986-4004-B0AE-E3B85DE9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514600"/>
            <a:ext cx="176212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4F81A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589ECA-A508-4EF4-8109-164F08F3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50495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02B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618745-2A69-4D4D-B5F2-A8F03EEE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812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0D7F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0D7F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AF1179-D58E-442B-8E88-3BA4B033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Install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BA8392-293B-4AF1-B034-07F5A3FF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00250"/>
            <a:ext cx="2047875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02B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14C5FB-C14A-403A-B291-1B68E2CD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812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0D7F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0D7F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BE23D7-6F67-43BF-9A64-5DECA46F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5745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Define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C5EAD0-E8F2-4515-90C0-1DF9F031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00250"/>
            <a:ext cx="321945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23D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899BB7-456B-4A33-B8C3-C35A8617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812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B99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B99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8A2A33-50A6-4AC6-886B-429A9951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574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Apply + 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35E064-B922-4D6C-8D29-44269593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33775"/>
            <a:ext cx="10344150" cy="2076450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5D1A98-A37B-41BD-A7D6-8314555B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1000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1  Verify Enterprise Edition; run install_component_object_policy.sql.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5F0B6A-EAE5-4BBA-B92F-DB04C196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48150"/>
            <a:ext cx="885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889A5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7889A5"/>
                </a:solidFill>
                <a:latin typeface="Courier New"/>
                <a:ea typeface="Courier New"/>
                <a:cs typeface="Courier New"/>
              </a:rPr>
              <a:t>2  Create pii_read and payments_read roles; GRANT SELECT; SET DEFAULT ROLE.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A7D726-245F-4581-B237-924C80D7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29150"/>
            <a:ext cx="885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13E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10213E"/>
                </a:solidFill>
                <a:latin typeface="Courier New"/>
                <a:ea typeface="Courier New"/>
                <a:cs typeface="Courier New"/>
              </a:rPr>
              <a:t>3  CREATE MASKING POLICY for each sensitive column.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A50855-7619-4A35-9BE0-A16790DE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10150"/>
            <a:ext cx="885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13E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10213E"/>
                </a:solidFill>
                <a:latin typeface="Courier New"/>
                <a:ea typeface="Courier New"/>
                <a:cs typeface="Courier New"/>
              </a:rPr>
              <a:t>4  ALTER TABLE ... MODIFY COLUMN ... MASKING POLICY; test each user + role outcome.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98FADD-1BCC-4FE8-98D5-EE723F9E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790950"/>
            <a:ext cx="1476375" cy="361950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E7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8A5882-90C2-4DE1-A67A-2C3AC67B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886200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7B99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B99A"/>
                </a:solidFill>
                <a:latin typeface="Aptos"/>
                <a:ea typeface="Aptos"/>
                <a:cs typeface="Aptos"/>
              </a:rPr>
              <a:t>VERIFY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53B672-E69F-4C2E-B689-A0D0EADF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CREDIT CARD MASKING DEMO  ·  09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A1CCFB-D0C1-40B3-9F77-22B08377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57950"/>
            <a:ext cx="2457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MySQL Enterprise data masking</a:t>
            </a:r>
          </a:p>
        </p:txBody>
      </p:sp>
    </p:spTree>
    <p:extLst>
      <p:ext uri="{BB962C8B-B14F-4D97-AF65-F5344CB8AC3E}">
        <p14:creationId xmlns:p14="http://schemas.microsoft.com/office/powerpoint/2010/main" val="20510742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2026-09-26T07:23:10.7490000Z</dcterms:created>
  <dcterms:modified xsi:type="dcterms:W3CDTF">2026-09-26T07:23:10.7490000Z</dcterms:modified>
</coreProperties>
</file>